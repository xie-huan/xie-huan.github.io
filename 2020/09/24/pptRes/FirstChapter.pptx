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2" r:id="rId1"/>
  </p:sldMasterIdLst>
  <p:notesMasterIdLst>
    <p:notesMasterId r:id="rId41"/>
  </p:notesMasterIdLst>
  <p:handoutMasterIdLst>
    <p:handoutMasterId r:id="rId42"/>
  </p:handoutMasterIdLst>
  <p:sldIdLst>
    <p:sldId id="1005" r:id="rId2"/>
    <p:sldId id="1031" r:id="rId3"/>
    <p:sldId id="1032" r:id="rId4"/>
    <p:sldId id="1037" r:id="rId5"/>
    <p:sldId id="1030" r:id="rId6"/>
    <p:sldId id="1039" r:id="rId7"/>
    <p:sldId id="921" r:id="rId8"/>
    <p:sldId id="1011" r:id="rId9"/>
    <p:sldId id="927" r:id="rId10"/>
    <p:sldId id="929" r:id="rId11"/>
    <p:sldId id="962" r:id="rId12"/>
    <p:sldId id="1007" r:id="rId13"/>
    <p:sldId id="930" r:id="rId14"/>
    <p:sldId id="933" r:id="rId15"/>
    <p:sldId id="934" r:id="rId16"/>
    <p:sldId id="1010" r:id="rId17"/>
    <p:sldId id="1012" r:id="rId18"/>
    <p:sldId id="966" r:id="rId19"/>
    <p:sldId id="936" r:id="rId20"/>
    <p:sldId id="973" r:id="rId21"/>
    <p:sldId id="938" r:id="rId22"/>
    <p:sldId id="1040" r:id="rId23"/>
    <p:sldId id="1017" r:id="rId24"/>
    <p:sldId id="1018" r:id="rId25"/>
    <p:sldId id="1020" r:id="rId26"/>
    <p:sldId id="1022" r:id="rId27"/>
    <p:sldId id="1024" r:id="rId28"/>
    <p:sldId id="1025" r:id="rId29"/>
    <p:sldId id="1026" r:id="rId30"/>
    <p:sldId id="1027" r:id="rId31"/>
    <p:sldId id="1028" r:id="rId32"/>
    <p:sldId id="1016" r:id="rId33"/>
    <p:sldId id="1023" r:id="rId34"/>
    <p:sldId id="1013" r:id="rId35"/>
    <p:sldId id="1014" r:id="rId36"/>
    <p:sldId id="964" r:id="rId37"/>
    <p:sldId id="974" r:id="rId38"/>
    <p:sldId id="1038" r:id="rId39"/>
    <p:sldId id="1036" r:id="rId40"/>
  </p:sldIdLst>
  <p:sldSz cx="9906000" cy="6858000" type="A4"/>
  <p:notesSz cx="6757988" cy="9866313"/>
  <p:defaultTextStyle>
    <a:defPPr>
      <a:defRPr lang="en-US"/>
    </a:defPPr>
    <a:lvl1pPr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前言" id="{6C6BB44C-AB8E-4516-BD16-DDF6FF095B81}">
          <p14:sldIdLst>
            <p14:sldId id="1005"/>
            <p14:sldId id="1031"/>
            <p14:sldId id="1032"/>
            <p14:sldId id="1037"/>
            <p14:sldId id="1030"/>
            <p14:sldId id="1039"/>
          </p14:sldIdLst>
        </p14:section>
        <p14:section name="程序和程序设计语言" id="{2DB239F3-BAE0-4015-B9EF-1958FC0DADD3}">
          <p14:sldIdLst>
            <p14:sldId id="921"/>
            <p14:sldId id="1011"/>
            <p14:sldId id="927"/>
            <p14:sldId id="929"/>
            <p14:sldId id="962"/>
            <p14:sldId id="1007"/>
            <p14:sldId id="930"/>
            <p14:sldId id="933"/>
            <p14:sldId id="934"/>
            <p14:sldId id="1010"/>
          </p14:sldIdLst>
        </p14:section>
        <p14:section name="C语言历史" id="{111BDDB4-0F3F-4EDF-9215-6D8663A84520}">
          <p14:sldIdLst>
            <p14:sldId id="1012"/>
            <p14:sldId id="966"/>
            <p14:sldId id="936"/>
            <p14:sldId id="973"/>
            <p14:sldId id="938"/>
            <p14:sldId id="1040"/>
          </p14:sldIdLst>
        </p14:section>
        <p14:section name="集成开发环境搭建" id="{8732B5B2-02FE-40B5-95F1-11DEA3E68288}">
          <p14:sldIdLst>
            <p14:sldId id="1017"/>
            <p14:sldId id="1018"/>
            <p14:sldId id="1020"/>
            <p14:sldId id="1022"/>
            <p14:sldId id="1024"/>
            <p14:sldId id="1025"/>
            <p14:sldId id="1026"/>
            <p14:sldId id="1027"/>
            <p14:sldId id="1028"/>
            <p14:sldId id="1016"/>
            <p14:sldId id="1023"/>
          </p14:sldIdLst>
        </p14:section>
        <p14:section name="问题求解过程" id="{19DC3826-B34F-4E0C-AC19-7E77CA6CA018}">
          <p14:sldIdLst>
            <p14:sldId id="1013"/>
            <p14:sldId id="1014"/>
            <p14:sldId id="964"/>
            <p14:sldId id="974"/>
            <p14:sldId id="1038"/>
            <p14:sldId id="1036"/>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07">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A50021"/>
    <a:srgbClr val="FFFFCC"/>
    <a:srgbClr val="3333CC"/>
    <a:srgbClr val="663300"/>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63" autoAdjust="0"/>
    <p:restoredTop sz="72479" autoAdjust="0"/>
  </p:normalViewPr>
  <p:slideViewPr>
    <p:cSldViewPr>
      <p:cViewPr varScale="1">
        <p:scale>
          <a:sx n="87" d="100"/>
          <a:sy n="87" d="100"/>
        </p:scale>
        <p:origin x="1626" y="84"/>
      </p:cViewPr>
      <p:guideLst>
        <p:guide orient="horz" pos="2160"/>
        <p:guide pos="312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189912"/>
    </p:cViewPr>
  </p:sorterViewPr>
  <p:notesViewPr>
    <p:cSldViewPr>
      <p:cViewPr varScale="1">
        <p:scale>
          <a:sx n="62" d="100"/>
          <a:sy n="62" d="100"/>
        </p:scale>
        <p:origin x="-3474" y="-90"/>
      </p:cViewPr>
      <p:guideLst>
        <p:guide orient="horz" pos="3107"/>
        <p:guide pos="212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ED18BE-FCA8-4AC3-AA1E-01A06A575F8E}" type="doc">
      <dgm:prSet loTypeId="urn:microsoft.com/office/officeart/2005/8/layout/chevron1" loCatId="process" qsTypeId="urn:microsoft.com/office/officeart/2005/8/quickstyle/simple1" qsCatId="simple" csTypeId="urn:microsoft.com/office/officeart/2005/8/colors/accent1_2" csCatId="accent1" phldr="1"/>
      <dgm:spPr/>
    </dgm:pt>
    <dgm:pt modelId="{8AF0E20F-0176-41E1-B14D-CCCE46E3A9A7}">
      <dgm:prSet phldrT="[文本]"/>
      <dgm:spPr/>
      <dgm:t>
        <a:bodyPr/>
        <a:lstStyle/>
        <a:p>
          <a:r>
            <a:rPr lang="zh-CN" altLang="en-US" dirty="0" smtClean="0"/>
            <a:t>问题</a:t>
          </a:r>
          <a:endParaRPr lang="zh-CN" altLang="en-US" dirty="0"/>
        </a:p>
      </dgm:t>
    </dgm:pt>
    <dgm:pt modelId="{3A86495C-309B-4A6A-90FD-9A98B404D09B}" type="parTrans" cxnId="{F6BE1329-156F-4298-AC05-56112EAFC6A2}">
      <dgm:prSet/>
      <dgm:spPr/>
      <dgm:t>
        <a:bodyPr/>
        <a:lstStyle/>
        <a:p>
          <a:endParaRPr lang="zh-CN" altLang="en-US"/>
        </a:p>
      </dgm:t>
    </dgm:pt>
    <dgm:pt modelId="{027BDF93-E4D5-4D03-ABE6-2F308E9A9919}" type="sibTrans" cxnId="{F6BE1329-156F-4298-AC05-56112EAFC6A2}">
      <dgm:prSet/>
      <dgm:spPr/>
      <dgm:t>
        <a:bodyPr/>
        <a:lstStyle/>
        <a:p>
          <a:endParaRPr lang="zh-CN" altLang="en-US"/>
        </a:p>
      </dgm:t>
    </dgm:pt>
    <dgm:pt modelId="{E940113C-8DC3-462B-BF65-7C8A87B2C63C}">
      <dgm:prSet phldrT="[文本]"/>
      <dgm:spPr/>
      <dgm:t>
        <a:bodyPr/>
        <a:lstStyle/>
        <a:p>
          <a:r>
            <a:rPr lang="zh-CN" altLang="en-US" dirty="0" smtClean="0"/>
            <a:t>算法</a:t>
          </a:r>
          <a:endParaRPr lang="zh-CN" altLang="en-US" dirty="0"/>
        </a:p>
      </dgm:t>
    </dgm:pt>
    <dgm:pt modelId="{5A22F01F-04B4-4240-9A6F-B04D0D0B2966}" type="parTrans" cxnId="{BF8C38F6-C77C-4CED-A4BF-91FDBBA24843}">
      <dgm:prSet/>
      <dgm:spPr/>
      <dgm:t>
        <a:bodyPr/>
        <a:lstStyle/>
        <a:p>
          <a:endParaRPr lang="zh-CN" altLang="en-US"/>
        </a:p>
      </dgm:t>
    </dgm:pt>
    <dgm:pt modelId="{73E005DF-91D3-45C1-BE88-F09ED204C5B2}" type="sibTrans" cxnId="{BF8C38F6-C77C-4CED-A4BF-91FDBBA24843}">
      <dgm:prSet/>
      <dgm:spPr/>
      <dgm:t>
        <a:bodyPr/>
        <a:lstStyle/>
        <a:p>
          <a:endParaRPr lang="zh-CN" altLang="en-US"/>
        </a:p>
      </dgm:t>
    </dgm:pt>
    <dgm:pt modelId="{C74AFFAB-77A8-424D-9676-F4551C8143E1}">
      <dgm:prSet phldrT="[文本]"/>
      <dgm:spPr/>
      <dgm:t>
        <a:bodyPr/>
        <a:lstStyle/>
        <a:p>
          <a:r>
            <a:rPr lang="zh-CN" altLang="en-US" dirty="0" smtClean="0"/>
            <a:t>程序</a:t>
          </a:r>
          <a:endParaRPr lang="zh-CN" altLang="en-US" dirty="0"/>
        </a:p>
      </dgm:t>
    </dgm:pt>
    <dgm:pt modelId="{9FD39FD5-6289-432C-B274-806D0C56EACA}" type="parTrans" cxnId="{07626583-0D35-4D5E-A239-516D5FC86F81}">
      <dgm:prSet/>
      <dgm:spPr/>
      <dgm:t>
        <a:bodyPr/>
        <a:lstStyle/>
        <a:p>
          <a:endParaRPr lang="zh-CN" altLang="en-US"/>
        </a:p>
      </dgm:t>
    </dgm:pt>
    <dgm:pt modelId="{66CFD16D-7F0A-4CDF-A41D-784BBF44B81E}" type="sibTrans" cxnId="{07626583-0D35-4D5E-A239-516D5FC86F81}">
      <dgm:prSet/>
      <dgm:spPr/>
      <dgm:t>
        <a:bodyPr/>
        <a:lstStyle/>
        <a:p>
          <a:endParaRPr lang="zh-CN" altLang="en-US"/>
        </a:p>
      </dgm:t>
    </dgm:pt>
    <dgm:pt modelId="{6C354F79-3032-4DEC-A19B-1FD4D711CD39}" type="pres">
      <dgm:prSet presAssocID="{C4ED18BE-FCA8-4AC3-AA1E-01A06A575F8E}" presName="Name0" presStyleCnt="0">
        <dgm:presLayoutVars>
          <dgm:dir/>
          <dgm:animLvl val="lvl"/>
          <dgm:resizeHandles val="exact"/>
        </dgm:presLayoutVars>
      </dgm:prSet>
      <dgm:spPr/>
    </dgm:pt>
    <dgm:pt modelId="{231CE168-FCD7-4D2C-A112-01F929BE2BF3}" type="pres">
      <dgm:prSet presAssocID="{8AF0E20F-0176-41E1-B14D-CCCE46E3A9A7}" presName="parTxOnly" presStyleLbl="node1" presStyleIdx="0" presStyleCnt="3">
        <dgm:presLayoutVars>
          <dgm:chMax val="0"/>
          <dgm:chPref val="0"/>
          <dgm:bulletEnabled val="1"/>
        </dgm:presLayoutVars>
      </dgm:prSet>
      <dgm:spPr/>
      <dgm:t>
        <a:bodyPr/>
        <a:lstStyle/>
        <a:p>
          <a:endParaRPr lang="zh-CN" altLang="en-US"/>
        </a:p>
      </dgm:t>
    </dgm:pt>
    <dgm:pt modelId="{2785DA68-4FDE-4F72-B095-7C43B345FD95}" type="pres">
      <dgm:prSet presAssocID="{027BDF93-E4D5-4D03-ABE6-2F308E9A9919}" presName="parTxOnlySpace" presStyleCnt="0"/>
      <dgm:spPr/>
    </dgm:pt>
    <dgm:pt modelId="{D8D713BA-1565-48EC-91C1-BDE5A899A8D1}" type="pres">
      <dgm:prSet presAssocID="{E940113C-8DC3-462B-BF65-7C8A87B2C63C}" presName="parTxOnly" presStyleLbl="node1" presStyleIdx="1" presStyleCnt="3">
        <dgm:presLayoutVars>
          <dgm:chMax val="0"/>
          <dgm:chPref val="0"/>
          <dgm:bulletEnabled val="1"/>
        </dgm:presLayoutVars>
      </dgm:prSet>
      <dgm:spPr/>
      <dgm:t>
        <a:bodyPr/>
        <a:lstStyle/>
        <a:p>
          <a:endParaRPr lang="zh-CN" altLang="en-US"/>
        </a:p>
      </dgm:t>
    </dgm:pt>
    <dgm:pt modelId="{65897B51-4E3A-42D6-932F-9ED5B1942F37}" type="pres">
      <dgm:prSet presAssocID="{73E005DF-91D3-45C1-BE88-F09ED204C5B2}" presName="parTxOnlySpace" presStyleCnt="0"/>
      <dgm:spPr/>
    </dgm:pt>
    <dgm:pt modelId="{96A0355A-9F99-4777-83EC-5041F87FD520}" type="pres">
      <dgm:prSet presAssocID="{C74AFFAB-77A8-424D-9676-F4551C8143E1}" presName="parTxOnly" presStyleLbl="node1" presStyleIdx="2" presStyleCnt="3">
        <dgm:presLayoutVars>
          <dgm:chMax val="0"/>
          <dgm:chPref val="0"/>
          <dgm:bulletEnabled val="1"/>
        </dgm:presLayoutVars>
      </dgm:prSet>
      <dgm:spPr/>
      <dgm:t>
        <a:bodyPr/>
        <a:lstStyle/>
        <a:p>
          <a:endParaRPr lang="zh-CN" altLang="en-US"/>
        </a:p>
      </dgm:t>
    </dgm:pt>
  </dgm:ptLst>
  <dgm:cxnLst>
    <dgm:cxn modelId="{BF8C38F6-C77C-4CED-A4BF-91FDBBA24843}" srcId="{C4ED18BE-FCA8-4AC3-AA1E-01A06A575F8E}" destId="{E940113C-8DC3-462B-BF65-7C8A87B2C63C}" srcOrd="1" destOrd="0" parTransId="{5A22F01F-04B4-4240-9A6F-B04D0D0B2966}" sibTransId="{73E005DF-91D3-45C1-BE88-F09ED204C5B2}"/>
    <dgm:cxn modelId="{563432E1-30A4-4CD9-AF0E-647E2EB6B1FB}" type="presOf" srcId="{C74AFFAB-77A8-424D-9676-F4551C8143E1}" destId="{96A0355A-9F99-4777-83EC-5041F87FD520}" srcOrd="0" destOrd="0" presId="urn:microsoft.com/office/officeart/2005/8/layout/chevron1"/>
    <dgm:cxn modelId="{07626583-0D35-4D5E-A239-516D5FC86F81}" srcId="{C4ED18BE-FCA8-4AC3-AA1E-01A06A575F8E}" destId="{C74AFFAB-77A8-424D-9676-F4551C8143E1}" srcOrd="2" destOrd="0" parTransId="{9FD39FD5-6289-432C-B274-806D0C56EACA}" sibTransId="{66CFD16D-7F0A-4CDF-A41D-784BBF44B81E}"/>
    <dgm:cxn modelId="{8B3F8B7C-0FB8-4BC8-8EFF-858A40D4C877}" type="presOf" srcId="{E940113C-8DC3-462B-BF65-7C8A87B2C63C}" destId="{D8D713BA-1565-48EC-91C1-BDE5A899A8D1}" srcOrd="0" destOrd="0" presId="urn:microsoft.com/office/officeart/2005/8/layout/chevron1"/>
    <dgm:cxn modelId="{F6BE1329-156F-4298-AC05-56112EAFC6A2}" srcId="{C4ED18BE-FCA8-4AC3-AA1E-01A06A575F8E}" destId="{8AF0E20F-0176-41E1-B14D-CCCE46E3A9A7}" srcOrd="0" destOrd="0" parTransId="{3A86495C-309B-4A6A-90FD-9A98B404D09B}" sibTransId="{027BDF93-E4D5-4D03-ABE6-2F308E9A9919}"/>
    <dgm:cxn modelId="{DBF8DE03-8AAA-48FE-ADB2-90953D9D3263}" type="presOf" srcId="{C4ED18BE-FCA8-4AC3-AA1E-01A06A575F8E}" destId="{6C354F79-3032-4DEC-A19B-1FD4D711CD39}" srcOrd="0" destOrd="0" presId="urn:microsoft.com/office/officeart/2005/8/layout/chevron1"/>
    <dgm:cxn modelId="{E5698CDC-FEB2-41CD-A656-7EA872936A44}" type="presOf" srcId="{8AF0E20F-0176-41E1-B14D-CCCE46E3A9A7}" destId="{231CE168-FCD7-4D2C-A112-01F929BE2BF3}" srcOrd="0" destOrd="0" presId="urn:microsoft.com/office/officeart/2005/8/layout/chevron1"/>
    <dgm:cxn modelId="{0879A125-02D4-401F-8AEA-81460FDA14CE}" type="presParOf" srcId="{6C354F79-3032-4DEC-A19B-1FD4D711CD39}" destId="{231CE168-FCD7-4D2C-A112-01F929BE2BF3}" srcOrd="0" destOrd="0" presId="urn:microsoft.com/office/officeart/2005/8/layout/chevron1"/>
    <dgm:cxn modelId="{713A3682-CBF5-4C42-992A-5172AD1EC577}" type="presParOf" srcId="{6C354F79-3032-4DEC-A19B-1FD4D711CD39}" destId="{2785DA68-4FDE-4F72-B095-7C43B345FD95}" srcOrd="1" destOrd="0" presId="urn:microsoft.com/office/officeart/2005/8/layout/chevron1"/>
    <dgm:cxn modelId="{C9AE3687-9EE0-4BFF-BA44-D7C6C9E0210D}" type="presParOf" srcId="{6C354F79-3032-4DEC-A19B-1FD4D711CD39}" destId="{D8D713BA-1565-48EC-91C1-BDE5A899A8D1}" srcOrd="2" destOrd="0" presId="urn:microsoft.com/office/officeart/2005/8/layout/chevron1"/>
    <dgm:cxn modelId="{9228360E-2186-490E-A439-F8719FB7AE25}" type="presParOf" srcId="{6C354F79-3032-4DEC-A19B-1FD4D711CD39}" destId="{65897B51-4E3A-42D6-932F-9ED5B1942F37}" srcOrd="3" destOrd="0" presId="urn:microsoft.com/office/officeart/2005/8/layout/chevron1"/>
    <dgm:cxn modelId="{EAB07A88-5047-44F6-BAF8-6AFD496BDDE6}" type="presParOf" srcId="{6C354F79-3032-4DEC-A19B-1FD4D711CD39}" destId="{96A0355A-9F99-4777-83EC-5041F87FD520}"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CE168-FCD7-4D2C-A112-01F929BE2BF3}">
      <dsp:nvSpPr>
        <dsp:cNvPr id="0" name=""/>
        <dsp:cNvSpPr/>
      </dsp:nvSpPr>
      <dsp:spPr>
        <a:xfrm>
          <a:off x="2477" y="224335"/>
          <a:ext cx="3018780" cy="12075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2029" tIns="77343" rIns="77343" bIns="77343" numCol="1" spcCol="1270" anchor="ctr" anchorCtr="0">
          <a:noAutofit/>
        </a:bodyPr>
        <a:lstStyle/>
        <a:p>
          <a:pPr lvl="0" algn="ctr" defTabSz="2578100">
            <a:lnSpc>
              <a:spcPct val="90000"/>
            </a:lnSpc>
            <a:spcBef>
              <a:spcPct val="0"/>
            </a:spcBef>
            <a:spcAft>
              <a:spcPct val="35000"/>
            </a:spcAft>
          </a:pPr>
          <a:r>
            <a:rPr lang="zh-CN" altLang="en-US" sz="5800" kern="1200" dirty="0" smtClean="0"/>
            <a:t>问题</a:t>
          </a:r>
          <a:endParaRPr lang="zh-CN" altLang="en-US" sz="5800" kern="1200" dirty="0"/>
        </a:p>
      </dsp:txBody>
      <dsp:txXfrm>
        <a:off x="606233" y="224335"/>
        <a:ext cx="1811268" cy="1207512"/>
      </dsp:txXfrm>
    </dsp:sp>
    <dsp:sp modelId="{D8D713BA-1565-48EC-91C1-BDE5A899A8D1}">
      <dsp:nvSpPr>
        <dsp:cNvPr id="0" name=""/>
        <dsp:cNvSpPr/>
      </dsp:nvSpPr>
      <dsp:spPr>
        <a:xfrm>
          <a:off x="2719380" y="224335"/>
          <a:ext cx="3018780" cy="12075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2029" tIns="77343" rIns="77343" bIns="77343" numCol="1" spcCol="1270" anchor="ctr" anchorCtr="0">
          <a:noAutofit/>
        </a:bodyPr>
        <a:lstStyle/>
        <a:p>
          <a:pPr lvl="0" algn="ctr" defTabSz="2578100">
            <a:lnSpc>
              <a:spcPct val="90000"/>
            </a:lnSpc>
            <a:spcBef>
              <a:spcPct val="0"/>
            </a:spcBef>
            <a:spcAft>
              <a:spcPct val="35000"/>
            </a:spcAft>
          </a:pPr>
          <a:r>
            <a:rPr lang="zh-CN" altLang="en-US" sz="5800" kern="1200" dirty="0" smtClean="0"/>
            <a:t>算法</a:t>
          </a:r>
          <a:endParaRPr lang="zh-CN" altLang="en-US" sz="5800" kern="1200" dirty="0"/>
        </a:p>
      </dsp:txBody>
      <dsp:txXfrm>
        <a:off x="3323136" y="224335"/>
        <a:ext cx="1811268" cy="1207512"/>
      </dsp:txXfrm>
    </dsp:sp>
    <dsp:sp modelId="{96A0355A-9F99-4777-83EC-5041F87FD520}">
      <dsp:nvSpPr>
        <dsp:cNvPr id="0" name=""/>
        <dsp:cNvSpPr/>
      </dsp:nvSpPr>
      <dsp:spPr>
        <a:xfrm>
          <a:off x="5436283" y="224335"/>
          <a:ext cx="3018780" cy="12075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2029" tIns="77343" rIns="77343" bIns="77343" numCol="1" spcCol="1270" anchor="ctr" anchorCtr="0">
          <a:noAutofit/>
        </a:bodyPr>
        <a:lstStyle/>
        <a:p>
          <a:pPr lvl="0" algn="ctr" defTabSz="2578100">
            <a:lnSpc>
              <a:spcPct val="90000"/>
            </a:lnSpc>
            <a:spcBef>
              <a:spcPct val="0"/>
            </a:spcBef>
            <a:spcAft>
              <a:spcPct val="35000"/>
            </a:spcAft>
          </a:pPr>
          <a:r>
            <a:rPr lang="zh-CN" altLang="en-US" sz="5800" kern="1200" dirty="0" smtClean="0"/>
            <a:t>程序</a:t>
          </a:r>
          <a:endParaRPr lang="zh-CN" altLang="en-US" sz="5800" kern="1200" dirty="0"/>
        </a:p>
      </dsp:txBody>
      <dsp:txXfrm>
        <a:off x="6040039" y="224335"/>
        <a:ext cx="1811268" cy="120751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123907" name="Rectangle 3"/>
          <p:cNvSpPr>
            <a:spLocks noGrp="1" noChangeArrowheads="1"/>
          </p:cNvSpPr>
          <p:nvPr>
            <p:ph type="dt" sz="quarter" idx="1"/>
          </p:nvPr>
        </p:nvSpPr>
        <p:spPr bwMode="auto">
          <a:xfrm>
            <a:off x="3829050" y="0"/>
            <a:ext cx="2928938" cy="4937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123908" name="Rectangle 4"/>
          <p:cNvSpPr>
            <a:spLocks noGrp="1" noChangeArrowheads="1"/>
          </p:cNvSpPr>
          <p:nvPr>
            <p:ph type="ftr" sz="quarter" idx="2"/>
          </p:nvPr>
        </p:nvSpPr>
        <p:spPr bwMode="auto">
          <a:xfrm>
            <a:off x="0" y="9372600"/>
            <a:ext cx="2928938" cy="493713"/>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123909" name="Rectangle 5"/>
          <p:cNvSpPr>
            <a:spLocks noGrp="1" noChangeArrowheads="1"/>
          </p:cNvSpPr>
          <p:nvPr>
            <p:ph type="sldNum" sz="quarter" idx="3"/>
          </p:nvPr>
        </p:nvSpPr>
        <p:spPr bwMode="auto">
          <a:xfrm>
            <a:off x="3829050" y="9372600"/>
            <a:ext cx="2928938" cy="493713"/>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eaLnBrk="1" hangingPunct="1">
              <a:lnSpc>
                <a:spcPct val="100000"/>
              </a:lnSpc>
              <a:spcBef>
                <a:spcPct val="0"/>
              </a:spcBef>
              <a:spcAft>
                <a:spcPct val="0"/>
              </a:spcAft>
              <a:buClrTx/>
              <a:buSzTx/>
              <a:buFontTx/>
              <a:buNone/>
              <a:defRPr sz="1200" smtClean="0">
                <a:latin typeface="Times New Roman" panose="02020603050405020304" pitchFamily="18" charset="0"/>
              </a:defRPr>
            </a:lvl1pPr>
          </a:lstStyle>
          <a:p>
            <a:pPr>
              <a:defRPr/>
            </a:pPr>
            <a:fld id="{D1D370BF-8D26-48B5-BAD8-19D40BCC60D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p:cNvSpPr>
            <a:spLocks noGrp="1" noChangeArrowheads="1"/>
          </p:cNvSpPr>
          <p:nvPr>
            <p:ph type="hdr" sz="quarter"/>
          </p:nvPr>
        </p:nvSpPr>
        <p:spPr bwMode="auto">
          <a:xfrm>
            <a:off x="0" y="0"/>
            <a:ext cx="2895600" cy="457200"/>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571395" name="Rectangle 3"/>
          <p:cNvSpPr>
            <a:spLocks noGrp="1" noChangeArrowheads="1"/>
          </p:cNvSpPr>
          <p:nvPr>
            <p:ph type="dt" idx="1"/>
          </p:nvPr>
        </p:nvSpPr>
        <p:spPr bwMode="auto">
          <a:xfrm>
            <a:off x="3808413" y="0"/>
            <a:ext cx="2971800" cy="457200"/>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749300" y="762000"/>
            <a:ext cx="52832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1397" name="Rectangle 5"/>
          <p:cNvSpPr>
            <a:spLocks noGrp="1" noChangeArrowheads="1"/>
          </p:cNvSpPr>
          <p:nvPr>
            <p:ph type="body" sz="quarter" idx="3"/>
          </p:nvPr>
        </p:nvSpPr>
        <p:spPr bwMode="auto">
          <a:xfrm>
            <a:off x="914400" y="4724400"/>
            <a:ext cx="4951413" cy="44180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71398" name="Rectangle 6"/>
          <p:cNvSpPr>
            <a:spLocks noGrp="1" noChangeArrowheads="1"/>
          </p:cNvSpPr>
          <p:nvPr>
            <p:ph type="ftr" sz="quarter" idx="4"/>
          </p:nvPr>
        </p:nvSpPr>
        <p:spPr bwMode="auto">
          <a:xfrm>
            <a:off x="0" y="9371013"/>
            <a:ext cx="2895600" cy="457200"/>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defRPr>
            </a:lvl1pPr>
          </a:lstStyle>
          <a:p>
            <a:pPr>
              <a:defRPr/>
            </a:pPr>
            <a:endParaRPr lang="en-US" altLang="zh-CN"/>
          </a:p>
        </p:txBody>
      </p:sp>
      <p:sp>
        <p:nvSpPr>
          <p:cNvPr id="571399" name="Rectangle 7"/>
          <p:cNvSpPr>
            <a:spLocks noGrp="1" noChangeArrowheads="1"/>
          </p:cNvSpPr>
          <p:nvPr>
            <p:ph type="sldNum" sz="quarter" idx="5"/>
          </p:nvPr>
        </p:nvSpPr>
        <p:spPr bwMode="auto">
          <a:xfrm>
            <a:off x="3808413" y="9371013"/>
            <a:ext cx="2971800" cy="457200"/>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eaLnBrk="1" hangingPunct="1">
              <a:lnSpc>
                <a:spcPct val="100000"/>
              </a:lnSpc>
              <a:spcBef>
                <a:spcPct val="0"/>
              </a:spcBef>
              <a:spcAft>
                <a:spcPct val="0"/>
              </a:spcAft>
              <a:buClrTx/>
              <a:buSzTx/>
              <a:buFontTx/>
              <a:buNone/>
              <a:defRPr sz="1200" smtClean="0">
                <a:latin typeface="Times New Roman" panose="02020603050405020304" pitchFamily="18" charset="0"/>
              </a:defRPr>
            </a:lvl1pPr>
          </a:lstStyle>
          <a:p>
            <a:pPr>
              <a:defRPr/>
            </a:pPr>
            <a:fld id="{A747C7B4-3118-4BD9-BFDF-DBFB6338E769}"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706438" y="739775"/>
            <a:ext cx="5345112" cy="3702050"/>
          </a:xfrm>
          <a:ln/>
        </p:spPr>
      </p:sp>
      <p:sp>
        <p:nvSpPr>
          <p:cNvPr id="8195" name="Rectangle 3"/>
          <p:cNvSpPr>
            <a:spLocks noGrp="1" noChangeArrowheads="1"/>
          </p:cNvSpPr>
          <p:nvPr>
            <p:ph type="body" idx="1"/>
          </p:nvPr>
        </p:nvSpPr>
        <p:spPr>
          <a:xfrm>
            <a:off x="677863" y="4686300"/>
            <a:ext cx="5405437"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首先这门课程是通识教育课程，针对非计算机专业的同学，</a:t>
            </a:r>
            <a:endParaRPr lang="en-US" altLang="zh-CN" dirty="0" smtClean="0"/>
          </a:p>
          <a:p>
            <a:r>
              <a:rPr lang="zh-CN" altLang="en-US" dirty="0" smtClean="0"/>
              <a:t>所以，这门课的目标不是培养出用</a:t>
            </a:r>
            <a:r>
              <a:rPr lang="en-US" altLang="zh-CN" dirty="0" smtClean="0"/>
              <a:t>C</a:t>
            </a:r>
            <a:r>
              <a:rPr lang="zh-CN" altLang="en-US" dirty="0" smtClean="0"/>
              <a:t>语言写代码的程序员，而是通过学习</a:t>
            </a:r>
            <a:r>
              <a:rPr lang="en-US" altLang="zh-CN" dirty="0" smtClean="0"/>
              <a:t>C</a:t>
            </a:r>
            <a:r>
              <a:rPr lang="zh-CN" altLang="en-US" dirty="0" smtClean="0"/>
              <a:t>语言的相关知识，了解运用计算机思维解决问题的方法，扩宽知识面。</a:t>
            </a:r>
            <a:endParaRPr lang="en-US" altLang="zh-CN"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具体来讲，通过本课程的学习，我们能</a:t>
            </a:r>
            <a:r>
              <a:rPr lang="zh-CN" altLang="zh-CN" dirty="0" smtClean="0"/>
              <a:t>掌握</a:t>
            </a:r>
            <a:r>
              <a:rPr lang="en-US" altLang="zh-CN" dirty="0" smtClean="0"/>
              <a:t>C</a:t>
            </a:r>
            <a:r>
              <a:rPr lang="zh-CN" altLang="zh-CN" dirty="0" smtClean="0"/>
              <a:t>语言的基本语法知识、计算机常用算法和经典算法、基本的程序设计过程和方法，理解利用计算机求解问题的基本特点。</a:t>
            </a:r>
            <a:endParaRPr lang="en-US" altLang="zh-CN"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在这个学习过程中，潜移默化的，应该</a:t>
            </a:r>
            <a:r>
              <a:rPr lang="zh-CN" altLang="zh-CN" dirty="0" smtClean="0"/>
              <a:t>具备利用程序设计的方法去分析问题、解决问题的基本能力，具有程序设计的基础编码能力，具有运用计算</a:t>
            </a:r>
            <a:r>
              <a:rPr lang="zh-CN" altLang="en-US" dirty="0" smtClean="0"/>
              <a:t>机</a:t>
            </a:r>
            <a:r>
              <a:rPr lang="zh-CN" altLang="zh-CN" dirty="0" smtClean="0"/>
              <a:t>思维分析和解决本专业实际问题的能力。</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a:t>
            </a:fld>
            <a:endParaRPr lang="en-US" altLang="zh-CN"/>
          </a:p>
        </p:txBody>
      </p:sp>
    </p:spTree>
    <p:extLst>
      <p:ext uri="{BB962C8B-B14F-4D97-AF65-F5344CB8AC3E}">
        <p14:creationId xmlns:p14="http://schemas.microsoft.com/office/powerpoint/2010/main" val="3520942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然后是课程的主要学习内容：</a:t>
            </a:r>
            <a:endParaRPr lang="en-US" altLang="zh-CN" dirty="0" smtClean="0"/>
          </a:p>
          <a:p>
            <a:r>
              <a:rPr lang="zh-CN" altLang="en-US" dirty="0" smtClean="0"/>
              <a:t>首先介绍程序设计的基本知识，包括</a:t>
            </a:r>
            <a:r>
              <a:rPr lang="en-US" altLang="zh-CN" dirty="0" smtClean="0"/>
              <a:t>C</a:t>
            </a:r>
            <a:r>
              <a:rPr lang="zh-CN" altLang="en-US" dirty="0" smtClean="0"/>
              <a:t>语言的历史、搭建</a:t>
            </a:r>
            <a:r>
              <a:rPr lang="en-US" altLang="zh-CN" dirty="0" smtClean="0"/>
              <a:t>C</a:t>
            </a:r>
            <a:r>
              <a:rPr lang="zh-CN" altLang="en-US" dirty="0" smtClean="0"/>
              <a:t>语言的运行环境</a:t>
            </a:r>
            <a:endParaRPr lang="en-US" altLang="zh-CN" dirty="0" smtClean="0"/>
          </a:p>
          <a:p>
            <a:r>
              <a:rPr lang="zh-CN" altLang="en-US" dirty="0" smtClean="0"/>
              <a:t>然后学习</a:t>
            </a:r>
            <a:r>
              <a:rPr lang="en-US" altLang="zh-CN" dirty="0" smtClean="0"/>
              <a:t>C</a:t>
            </a:r>
            <a:r>
              <a:rPr lang="zh-CN" altLang="en-US" dirty="0" smtClean="0"/>
              <a:t>语言的基础语法，包括数据类型定义、运算符、表达式和三种基本的逻辑结构（顺序、选择和循环）等内容</a:t>
            </a:r>
            <a:endParaRPr lang="en-US" altLang="zh-CN" dirty="0" smtClean="0"/>
          </a:p>
          <a:p>
            <a:r>
              <a:rPr lang="zh-CN" altLang="en-US" dirty="0" smtClean="0"/>
              <a:t>在了解基础语法后，学习与</a:t>
            </a:r>
            <a:r>
              <a:rPr lang="en-US" altLang="zh-CN" dirty="0" smtClean="0"/>
              <a:t>C</a:t>
            </a:r>
            <a:r>
              <a:rPr lang="zh-CN" altLang="en-US" dirty="0" smtClean="0"/>
              <a:t>语言相关的高级特性，如指针、结构体和文件操作。</a:t>
            </a:r>
            <a:endParaRPr lang="en-US" altLang="zh-CN" dirty="0" smtClean="0"/>
          </a:p>
          <a:p>
            <a:r>
              <a:rPr lang="zh-CN" altLang="en-US" dirty="0" smtClean="0"/>
              <a:t>同时针对各个课程模块，也有相应的实验内容。</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a:t>
            </a:fld>
            <a:endParaRPr lang="en-US" altLang="zh-CN"/>
          </a:p>
        </p:txBody>
      </p:sp>
    </p:spTree>
    <p:extLst>
      <p:ext uri="{BB962C8B-B14F-4D97-AF65-F5344CB8AC3E}">
        <p14:creationId xmlns:p14="http://schemas.microsoft.com/office/powerpoint/2010/main" val="1417980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最后，在开始正式的学习内容之前，给大家几个学习的小建议。</a:t>
            </a:r>
            <a:endParaRPr lang="en-US" altLang="zh-CN" dirty="0" smtClean="0"/>
          </a:p>
          <a:p>
            <a:r>
              <a:rPr lang="zh-CN" altLang="en-US" dirty="0" smtClean="0"/>
              <a:t>马克思在实践论中告诉我们：实践是检验真理的唯一标准。在本课程的学习中，可能会出现知识记不牢、或者学不懂等问题，这时候，上机实践，动手调一调代码，才是成长的最快方法。</a:t>
            </a:r>
            <a:endParaRPr lang="en-US" altLang="zh-CN" dirty="0" smtClean="0"/>
          </a:p>
          <a:p>
            <a:r>
              <a:rPr lang="zh-CN" altLang="en-US" dirty="0" smtClean="0"/>
              <a:t>学而不思则罔，思而不学则殆，是孔子教给我们关于学习的一个简单的道理，思考的过程会加深你对知识的记忆与理解。</a:t>
            </a:r>
            <a:endParaRPr lang="en-US" altLang="zh-CN" dirty="0" smtClean="0"/>
          </a:p>
          <a:p>
            <a:r>
              <a:rPr lang="zh-CN" altLang="en-US" dirty="0" smtClean="0"/>
              <a:t>第三点是多与同学、老师沟通，不懂的地方提出来，大家一起探讨，才会突破思维的局限。</a:t>
            </a:r>
            <a:endParaRPr lang="en-US" altLang="zh-CN" dirty="0" smtClean="0"/>
          </a:p>
          <a:p>
            <a:r>
              <a:rPr lang="zh-CN" altLang="en-US" dirty="0" smtClean="0"/>
              <a:t>最后，就是善用搜索引擎，大部分你们遇到的问题，踩的坑，别人都已经遇到过，并且分享出来，通过搜索引擎，可以很快地找到问题的解决方案。</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4</a:t>
            </a:fld>
            <a:endParaRPr lang="en-US" altLang="zh-CN"/>
          </a:p>
        </p:txBody>
      </p:sp>
    </p:spTree>
    <p:extLst>
      <p:ext uri="{BB962C8B-B14F-4D97-AF65-F5344CB8AC3E}">
        <p14:creationId xmlns:p14="http://schemas.microsoft.com/office/powerpoint/2010/main" val="3977450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706438" y="739775"/>
            <a:ext cx="5345112" cy="3702050"/>
          </a:xfrm>
          <a:ln/>
        </p:spPr>
      </p:sp>
      <p:sp>
        <p:nvSpPr>
          <p:cNvPr id="8195" name="Rectangle 3"/>
          <p:cNvSpPr>
            <a:spLocks noGrp="1" noChangeArrowheads="1"/>
          </p:cNvSpPr>
          <p:nvPr>
            <p:ph type="body" idx="1"/>
          </p:nvPr>
        </p:nvSpPr>
        <p:spPr>
          <a:xfrm>
            <a:off x="677863" y="4686300"/>
            <a:ext cx="5405437"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下面开始我们的正式学习内容。</a:t>
            </a:r>
            <a:endParaRPr lang="en-US" altLang="zh-CN" dirty="0" smtClean="0"/>
          </a:p>
          <a:p>
            <a:pPr eaLnBrk="1" hangingPunct="1"/>
            <a:r>
              <a:rPr lang="zh-CN" altLang="en-US" dirty="0" smtClean="0"/>
              <a:t>第一章的内容：程序设计基本知识</a:t>
            </a:r>
          </a:p>
        </p:txBody>
      </p:sp>
    </p:spTree>
    <p:extLst>
      <p:ext uri="{BB962C8B-B14F-4D97-AF65-F5344CB8AC3E}">
        <p14:creationId xmlns:p14="http://schemas.microsoft.com/office/powerpoint/2010/main" val="1574378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在本章，我们主要学习</a:t>
            </a:r>
            <a:r>
              <a:rPr lang="zh-CN" altLang="en-US" dirty="0" smtClean="0">
                <a:solidFill>
                  <a:srgbClr val="FF0000"/>
                </a:solidFill>
                <a:latin typeface="Arial" panose="020B0604020202020204" pitchFamily="34" charset="0"/>
                <a:cs typeface="Arial" panose="020B0604020202020204" pitchFamily="34" charset="0"/>
              </a:rPr>
              <a:t>程序和程序设计语言</a:t>
            </a:r>
            <a:r>
              <a:rPr lang="zh-CN" altLang="en-US" dirty="0" smtClean="0">
                <a:solidFill>
                  <a:schemeClr val="tx1"/>
                </a:solidFill>
                <a:latin typeface="Times New Roman" pitchFamily="18" charset="0"/>
                <a:cs typeface="+mn-cs"/>
              </a:rPr>
              <a:t>、</a:t>
            </a:r>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语言简介、</a:t>
            </a:r>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语言集成开发环境的搭建和问题求解过程。</a:t>
            </a:r>
            <a:endParaRPr lang="en-US" altLang="zh-CN" dirty="0" smtClean="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6</a:t>
            </a:fld>
            <a:endParaRPr lang="en-US" altLang="zh-CN"/>
          </a:p>
        </p:txBody>
      </p:sp>
    </p:spTree>
    <p:extLst>
      <p:ext uri="{BB962C8B-B14F-4D97-AF65-F5344CB8AC3E}">
        <p14:creationId xmlns:p14="http://schemas.microsoft.com/office/powerpoint/2010/main" val="1809733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latin typeface="Arial" panose="020B0604020202020204" pitchFamily="34" charset="0"/>
                <a:cs typeface="Arial" panose="020B0604020202020204" pitchFamily="34" charset="0"/>
              </a:rPr>
              <a:t>首先开始第一部分学习内容</a:t>
            </a:r>
            <a:endParaRPr lang="en-US" altLang="zh-CN" dirty="0" smtClean="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7</a:t>
            </a:fld>
            <a:endParaRPr lang="en-US" altLang="zh-CN"/>
          </a:p>
        </p:txBody>
      </p:sp>
    </p:spTree>
    <p:extLst>
      <p:ext uri="{BB962C8B-B14F-4D97-AF65-F5344CB8AC3E}">
        <p14:creationId xmlns:p14="http://schemas.microsoft.com/office/powerpoint/2010/main" val="3458546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程序的定义是：为了实现特定目标或解决具体问题而用计算机语言编写的指令的有序集合。通俗来讲，就是写代码，通过代码控制逻辑来完成指定任务。</a:t>
            </a:r>
          </a:p>
          <a:p>
            <a:r>
              <a:rPr lang="zh-CN" altLang="zh-CN" sz="1200" kern="1200" dirty="0" smtClean="0">
                <a:solidFill>
                  <a:schemeClr val="tx1"/>
                </a:solidFill>
                <a:effectLst/>
                <a:latin typeface="Times New Roman" pitchFamily="18" charset="0"/>
                <a:ea typeface="+mn-ea"/>
                <a:cs typeface="+mn-cs"/>
              </a:rPr>
              <a:t>这里的一个问题是：我们平时使用的软件，就等价于程序吗？答案是不等价。</a:t>
            </a:r>
          </a:p>
          <a:p>
            <a:r>
              <a:rPr lang="zh-CN" altLang="zh-CN" sz="1200" kern="1200" dirty="0" smtClean="0">
                <a:solidFill>
                  <a:schemeClr val="tx1"/>
                </a:solidFill>
                <a:effectLst/>
                <a:latin typeface="Times New Roman" pitchFamily="18" charset="0"/>
                <a:ea typeface="+mn-ea"/>
                <a:cs typeface="+mn-cs"/>
              </a:rPr>
              <a:t>这张表格展示了程序、数据、文档之间的关系，其中也暗含了软件和程序之间的关系。</a:t>
            </a:r>
          </a:p>
          <a:p>
            <a:r>
              <a:rPr lang="zh-CN" altLang="zh-CN" sz="1200" kern="1200" dirty="0" smtClean="0">
                <a:solidFill>
                  <a:schemeClr val="tx1"/>
                </a:solidFill>
                <a:effectLst/>
                <a:latin typeface="Times New Roman" pitchFamily="18" charset="0"/>
                <a:ea typeface="+mn-ea"/>
                <a:cs typeface="+mn-cs"/>
              </a:rPr>
              <a:t>厨师有了菜谱和食材，通过烹饪方法，得到最终的菜品；</a:t>
            </a:r>
          </a:p>
          <a:p>
            <a:r>
              <a:rPr lang="zh-CN" altLang="zh-CN" sz="1200" kern="1200" dirty="0" smtClean="0">
                <a:solidFill>
                  <a:schemeClr val="tx1"/>
                </a:solidFill>
                <a:effectLst/>
                <a:latin typeface="Times New Roman" pitchFamily="18" charset="0"/>
                <a:ea typeface="+mn-ea"/>
                <a:cs typeface="+mn-cs"/>
              </a:rPr>
              <a:t>软件开发人员有了文档和数据，通过编写程序，得到最后的软件。</a:t>
            </a:r>
          </a:p>
          <a:p>
            <a:r>
              <a:rPr lang="zh-CN" altLang="zh-CN" sz="1200" kern="1200" dirty="0" smtClean="0">
                <a:solidFill>
                  <a:schemeClr val="tx1"/>
                </a:solidFill>
                <a:effectLst/>
                <a:latin typeface="Times New Roman" pitchFamily="18" charset="0"/>
                <a:ea typeface="+mn-ea"/>
                <a:cs typeface="+mn-cs"/>
              </a:rPr>
              <a:t>其中菜谱对应软件开发文档，食材对应软件中的数据，菜品对应了软件。</a:t>
            </a:r>
          </a:p>
          <a:p>
            <a:r>
              <a:rPr lang="zh-CN" altLang="zh-CN" sz="1200" kern="1200" dirty="0" smtClean="0">
                <a:solidFill>
                  <a:schemeClr val="tx1"/>
                </a:solidFill>
                <a:effectLst/>
                <a:latin typeface="Times New Roman" pitchFamily="18" charset="0"/>
                <a:ea typeface="+mn-ea"/>
                <a:cs typeface="+mn-cs"/>
              </a:rPr>
              <a:t>也就是说，软件定义的范围更大，包含了程序。</a:t>
            </a:r>
          </a:p>
          <a:p>
            <a:r>
              <a:rPr lang="zh-CN" altLang="zh-CN" sz="1200" kern="1200" dirty="0" smtClean="0">
                <a:solidFill>
                  <a:schemeClr val="tx1"/>
                </a:solidFill>
                <a:effectLst/>
                <a:latin typeface="Times New Roman" pitchFamily="18" charset="0"/>
                <a:ea typeface="+mn-ea"/>
                <a:cs typeface="+mn-cs"/>
              </a:rPr>
              <a:t>接下来，我们将通过几个问题引出编写程序所用的高级语言。</a:t>
            </a:r>
            <a:endParaRPr lang="zh-CN" altLang="zh-CN" sz="1200" kern="1200" dirty="0">
              <a:solidFill>
                <a:schemeClr val="tx1"/>
              </a:solidFill>
              <a:effectLst/>
              <a:latin typeface="Times New Roman" pitchFamily="18" charset="0"/>
              <a:ea typeface="+mn-ea"/>
              <a:cs typeface="+mn-cs"/>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8</a:t>
            </a:fld>
            <a:endParaRPr lang="en-US" altLang="zh-CN"/>
          </a:p>
        </p:txBody>
      </p:sp>
    </p:spTree>
    <p:extLst>
      <p:ext uri="{BB962C8B-B14F-4D97-AF65-F5344CB8AC3E}">
        <p14:creationId xmlns:p14="http://schemas.microsoft.com/office/powerpoint/2010/main" val="365348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那么计算机能读懂什么语言呢？</a:t>
            </a:r>
          </a:p>
          <a:p>
            <a:r>
              <a:rPr lang="zh-CN" altLang="zh-CN" sz="1200" kern="1200" dirty="0" smtClean="0">
                <a:solidFill>
                  <a:schemeClr val="tx1"/>
                </a:solidFill>
                <a:effectLst/>
                <a:latin typeface="Times New Roman" pitchFamily="18" charset="0"/>
                <a:ea typeface="+mn-ea"/>
                <a:cs typeface="+mn-cs"/>
              </a:rPr>
              <a:t>计算机只能识别二进制指令，也就是机器语言。</a:t>
            </a:r>
          </a:p>
          <a:p>
            <a:r>
              <a:rPr lang="zh-CN" altLang="zh-CN" sz="1200" kern="1200" dirty="0" smtClean="0">
                <a:solidFill>
                  <a:schemeClr val="tx1"/>
                </a:solidFill>
                <a:effectLst/>
                <a:latin typeface="Times New Roman" pitchFamily="18" charset="0"/>
                <a:ea typeface="+mn-ea"/>
                <a:cs typeface="+mn-cs"/>
              </a:rPr>
              <a:t>机器语言是用一系列</a:t>
            </a:r>
            <a:r>
              <a:rPr lang="en-US" altLang="zh-CN" sz="1200" kern="1200" dirty="0" smtClean="0">
                <a:solidFill>
                  <a:schemeClr val="tx1"/>
                </a:solidFill>
                <a:effectLst/>
                <a:latin typeface="Times New Roman" pitchFamily="18" charset="0"/>
                <a:ea typeface="+mn-ea"/>
                <a:cs typeface="+mn-cs"/>
              </a:rPr>
              <a:t>0</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1</a:t>
            </a:r>
            <a:r>
              <a:rPr lang="zh-CN" altLang="zh-CN" sz="1200" kern="1200" dirty="0" smtClean="0">
                <a:solidFill>
                  <a:schemeClr val="tx1"/>
                </a:solidFill>
                <a:effectLst/>
                <a:latin typeface="Times New Roman" pitchFamily="18" charset="0"/>
                <a:ea typeface="+mn-ea"/>
                <a:cs typeface="+mn-cs"/>
              </a:rPr>
              <a:t>组成的二进制代码，来代表不同的机器指令。</a:t>
            </a:r>
          </a:p>
          <a:p>
            <a:r>
              <a:rPr lang="zh-CN" altLang="zh-CN" sz="1200" kern="1200" dirty="0" smtClean="0">
                <a:solidFill>
                  <a:schemeClr val="tx1"/>
                </a:solidFill>
                <a:effectLst/>
                <a:latin typeface="Times New Roman" pitchFamily="18" charset="0"/>
                <a:ea typeface="+mn-ea"/>
                <a:cs typeface="+mn-cs"/>
              </a:rPr>
              <a:t>这种机器语言适合机器去处理，而不适合我们使用。（点击）</a:t>
            </a:r>
          </a:p>
          <a:p>
            <a:r>
              <a:rPr lang="zh-CN" altLang="zh-CN" sz="1200" kern="1200" dirty="0" smtClean="0">
                <a:solidFill>
                  <a:schemeClr val="tx1"/>
                </a:solidFill>
                <a:effectLst/>
                <a:latin typeface="Times New Roman" pitchFamily="18" charset="0"/>
                <a:ea typeface="+mn-ea"/>
                <a:cs typeface="+mn-cs"/>
              </a:rPr>
              <a:t>这个例子显示了使用机器语言完成</a:t>
            </a:r>
            <a:r>
              <a:rPr lang="en-US" altLang="zh-CN" sz="1200" kern="1200" dirty="0" smtClean="0">
                <a:solidFill>
                  <a:schemeClr val="tx1"/>
                </a:solidFill>
                <a:effectLst/>
                <a:latin typeface="Times New Roman" pitchFamily="18" charset="0"/>
                <a:ea typeface="+mn-ea"/>
                <a:cs typeface="+mn-cs"/>
              </a:rPr>
              <a:t>1+1</a:t>
            </a:r>
            <a:r>
              <a:rPr lang="zh-CN" altLang="zh-CN" sz="1200" kern="1200" dirty="0" smtClean="0">
                <a:solidFill>
                  <a:schemeClr val="tx1"/>
                </a:solidFill>
                <a:effectLst/>
                <a:latin typeface="Times New Roman" pitchFamily="18" charset="0"/>
                <a:ea typeface="+mn-ea"/>
                <a:cs typeface="+mn-cs"/>
              </a:rPr>
              <a:t>这个</a:t>
            </a:r>
            <a:r>
              <a:rPr lang="zh-CN" altLang="en-US" sz="1200" kern="1200" dirty="0" smtClean="0">
                <a:solidFill>
                  <a:schemeClr val="tx1"/>
                </a:solidFill>
                <a:effectLst/>
                <a:latin typeface="Times New Roman" pitchFamily="18" charset="0"/>
                <a:ea typeface="+mn-ea"/>
                <a:cs typeface="+mn-cs"/>
              </a:rPr>
              <a:t>简单的</a:t>
            </a:r>
            <a:r>
              <a:rPr lang="zh-CN" altLang="zh-CN" sz="1200" kern="1200" dirty="0" smtClean="0">
                <a:solidFill>
                  <a:schemeClr val="tx1"/>
                </a:solidFill>
                <a:effectLst/>
                <a:latin typeface="Times New Roman" pitchFamily="18" charset="0"/>
                <a:ea typeface="+mn-ea"/>
                <a:cs typeface="+mn-cs"/>
              </a:rPr>
              <a:t>计算</a:t>
            </a:r>
            <a:r>
              <a:rPr lang="zh-CN" altLang="en-US" sz="1200" kern="1200" dirty="0" smtClean="0">
                <a:solidFill>
                  <a:schemeClr val="tx1"/>
                </a:solidFill>
                <a:effectLst/>
                <a:latin typeface="Times New Roman" pitchFamily="18" charset="0"/>
                <a:ea typeface="+mn-ea"/>
                <a:cs typeface="+mn-cs"/>
              </a:rPr>
              <a:t>功能</a:t>
            </a:r>
            <a:r>
              <a:rPr lang="zh-CN" altLang="zh-CN" sz="1200" kern="1200" dirty="0" smtClean="0">
                <a:solidFill>
                  <a:schemeClr val="tx1"/>
                </a:solidFill>
                <a:effectLst/>
                <a:latin typeface="Times New Roman" pitchFamily="18" charset="0"/>
                <a:ea typeface="+mn-ea"/>
                <a:cs typeface="+mn-cs"/>
              </a:rPr>
              <a:t>，这几</a:t>
            </a:r>
            <a:r>
              <a:rPr lang="zh-CN" altLang="en-US" sz="1200" kern="1200" dirty="0" smtClean="0">
                <a:solidFill>
                  <a:schemeClr val="tx1"/>
                </a:solidFill>
                <a:effectLst/>
                <a:latin typeface="Times New Roman" pitchFamily="18" charset="0"/>
                <a:ea typeface="+mn-ea"/>
                <a:cs typeface="+mn-cs"/>
              </a:rPr>
              <a:t>行</a:t>
            </a:r>
            <a:r>
              <a:rPr lang="zh-CN" altLang="zh-CN" sz="1200" kern="1200" dirty="0" smtClean="0">
                <a:solidFill>
                  <a:schemeClr val="tx1"/>
                </a:solidFill>
                <a:effectLst/>
                <a:latin typeface="Times New Roman" pitchFamily="18" charset="0"/>
                <a:ea typeface="+mn-ea"/>
                <a:cs typeface="+mn-cs"/>
              </a:rPr>
              <a:t>代码对人们来讲犹如天书一样难以理解。（点击）</a:t>
            </a:r>
          </a:p>
          <a:p>
            <a:r>
              <a:rPr lang="zh-CN" altLang="zh-CN" sz="1200" kern="1200" dirty="0" smtClean="0">
                <a:solidFill>
                  <a:schemeClr val="tx1"/>
                </a:solidFill>
                <a:effectLst/>
                <a:latin typeface="Times New Roman" pitchFamily="18" charset="0"/>
                <a:ea typeface="+mn-ea"/>
                <a:cs typeface="+mn-cs"/>
              </a:rPr>
              <a:t>早期的计算机通过纸带打孔识别</a:t>
            </a:r>
            <a:r>
              <a:rPr lang="en-US" altLang="zh-CN" sz="1200" kern="1200" dirty="0" smtClean="0">
                <a:solidFill>
                  <a:schemeClr val="tx1"/>
                </a:solidFill>
                <a:effectLst/>
                <a:latin typeface="Times New Roman" pitchFamily="18" charset="0"/>
                <a:ea typeface="+mn-ea"/>
                <a:cs typeface="+mn-cs"/>
              </a:rPr>
              <a:t>0</a:t>
            </a:r>
            <a:r>
              <a:rPr lang="zh-CN" altLang="zh-CN" sz="1200" kern="1200" dirty="0" smtClean="0">
                <a:solidFill>
                  <a:schemeClr val="tx1"/>
                </a:solidFill>
                <a:effectLst/>
                <a:latin typeface="Times New Roman" pitchFamily="18" charset="0"/>
                <a:ea typeface="+mn-ea"/>
                <a:cs typeface="+mn-cs"/>
              </a:rPr>
              <a:t>，</a:t>
            </a:r>
            <a:r>
              <a:rPr lang="en-US" altLang="zh-CN" sz="1200" kern="1200" dirty="0" smtClean="0">
                <a:solidFill>
                  <a:schemeClr val="tx1"/>
                </a:solidFill>
                <a:effectLst/>
                <a:latin typeface="Times New Roman" pitchFamily="18" charset="0"/>
                <a:ea typeface="+mn-ea"/>
                <a:cs typeface="+mn-cs"/>
              </a:rPr>
              <a:t>1</a:t>
            </a:r>
            <a:r>
              <a:rPr lang="zh-CN" altLang="zh-CN" sz="1200" kern="1200" dirty="0" smtClean="0">
                <a:solidFill>
                  <a:schemeClr val="tx1"/>
                </a:solidFill>
                <a:effectLst/>
                <a:latin typeface="Times New Roman" pitchFamily="18" charset="0"/>
                <a:ea typeface="+mn-ea"/>
                <a:cs typeface="+mn-cs"/>
              </a:rPr>
              <a:t>，完成计算任务。</a:t>
            </a:r>
          </a:p>
          <a:p>
            <a:r>
              <a:rPr lang="zh-CN" altLang="zh-CN" sz="1200" kern="1200" dirty="0" smtClean="0">
                <a:solidFill>
                  <a:schemeClr val="tx1"/>
                </a:solidFill>
                <a:effectLst/>
                <a:latin typeface="Times New Roman" pitchFamily="18" charset="0"/>
                <a:ea typeface="+mn-ea"/>
                <a:cs typeface="+mn-cs"/>
              </a:rPr>
              <a:t>机器语言对于我们编写和调试代码，显然不合理。</a:t>
            </a:r>
            <a:endParaRPr lang="zh-CN" altLang="zh-CN" sz="1200" kern="1200" dirty="0">
              <a:solidFill>
                <a:schemeClr val="tx1"/>
              </a:solidFill>
              <a:effectLst/>
              <a:latin typeface="Times New Roman" pitchFamily="18" charset="0"/>
              <a:ea typeface="+mn-ea"/>
              <a:cs typeface="+mn-cs"/>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9</a:t>
            </a:fld>
            <a:endParaRPr lang="en-US" altLang="zh-CN"/>
          </a:p>
        </p:txBody>
      </p:sp>
    </p:spTree>
    <p:extLst>
      <p:ext uri="{BB962C8B-B14F-4D97-AF65-F5344CB8AC3E}">
        <p14:creationId xmlns:p14="http://schemas.microsoft.com/office/powerpoint/2010/main" val="749966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709613" y="739775"/>
            <a:ext cx="5340350" cy="3698875"/>
          </a:xfrm>
          <a:ln/>
        </p:spPr>
      </p:sp>
      <p:sp>
        <p:nvSpPr>
          <p:cNvPr id="37891" name="Rectangle 3"/>
          <p:cNvSpPr>
            <a:spLocks noGrp="1" noChangeArrowheads="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所以我们希望有一种语言，成为人和机器沟通的桥梁？</a:t>
            </a:r>
            <a:endParaRPr lang="en-US" altLang="zh-CN" dirty="0" smtClean="0"/>
          </a:p>
          <a:p>
            <a:r>
              <a:rPr lang="zh-CN" altLang="en-US" dirty="0" smtClean="0"/>
              <a:t>人们首先想到的是使用助记符代表机器指令的操作码。</a:t>
            </a:r>
            <a:endParaRPr lang="en-US" altLang="zh-CN" dirty="0" smtClean="0"/>
          </a:p>
          <a:p>
            <a:r>
              <a:rPr lang="zh-CN" altLang="en-US" dirty="0" smtClean="0"/>
              <a:t>可是计算机读不懂助记符，就需要一个汇编器来翻译助记符，</a:t>
            </a:r>
            <a:r>
              <a:rPr lang="zh-CN" altLang="en-US" sz="1200" dirty="0" smtClean="0">
                <a:latin typeface="Arial" panose="020B0604020202020204" pitchFamily="34" charset="0"/>
                <a:ea typeface="黑体" panose="02010609060101010101" pitchFamily="49" charset="-122"/>
              </a:rPr>
              <a:t>将这些符号翻译成机器可识别、可执行的二进制指令，这个过程称为汇编过程。</a:t>
            </a:r>
            <a:endParaRPr lang="en-US" altLang="zh-CN" sz="1200" dirty="0" smtClean="0">
              <a:latin typeface="Arial" panose="020B0604020202020204" pitchFamily="34" charset="0"/>
              <a:ea typeface="黑体" panose="02010609060101010101" pitchFamily="49" charset="-122"/>
            </a:endParaRPr>
          </a:p>
          <a:p>
            <a:r>
              <a:rPr lang="zh-CN" altLang="en-US" sz="1200" dirty="0" smtClean="0">
                <a:latin typeface="Arial" panose="020B0604020202020204" pitchFamily="34" charset="0"/>
                <a:ea typeface="黑体" panose="02010609060101010101" pitchFamily="49" charset="-122"/>
              </a:rPr>
              <a:t>这种使用助记符的语言称为汇编语言，汇编语言是低级语言，与硬件打交道，对硬件依赖性强，这导致的一个问题是，对于不同结构的机器，要使用不同的汇编语句，导致编写出来的程序只能适用于当前机器。</a:t>
            </a:r>
            <a:endParaRPr lang="zh-CN" alt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709613" y="739775"/>
            <a:ext cx="5340350" cy="3698875"/>
          </a:xfrm>
          <a:ln/>
        </p:spPr>
      </p:sp>
      <p:sp>
        <p:nvSpPr>
          <p:cNvPr id="39939" name="Rectangle 3"/>
          <p:cNvSpPr>
            <a:spLocks noGrp="1" noChangeArrowheads="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smtClean="0">
                <a:solidFill>
                  <a:schemeClr val="tx1"/>
                </a:solidFill>
                <a:effectLst/>
                <a:latin typeface="Times New Roman" pitchFamily="18" charset="0"/>
                <a:ea typeface="+mn-ea"/>
                <a:cs typeface="+mn-cs"/>
              </a:rPr>
              <a:t>那么如何实现人和计算机之间更有效的交流呢？</a:t>
            </a:r>
          </a:p>
          <a:p>
            <a:r>
              <a:rPr lang="zh-CN" altLang="zh-CN" sz="1200" kern="1200" dirty="0" smtClean="0">
                <a:solidFill>
                  <a:schemeClr val="tx1"/>
                </a:solidFill>
                <a:effectLst/>
                <a:latin typeface="Times New Roman" pitchFamily="18" charset="0"/>
                <a:ea typeface="+mn-ea"/>
                <a:cs typeface="+mn-cs"/>
              </a:rPr>
              <a:t>刚刚的汇编语言比使用机器代码好了一点，但是效率还不够高。</a:t>
            </a:r>
          </a:p>
          <a:p>
            <a:r>
              <a:rPr lang="zh-CN" altLang="zh-CN" sz="1200" kern="1200" dirty="0" smtClean="0">
                <a:solidFill>
                  <a:schemeClr val="tx1"/>
                </a:solidFill>
                <a:effectLst/>
                <a:latin typeface="Times New Roman" pitchFamily="18" charset="0"/>
                <a:ea typeface="+mn-ea"/>
                <a:cs typeface="+mn-cs"/>
              </a:rPr>
              <a:t>由此设计出更贴近人类自然语言和数学语言的计算机语言，即高级语言。</a:t>
            </a:r>
          </a:p>
          <a:p>
            <a:r>
              <a:rPr lang="zh-CN" altLang="zh-CN" sz="1200" kern="1200" dirty="0" smtClean="0">
                <a:solidFill>
                  <a:schemeClr val="tx1"/>
                </a:solidFill>
                <a:effectLst/>
                <a:latin typeface="Times New Roman" pitchFamily="18" charset="0"/>
                <a:ea typeface="+mn-ea"/>
                <a:cs typeface="+mn-cs"/>
              </a:rPr>
              <a:t>高级语言高级在哪里？</a:t>
            </a:r>
          </a:p>
          <a:p>
            <a:pPr lvl="1"/>
            <a:r>
              <a:rPr lang="zh-CN" altLang="zh-CN" sz="1200" kern="1200" dirty="0" smtClean="0">
                <a:solidFill>
                  <a:schemeClr val="tx1"/>
                </a:solidFill>
                <a:effectLst/>
                <a:latin typeface="Times New Roman" pitchFamily="18" charset="0"/>
                <a:ea typeface="+mn-ea"/>
                <a:cs typeface="+mn-cs"/>
              </a:rPr>
              <a:t>可以在一个更高的级别上进行编程</a:t>
            </a:r>
          </a:p>
          <a:p>
            <a:pPr lvl="1"/>
            <a:r>
              <a:rPr lang="zh-CN" altLang="zh-CN" sz="1200" kern="1200" dirty="0" smtClean="0">
                <a:solidFill>
                  <a:schemeClr val="tx1"/>
                </a:solidFill>
                <a:effectLst/>
                <a:latin typeface="Times New Roman" pitchFamily="18" charset="0"/>
                <a:ea typeface="+mn-ea"/>
                <a:cs typeface="+mn-cs"/>
              </a:rPr>
              <a:t>不像低级语言那样依赖于硬件</a:t>
            </a:r>
          </a:p>
          <a:p>
            <a:pPr lvl="1"/>
            <a:r>
              <a:rPr lang="zh-CN" altLang="en-US" sz="1200" kern="1200" dirty="0" smtClean="0">
                <a:solidFill>
                  <a:schemeClr val="tx1"/>
                </a:solidFill>
                <a:effectLst/>
                <a:latin typeface="Times New Roman" pitchFamily="18" charset="0"/>
                <a:ea typeface="+mn-ea"/>
                <a:cs typeface="+mn-cs"/>
              </a:rPr>
              <a:t>使我们</a:t>
            </a:r>
            <a:r>
              <a:rPr lang="zh-CN" altLang="zh-CN" sz="1200" kern="1200" dirty="0" smtClean="0">
                <a:solidFill>
                  <a:schemeClr val="tx1"/>
                </a:solidFill>
                <a:effectLst/>
                <a:latin typeface="Times New Roman" pitchFamily="18" charset="0"/>
                <a:ea typeface="+mn-ea"/>
                <a:cs typeface="+mn-cs"/>
              </a:rPr>
              <a:t>更远离机器语言</a:t>
            </a:r>
          </a:p>
          <a:p>
            <a:pPr lvl="1"/>
            <a:r>
              <a:rPr lang="zh-CN" altLang="en-US" sz="1200" kern="1200" dirty="0" smtClean="0">
                <a:solidFill>
                  <a:schemeClr val="tx1"/>
                </a:solidFill>
                <a:effectLst/>
                <a:latin typeface="Times New Roman" pitchFamily="18" charset="0"/>
                <a:ea typeface="+mn-ea"/>
                <a:cs typeface="+mn-cs"/>
              </a:rPr>
              <a:t>对我们来说</a:t>
            </a:r>
            <a:r>
              <a:rPr lang="zh-CN" altLang="zh-CN" sz="1200" kern="1200" dirty="0" smtClean="0">
                <a:solidFill>
                  <a:schemeClr val="tx1"/>
                </a:solidFill>
                <a:effectLst/>
                <a:latin typeface="Times New Roman" pitchFamily="18" charset="0"/>
                <a:ea typeface="+mn-ea"/>
                <a:cs typeface="+mn-cs"/>
              </a:rPr>
              <a:t>更易学</a:t>
            </a:r>
            <a:r>
              <a:rPr lang="zh-CN" altLang="en-US"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易用，</a:t>
            </a:r>
            <a:r>
              <a:rPr lang="zh-CN" altLang="en-US" sz="1200" kern="1200" dirty="0" smtClean="0">
                <a:solidFill>
                  <a:schemeClr val="tx1"/>
                </a:solidFill>
                <a:effectLst/>
                <a:latin typeface="Times New Roman" pitchFamily="18" charset="0"/>
                <a:ea typeface="+mn-ea"/>
                <a:cs typeface="+mn-cs"/>
              </a:rPr>
              <a:t>且写出的程序</a:t>
            </a:r>
            <a:r>
              <a:rPr lang="zh-CN" altLang="zh-CN" sz="1200" kern="1200" dirty="0" smtClean="0">
                <a:solidFill>
                  <a:schemeClr val="tx1"/>
                </a:solidFill>
                <a:effectLst/>
                <a:latin typeface="Times New Roman" pitchFamily="18" charset="0"/>
                <a:ea typeface="+mn-ea"/>
                <a:cs typeface="+mn-cs"/>
              </a:rPr>
              <a:t>具有可移植性</a:t>
            </a:r>
          </a:p>
          <a:p>
            <a:r>
              <a:rPr lang="zh-CN" altLang="zh-CN" sz="1200" kern="1200" dirty="0" smtClean="0">
                <a:solidFill>
                  <a:schemeClr val="tx1"/>
                </a:solidFill>
                <a:effectLst/>
                <a:latin typeface="Times New Roman" pitchFamily="18" charset="0"/>
                <a:ea typeface="+mn-ea"/>
                <a:cs typeface="+mn-cs"/>
              </a:rPr>
              <a:t>（点击）刚刚说到汇编语言需要一个汇编器来将助记符转换成机器码，对于高级语言，同样，也需要一个编译器，来将程序翻译成计算机能够识别的二进制指令。</a:t>
            </a:r>
            <a:endParaRPr lang="zh-CN" altLang="zh-CN" sz="1200" kern="1200" dirty="0">
              <a:solidFill>
                <a:schemeClr val="tx1"/>
              </a:solidFill>
              <a:effectLst/>
              <a:latin typeface="Times New Roman" pitchFamily="18" charset="0"/>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编译型语言</a:t>
            </a:r>
            <a:r>
              <a:rPr lang="zh-CN" altLang="en-US" sz="2000" dirty="0" smtClean="0">
                <a:latin typeface="Arial" panose="020B0604020202020204" pitchFamily="34" charset="0"/>
                <a:cs typeface="Arial" panose="020B0604020202020204" pitchFamily="34" charset="0"/>
              </a:rPr>
              <a:t>通过编译器（</a:t>
            </a:r>
            <a:r>
              <a:rPr lang="zh-CN" altLang="zh-CN" sz="2000" dirty="0" smtClean="0">
                <a:latin typeface="Arial" panose="020B0604020202020204" pitchFamily="34" charset="0"/>
                <a:cs typeface="Arial" panose="020B0604020202020204" pitchFamily="34" charset="0"/>
              </a:rPr>
              <a:t>Compiler</a:t>
            </a:r>
            <a:r>
              <a:rPr lang="zh-CN" altLang="en-US" sz="2000" dirty="0" smtClean="0">
                <a:latin typeface="Arial" panose="020B0604020202020204" pitchFamily="34" charset="0"/>
                <a:cs typeface="Arial" panose="020B0604020202020204" pitchFamily="34" charset="0"/>
              </a:rPr>
              <a:t>）把源程序全部翻译成逻辑上与之等价的机器语言表示的目标代码（</a:t>
            </a:r>
            <a:r>
              <a:rPr lang="en-US" altLang="zh-CN" sz="2000" dirty="0" smtClean="0">
                <a:latin typeface="Arial" panose="020B0604020202020204" pitchFamily="34" charset="0"/>
                <a:cs typeface="Arial" panose="020B0604020202020204" pitchFamily="34" charset="0"/>
              </a:rPr>
              <a:t>Object Code</a:t>
            </a:r>
            <a:r>
              <a:rPr lang="zh-CN" altLang="en-US" sz="2000" dirty="0" smtClean="0">
                <a:latin typeface="Arial" panose="020B0604020202020204" pitchFamily="34" charset="0"/>
                <a:cs typeface="Arial" panose="020B0604020202020204" pitchFamily="34" charset="0"/>
              </a:rPr>
              <a:t>），才能被计算机识别和执行；类似于翻译一篇英语文献，先翻译完了，再开始阅读。</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latin typeface="Times New Roman" panose="02020603050405020304" pitchFamily="18" charset="0"/>
                <a:cs typeface="Times New Roman" panose="02020603050405020304" pitchFamily="18" charset="0"/>
              </a:rPr>
              <a:t>解释型语言通过</a:t>
            </a:r>
            <a:r>
              <a:rPr lang="zh-CN" altLang="en-US" sz="1200" dirty="0" smtClean="0"/>
              <a:t>解释程序</a:t>
            </a:r>
            <a:r>
              <a:rPr lang="zh-CN" altLang="en-US" sz="1200" dirty="0" smtClean="0">
                <a:latin typeface="Arial" panose="020B0604020202020204" pitchFamily="34" charset="0"/>
              </a:rPr>
              <a:t>（</a:t>
            </a:r>
            <a:r>
              <a:rPr lang="en-US" altLang="zh-CN" sz="1200" dirty="0" smtClean="0">
                <a:latin typeface="Arial" panose="020B0604020202020204" pitchFamily="34" charset="0"/>
              </a:rPr>
              <a:t>Interpreter</a:t>
            </a:r>
            <a:r>
              <a:rPr lang="zh-CN" altLang="en-US" sz="1200" dirty="0" smtClean="0">
                <a:latin typeface="Arial" panose="020B0604020202020204" pitchFamily="34" charset="0"/>
              </a:rPr>
              <a:t>）</a:t>
            </a:r>
            <a:r>
              <a:rPr lang="zh-CN" altLang="en-US" sz="1200" dirty="0" smtClean="0"/>
              <a:t>边扫描边解释，</a:t>
            </a:r>
            <a:r>
              <a:rPr lang="zh-CN" altLang="zh-CN" sz="1200" dirty="0" smtClean="0"/>
              <a:t>语句</a:t>
            </a:r>
            <a:r>
              <a:rPr lang="zh-CN" altLang="en-US" sz="1200" dirty="0" smtClean="0"/>
              <a:t>被逐条</a:t>
            </a:r>
            <a:r>
              <a:rPr lang="zh-CN" altLang="zh-CN" sz="1200" dirty="0" smtClean="0"/>
              <a:t>地解释成可执行的机器指令</a:t>
            </a:r>
            <a:r>
              <a:rPr lang="zh-CN" altLang="en-US" sz="1200" dirty="0" smtClean="0"/>
              <a:t>，不产生目标程序；这个类似于同声传译。</a:t>
            </a:r>
            <a:endParaRPr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smtClean="0">
              <a:latin typeface="Times New Roman" panose="02020603050405020304" pitchFamily="18" charset="0"/>
              <a:cs typeface="Times New Roman" panose="02020603050405020304" pitchFamily="18" charset="0"/>
            </a:endParaRPr>
          </a:p>
          <a:p>
            <a:endParaRPr lang="zh-CN" altLang="en-US" dirty="0" smtClean="0"/>
          </a:p>
        </p:txBody>
      </p:sp>
      <p:sp>
        <p:nvSpPr>
          <p:cNvPr id="41988" name="灯片编号占位符 3"/>
          <p:cNvSpPr txBox="1">
            <a:spLocks noGrp="1"/>
          </p:cNvSpPr>
          <p:nvPr/>
        </p:nvSpPr>
        <p:spPr bwMode="auto">
          <a:xfrm>
            <a:off x="3808413" y="93710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nchor="b"/>
          <a:lstStyle>
            <a:lvl1pPr>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742950" indent="-28575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lgn="r" eaLnBrk="1" hangingPunct="1">
              <a:lnSpc>
                <a:spcPct val="100000"/>
              </a:lnSpc>
              <a:spcBef>
                <a:spcPct val="0"/>
              </a:spcBef>
              <a:spcAft>
                <a:spcPct val="0"/>
              </a:spcAft>
              <a:buClrTx/>
              <a:buSzTx/>
              <a:buFontTx/>
              <a:buNone/>
            </a:pPr>
            <a:fld id="{B17C9FB2-8B77-4F70-86B5-C432437B0A16}" type="slidenum">
              <a:rPr lang="zh-CN" altLang="en-US" sz="1200">
                <a:latin typeface="Times New Roman" panose="02020603050405020304" pitchFamily="18" charset="0"/>
              </a:rPr>
              <a:pPr algn="r" eaLnBrk="1" hangingPunct="1">
                <a:lnSpc>
                  <a:spcPct val="100000"/>
                </a:lnSpc>
                <a:spcBef>
                  <a:spcPct val="0"/>
                </a:spcBef>
                <a:spcAft>
                  <a:spcPct val="0"/>
                </a:spcAft>
                <a:buClrTx/>
                <a:buSzTx/>
                <a:buFontTx/>
                <a:buNone/>
              </a:pPr>
              <a:t>12</a:t>
            </a:fld>
            <a:endParaRPr lang="en-US" altLang="zh-CN" sz="12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709613" y="739775"/>
            <a:ext cx="5340350" cy="3698875"/>
          </a:xfrm>
          <a:ln/>
        </p:spPr>
      </p:sp>
      <p:sp>
        <p:nvSpPr>
          <p:cNvPr id="44035" name="Rectangle 3"/>
          <p:cNvSpPr>
            <a:spLocks noGrp="1" noChangeArrowheads="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smtClean="0">
                <a:solidFill>
                  <a:schemeClr val="tx1"/>
                </a:solidFill>
                <a:effectLst/>
                <a:latin typeface="Times New Roman" pitchFamily="18" charset="0"/>
                <a:ea typeface="+mn-ea"/>
                <a:cs typeface="+mn-cs"/>
              </a:rPr>
              <a:t>高级语言有什么特点呢？</a:t>
            </a:r>
            <a:endParaRPr lang="en-US" altLang="zh-CN" sz="1200" kern="1200" dirty="0" smtClean="0">
              <a:solidFill>
                <a:schemeClr val="tx1"/>
              </a:solidFill>
              <a:effectLst/>
              <a:latin typeface="Times New Roman" pitchFamily="18" charset="0"/>
              <a:ea typeface="+mn-ea"/>
              <a:cs typeface="+mn-cs"/>
            </a:endParaRPr>
          </a:p>
          <a:p>
            <a:r>
              <a:rPr lang="zh-CN" altLang="zh-CN" sz="1200" kern="1200" dirty="0" smtClean="0">
                <a:solidFill>
                  <a:schemeClr val="tx1"/>
                </a:solidFill>
                <a:effectLst/>
                <a:latin typeface="Times New Roman" pitchFamily="18" charset="0"/>
                <a:ea typeface="+mn-ea"/>
                <a:cs typeface="+mn-cs"/>
              </a:rPr>
              <a:t>这两个典型的例子很直观，</a:t>
            </a:r>
            <a:r>
              <a:rPr lang="en-US" altLang="zh-CN" sz="1200" kern="1200" dirty="0" smtClean="0">
                <a:solidFill>
                  <a:schemeClr val="tx1"/>
                </a:solidFill>
                <a:effectLst/>
                <a:latin typeface="Times New Roman" pitchFamily="18" charset="0"/>
                <a:ea typeface="+mn-ea"/>
                <a:cs typeface="+mn-cs"/>
              </a:rPr>
              <a:t>print</a:t>
            </a:r>
            <a:r>
              <a:rPr lang="zh-CN" altLang="zh-CN" sz="1200" kern="1200" dirty="0" smtClean="0">
                <a:solidFill>
                  <a:schemeClr val="tx1"/>
                </a:solidFill>
                <a:effectLst/>
                <a:latin typeface="Times New Roman" pitchFamily="18" charset="0"/>
                <a:ea typeface="+mn-ea"/>
                <a:cs typeface="+mn-cs"/>
              </a:rPr>
              <a:t>，即打印出</a:t>
            </a:r>
            <a:r>
              <a:rPr lang="en-US" altLang="zh-CN" sz="1200" kern="1200" dirty="0" smtClean="0">
                <a:solidFill>
                  <a:schemeClr val="tx1"/>
                </a:solidFill>
                <a:effectLst/>
                <a:latin typeface="Times New Roman" pitchFamily="18" charset="0"/>
                <a:ea typeface="+mn-ea"/>
                <a:cs typeface="+mn-cs"/>
              </a:rPr>
              <a:t>1+1</a:t>
            </a:r>
            <a:r>
              <a:rPr lang="zh-CN" altLang="zh-CN" sz="1200" kern="1200" dirty="0" smtClean="0">
                <a:solidFill>
                  <a:schemeClr val="tx1"/>
                </a:solidFill>
                <a:effectLst/>
                <a:latin typeface="Times New Roman" pitchFamily="18" charset="0"/>
                <a:ea typeface="+mn-ea"/>
                <a:cs typeface="+mn-cs"/>
              </a:rPr>
              <a:t>的结果，</a:t>
            </a:r>
          </a:p>
          <a:p>
            <a:r>
              <a:rPr lang="zh-CN" altLang="zh-CN" sz="1200" kern="1200" dirty="0" smtClean="0">
                <a:solidFill>
                  <a:schemeClr val="tx1"/>
                </a:solidFill>
                <a:effectLst/>
                <a:latin typeface="Times New Roman" pitchFamily="18" charset="0"/>
                <a:ea typeface="+mn-ea"/>
                <a:cs typeface="+mn-cs"/>
              </a:rPr>
              <a:t>这更接近人类的自然语言，既非英语，也非机器语言，但更像英语</a:t>
            </a:r>
          </a:p>
          <a:p>
            <a:r>
              <a:rPr lang="zh-CN" altLang="zh-CN" sz="1200" kern="1200" dirty="0" smtClean="0">
                <a:solidFill>
                  <a:schemeClr val="tx1"/>
                </a:solidFill>
                <a:effectLst/>
                <a:latin typeface="Times New Roman" pitchFamily="18" charset="0"/>
                <a:ea typeface="+mn-ea"/>
                <a:cs typeface="+mn-cs"/>
              </a:rPr>
              <a:t>高级语言程序必须通过编译器或解释器翻译成机器语言形式的目标代码，才能被计算机识别和执行</a:t>
            </a:r>
          </a:p>
          <a:p>
            <a:r>
              <a:rPr lang="zh-CN" altLang="zh-CN" sz="1200" kern="1200" dirty="0" smtClean="0">
                <a:solidFill>
                  <a:schemeClr val="tx1"/>
                </a:solidFill>
                <a:effectLst/>
                <a:latin typeface="Times New Roman" pitchFamily="18" charset="0"/>
                <a:ea typeface="+mn-ea"/>
                <a:cs typeface="+mn-cs"/>
              </a:rPr>
              <a:t>虽然增加了这一步中间过程，但是对于</a:t>
            </a:r>
            <a:r>
              <a:rPr lang="zh-CN" altLang="en-US" sz="1200" kern="1200" dirty="0" smtClean="0">
                <a:solidFill>
                  <a:schemeClr val="tx1"/>
                </a:solidFill>
                <a:effectLst/>
                <a:latin typeface="Times New Roman" pitchFamily="18" charset="0"/>
                <a:ea typeface="+mn-ea"/>
                <a:cs typeface="+mn-cs"/>
              </a:rPr>
              <a:t>我们</a:t>
            </a:r>
            <a:r>
              <a:rPr lang="zh-CN" altLang="zh-CN" sz="1200" kern="1200" dirty="0" smtClean="0">
                <a:solidFill>
                  <a:schemeClr val="tx1"/>
                </a:solidFill>
                <a:effectLst/>
                <a:latin typeface="Times New Roman" pitchFamily="18" charset="0"/>
                <a:ea typeface="+mn-ea"/>
                <a:cs typeface="+mn-cs"/>
              </a:rPr>
              <a:t>来说，易学、易用、易读、易懂、强大、可移植。</a:t>
            </a:r>
            <a:endParaRPr lang="zh-CN" altLang="zh-CN" sz="1200" kern="1200" dirty="0">
              <a:solidFill>
                <a:schemeClr val="tx1"/>
              </a:solidFill>
              <a:effectLst/>
              <a:latin typeface="Times New Roman" pitchFamily="18"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由这张图可以看出，第一个高级语言是</a:t>
            </a:r>
            <a:r>
              <a:rPr lang="en-US" altLang="zh-CN" dirty="0" smtClean="0"/>
              <a:t>FORTRAN</a:t>
            </a:r>
            <a:r>
              <a:rPr lang="zh-CN" altLang="en-US" dirty="0" smtClean="0"/>
              <a:t>语言，在</a:t>
            </a:r>
            <a:r>
              <a:rPr lang="en-US" altLang="zh-CN" dirty="0" smtClean="0"/>
              <a:t>1954</a:t>
            </a:r>
            <a:r>
              <a:rPr lang="zh-CN" altLang="en-US" dirty="0" smtClean="0"/>
              <a:t>年由</a:t>
            </a:r>
            <a:r>
              <a:rPr lang="zh-CN" altLang="en-US" sz="1200" dirty="0" smtClean="0">
                <a:ea typeface="黑体" pitchFamily="49" charset="-122"/>
                <a:cs typeface="Times New Roman" pitchFamily="18" charset="0"/>
              </a:rPr>
              <a:t>约翰</a:t>
            </a:r>
            <a:r>
              <a:rPr lang="en-US" altLang="zh-CN" sz="1200" dirty="0" smtClean="0">
                <a:ea typeface="黑体" pitchFamily="49" charset="-122"/>
                <a:cs typeface="Times New Roman" pitchFamily="18" charset="0"/>
              </a:rPr>
              <a:t>.</a:t>
            </a:r>
            <a:r>
              <a:rPr lang="zh-CN" altLang="en-US" sz="1200" dirty="0" smtClean="0">
                <a:ea typeface="黑体" pitchFamily="49" charset="-122"/>
                <a:cs typeface="Times New Roman" pitchFamily="18" charset="0"/>
              </a:rPr>
              <a:t>巴克斯发明。</a:t>
            </a:r>
            <a:endParaRPr lang="en-US" altLang="zh-CN" sz="1200" dirty="0" smtClean="0">
              <a:ea typeface="黑体" pitchFamily="49" charset="-122"/>
              <a:cs typeface="Times New Roman" pitchFamily="18" charset="0"/>
            </a:endParaRPr>
          </a:p>
          <a:p>
            <a:r>
              <a:rPr lang="zh-CN" altLang="en-US" sz="1200" dirty="0" smtClean="0">
                <a:ea typeface="黑体" pitchFamily="49" charset="-122"/>
                <a:cs typeface="Times New Roman" pitchFamily="18" charset="0"/>
              </a:rPr>
              <a:t>到目前为止，高级语言的发展经历了初露锋芒、百花齐放、开宗立派、内外兼修和互联网时代几个阶段。</a:t>
            </a:r>
            <a:endParaRPr lang="en-US" altLang="zh-CN" sz="1200" dirty="0" smtClean="0">
              <a:ea typeface="黑体" pitchFamily="49" charset="-122"/>
              <a:cs typeface="Times New Roman" pitchFamily="18" charset="0"/>
            </a:endParaRPr>
          </a:p>
          <a:p>
            <a:r>
              <a:rPr lang="zh-CN" altLang="en-US" sz="1200" dirty="0" smtClean="0">
                <a:ea typeface="+mn-ea"/>
                <a:cs typeface="+mn-cs"/>
              </a:rPr>
              <a:t>据不完全统计，已经有超过</a:t>
            </a:r>
            <a:r>
              <a:rPr lang="en-US" altLang="zh-CN" sz="1200" dirty="0" smtClean="0">
                <a:ea typeface="+mn-ea"/>
                <a:cs typeface="+mn-cs"/>
              </a:rPr>
              <a:t>2000</a:t>
            </a:r>
            <a:r>
              <a:rPr lang="zh-CN" altLang="en-US" sz="1200" dirty="0" smtClean="0">
                <a:ea typeface="+mn-ea"/>
                <a:cs typeface="+mn-cs"/>
              </a:rPr>
              <a:t>种高级语言。那这么多种高级语言，都流行起来了吗？</a:t>
            </a:r>
            <a:endParaRPr lang="en-US" altLang="zh-CN" sz="1200" dirty="0" smtClean="0">
              <a:ea typeface="+mn-ea"/>
              <a:cs typeface="+mn-cs"/>
            </a:endParaRPr>
          </a:p>
          <a:p>
            <a:r>
              <a:rPr lang="zh-CN" altLang="en-US" sz="1200" dirty="0" smtClean="0">
                <a:ea typeface="+mn-ea"/>
                <a:cs typeface="+mn-cs"/>
              </a:rPr>
              <a:t>没有，最长寿、影响最大的就是我们的</a:t>
            </a:r>
            <a:r>
              <a:rPr lang="en-US" altLang="zh-CN" sz="1200" dirty="0" smtClean="0">
                <a:ea typeface="+mn-ea"/>
                <a:cs typeface="+mn-cs"/>
              </a:rPr>
              <a:t>C</a:t>
            </a:r>
            <a:r>
              <a:rPr lang="zh-CN" altLang="en-US" sz="1200" dirty="0" smtClean="0">
                <a:ea typeface="+mn-ea"/>
                <a:cs typeface="+mn-cs"/>
              </a:rPr>
              <a:t>语言。</a:t>
            </a:r>
            <a:endParaRPr lang="en-US" altLang="zh-CN" sz="1200" dirty="0" smtClean="0">
              <a:ea typeface="+mn-ea"/>
              <a:cs typeface="+mn-cs"/>
            </a:endParaRPr>
          </a:p>
          <a:p>
            <a:r>
              <a:rPr lang="zh-CN" altLang="en-US" sz="1200" dirty="0" smtClean="0">
                <a:ea typeface="+mn-ea"/>
                <a:cs typeface="+mn-cs"/>
              </a:rPr>
              <a:t>许多高级语言，如</a:t>
            </a:r>
            <a:r>
              <a:rPr lang="en-US" altLang="zh-CN" sz="1200" dirty="0" smtClean="0">
                <a:ea typeface="+mn-ea"/>
                <a:cs typeface="+mn-cs"/>
              </a:rPr>
              <a:t>C++</a:t>
            </a:r>
            <a:r>
              <a:rPr lang="zh-CN" altLang="en-US" sz="1200" dirty="0" smtClean="0">
                <a:ea typeface="+mn-ea"/>
                <a:cs typeface="+mn-cs"/>
              </a:rPr>
              <a:t>，</a:t>
            </a:r>
            <a:r>
              <a:rPr lang="en-US" altLang="zh-CN" sz="1200" dirty="0" smtClean="0">
                <a:ea typeface="+mn-ea"/>
                <a:cs typeface="+mn-cs"/>
              </a:rPr>
              <a:t>JAVA</a:t>
            </a:r>
            <a:r>
              <a:rPr lang="zh-CN" altLang="en-US" sz="1200" dirty="0" smtClean="0">
                <a:ea typeface="+mn-ea"/>
                <a:cs typeface="+mn-cs"/>
              </a:rPr>
              <a:t>等流行的高级语言都由</a:t>
            </a:r>
            <a:r>
              <a:rPr lang="en-US" altLang="zh-CN" sz="1200" dirty="0" smtClean="0">
                <a:ea typeface="+mn-ea"/>
                <a:cs typeface="+mn-cs"/>
              </a:rPr>
              <a:t>C</a:t>
            </a:r>
            <a:r>
              <a:rPr lang="zh-CN" altLang="en-US" sz="1200" dirty="0" smtClean="0">
                <a:ea typeface="+mn-ea"/>
                <a:cs typeface="+mn-cs"/>
              </a:rPr>
              <a:t>语言发展而来。 </a:t>
            </a:r>
            <a:endParaRPr lang="en-US" altLang="zh-CN" sz="1200" dirty="0" smtClean="0">
              <a:ea typeface="+mn-ea"/>
              <a:cs typeface="+mn-cs"/>
            </a:endParaRPr>
          </a:p>
          <a:p>
            <a:r>
              <a:rPr lang="zh-CN" altLang="en-US" sz="1200" dirty="0" smtClean="0">
                <a:ea typeface="+mn-ea"/>
                <a:cs typeface="+mn-cs"/>
              </a:rPr>
              <a:t>所以</a:t>
            </a:r>
            <a:r>
              <a:rPr lang="en-US" altLang="zh-CN" sz="1200" dirty="0" smtClean="0">
                <a:ea typeface="+mn-ea"/>
                <a:cs typeface="+mn-cs"/>
              </a:rPr>
              <a:t>C</a:t>
            </a:r>
            <a:r>
              <a:rPr lang="zh-CN" altLang="en-US" sz="1200" dirty="0" smtClean="0">
                <a:ea typeface="+mn-ea"/>
                <a:cs typeface="+mn-cs"/>
              </a:rPr>
              <a:t>语言也是学习其他语言的一个基础。</a:t>
            </a:r>
            <a:endParaRPr lang="en-US" altLang="zh-CN" sz="1200" dirty="0" smtClean="0">
              <a:ea typeface="黑体" pitchFamily="49" charset="-122"/>
              <a:cs typeface="Times New Roman" pitchFamily="18" charset="0"/>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14</a:t>
            </a:fld>
            <a:endParaRPr lang="en-US" altLang="zh-CN"/>
          </a:p>
        </p:txBody>
      </p:sp>
    </p:spTree>
    <p:extLst>
      <p:ext uri="{BB962C8B-B14F-4D97-AF65-F5344CB8AC3E}">
        <p14:creationId xmlns:p14="http://schemas.microsoft.com/office/powerpoint/2010/main" val="103568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国外的一个网站统计了编程语言受欢迎程度的排行磅。</a:t>
            </a:r>
            <a:endParaRPr lang="en-US" altLang="zh-CN" dirty="0" smtClean="0"/>
          </a:p>
          <a:p>
            <a:r>
              <a:rPr lang="zh-CN" altLang="en-US" dirty="0" smtClean="0"/>
              <a:t>这个蓝色的线表示的是</a:t>
            </a:r>
            <a:r>
              <a:rPr lang="en-US" altLang="zh-CN" dirty="0" smtClean="0"/>
              <a:t>C</a:t>
            </a:r>
            <a:r>
              <a:rPr lang="zh-CN" altLang="en-US" dirty="0" smtClean="0"/>
              <a:t>语言，黑色的线表示的是</a:t>
            </a:r>
            <a:r>
              <a:rPr lang="en-US" altLang="zh-CN" dirty="0" smtClean="0"/>
              <a:t>JAVA</a:t>
            </a:r>
            <a:r>
              <a:rPr lang="zh-CN" altLang="en-US" dirty="0" smtClean="0"/>
              <a:t>语言。</a:t>
            </a:r>
            <a:endParaRPr lang="en-US" altLang="zh-CN" dirty="0" smtClean="0"/>
          </a:p>
          <a:p>
            <a:r>
              <a:rPr lang="zh-CN" altLang="en-US" dirty="0" smtClean="0"/>
              <a:t>近几年人工智能的兴起，导致</a:t>
            </a:r>
            <a:r>
              <a:rPr lang="en-US" altLang="zh-CN" dirty="0" smtClean="0"/>
              <a:t>python</a:t>
            </a:r>
            <a:r>
              <a:rPr lang="zh-CN" altLang="en-US" dirty="0" smtClean="0"/>
              <a:t>语言，开始变得受欢迎起来，从这个绿色的折线可以看出，在</a:t>
            </a:r>
            <a:r>
              <a:rPr lang="en-US" altLang="zh-CN" dirty="0" smtClean="0"/>
              <a:t>2018</a:t>
            </a:r>
            <a:r>
              <a:rPr lang="zh-CN" altLang="en-US" dirty="0" smtClean="0"/>
              <a:t>年左右开始快速增长。</a:t>
            </a:r>
            <a:endParaRPr lang="en-US" altLang="zh-CN" dirty="0" smtClean="0"/>
          </a:p>
          <a:p>
            <a:r>
              <a:rPr lang="zh-CN" altLang="en-US" dirty="0" smtClean="0"/>
              <a:t>总体来看，</a:t>
            </a:r>
            <a:r>
              <a:rPr lang="en-US" altLang="zh-CN" dirty="0" smtClean="0"/>
              <a:t>JAVA</a:t>
            </a:r>
            <a:r>
              <a:rPr lang="zh-CN" altLang="en-US" dirty="0" smtClean="0"/>
              <a:t>语言有下降的趋势，而</a:t>
            </a:r>
            <a:r>
              <a:rPr lang="en-US" altLang="zh-CN" dirty="0" smtClean="0"/>
              <a:t>C</a:t>
            </a:r>
            <a:r>
              <a:rPr lang="zh-CN" altLang="en-US" dirty="0" smtClean="0"/>
              <a:t>语言一直趋于稳定。</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15</a:t>
            </a:fld>
            <a:endParaRPr lang="en-US" altLang="zh-CN"/>
          </a:p>
        </p:txBody>
      </p:sp>
    </p:spTree>
    <p:extLst>
      <p:ext uri="{BB962C8B-B14F-4D97-AF65-F5344CB8AC3E}">
        <p14:creationId xmlns:p14="http://schemas.microsoft.com/office/powerpoint/2010/main" val="2733705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709613" y="739775"/>
            <a:ext cx="5340350" cy="3698875"/>
          </a:xfrm>
          <a:ln/>
        </p:spPr>
      </p:sp>
      <p:sp>
        <p:nvSpPr>
          <p:cNvPr id="48131" name="Rectangle 3"/>
          <p:cNvSpPr>
            <a:spLocks noGrp="1" noChangeArrowheads="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高级语言也有不同分类，常见分类有过程式语言、函数式语言、面向对象语言和逻辑式语言。</a:t>
            </a:r>
            <a:endParaRPr lang="en-US" altLang="zh-CN" dirty="0" smtClean="0"/>
          </a:p>
          <a:p>
            <a:r>
              <a:rPr lang="zh-CN" altLang="en-US" dirty="0" smtClean="0"/>
              <a:t>其中</a:t>
            </a:r>
            <a:r>
              <a:rPr lang="en-US" altLang="zh-CN" dirty="0" smtClean="0"/>
              <a:t>C</a:t>
            </a:r>
            <a:r>
              <a:rPr lang="zh-CN" altLang="en-US" dirty="0" smtClean="0"/>
              <a:t>语言是过程式语言的典型代表，将计算看作是动作的序列，程序由一系列语句组成。</a:t>
            </a:r>
            <a:endParaRPr lang="en-US" altLang="zh-CN" dirty="0" smtClean="0"/>
          </a:p>
          <a:p>
            <a:r>
              <a:rPr lang="zh-CN" altLang="en-US" dirty="0" smtClean="0"/>
              <a:t>现在针对大型软件，更受欢迎的是</a:t>
            </a:r>
            <a:r>
              <a:rPr lang="en-US" altLang="zh-CN" dirty="0" smtClean="0"/>
              <a:t>C++</a:t>
            </a:r>
            <a:r>
              <a:rPr lang="zh-CN" altLang="en-US" dirty="0" smtClean="0"/>
              <a:t>和</a:t>
            </a:r>
            <a:r>
              <a:rPr lang="en-US" altLang="zh-CN" dirty="0" smtClean="0"/>
              <a:t>JAVA</a:t>
            </a:r>
            <a:r>
              <a:rPr lang="zh-CN" altLang="en-US" dirty="0" smtClean="0"/>
              <a:t>等具有面向对象思想的语言，面向对象思想将数据和方法封装在一起作为一个对象，用数据描述对象属性，用方法描述对象行为。</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下面简单介绍一下</a:t>
            </a:r>
            <a:r>
              <a:rPr lang="en-US" altLang="zh-CN" dirty="0" smtClean="0"/>
              <a:t>C</a:t>
            </a:r>
            <a:r>
              <a:rPr lang="zh-CN" altLang="en-US" dirty="0" smtClean="0"/>
              <a:t>语言的发展历史和特点</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17</a:t>
            </a:fld>
            <a:endParaRPr lang="en-US" altLang="zh-CN"/>
          </a:p>
        </p:txBody>
      </p:sp>
    </p:spTree>
    <p:extLst>
      <p:ext uri="{BB962C8B-B14F-4D97-AF65-F5344CB8AC3E}">
        <p14:creationId xmlns:p14="http://schemas.microsoft.com/office/powerpoint/2010/main" val="105796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a:t>
            </a:r>
            <a:r>
              <a:rPr lang="zh-CN" altLang="en-US" dirty="0" smtClean="0"/>
              <a:t>语言的设计者呢，是由</a:t>
            </a:r>
            <a:r>
              <a:rPr lang="en-US" altLang="zh-CN" dirty="0" smtClean="0"/>
              <a:t>ken Thompson </a:t>
            </a:r>
            <a:r>
              <a:rPr lang="zh-CN" altLang="en-US" dirty="0" smtClean="0"/>
              <a:t>和 </a:t>
            </a:r>
            <a:r>
              <a:rPr lang="en-US" altLang="zh-CN" dirty="0" smtClean="0"/>
              <a:t>Dennis M Ritchie</a:t>
            </a:r>
            <a:r>
              <a:rPr lang="zh-CN" altLang="en-US" dirty="0" smtClean="0"/>
              <a:t>两个人完成的。</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18</a:t>
            </a:fld>
            <a:endParaRPr lang="en-US" altLang="zh-CN"/>
          </a:p>
        </p:txBody>
      </p:sp>
    </p:spTree>
    <p:extLst>
      <p:ext uri="{BB962C8B-B14F-4D97-AF65-F5344CB8AC3E}">
        <p14:creationId xmlns:p14="http://schemas.microsoft.com/office/powerpoint/2010/main" val="1702002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xfrm>
            <a:off x="709613" y="739775"/>
            <a:ext cx="5340350" cy="3698875"/>
          </a:xfrm>
          <a:ln w="12700"/>
        </p:spPr>
      </p:sp>
      <p:sp>
        <p:nvSpPr>
          <p:cNvPr id="51203" name="备注占位符 2"/>
          <p:cNvSpPr>
            <a:spLocks noGrp="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latin typeface="黑体" panose="02010609060101010101" pitchFamily="49" charset="-122"/>
                <a:ea typeface="黑体" panose="02010609060101010101" pitchFamily="49" charset="-122"/>
              </a:rPr>
              <a:t>最初，在</a:t>
            </a:r>
            <a:r>
              <a:rPr lang="en-US" altLang="zh-CN" dirty="0" smtClean="0">
                <a:latin typeface="黑体" panose="02010609060101010101" pitchFamily="49" charset="-122"/>
                <a:ea typeface="黑体" panose="02010609060101010101" pitchFamily="49" charset="-122"/>
              </a:rPr>
              <a:t>1969</a:t>
            </a:r>
            <a:r>
              <a:rPr lang="zh-CN" altLang="en-US" dirty="0" smtClean="0">
                <a:latin typeface="黑体" panose="02010609060101010101" pitchFamily="49" charset="-122"/>
                <a:ea typeface="黑体" panose="02010609060101010101" pitchFamily="49" charset="-122"/>
              </a:rPr>
              <a:t>年，</a:t>
            </a:r>
            <a:r>
              <a:rPr lang="en-US" altLang="zh-CN" dirty="0" smtClean="0">
                <a:latin typeface="黑体" panose="02010609060101010101" pitchFamily="49" charset="-122"/>
                <a:ea typeface="黑体" panose="02010609060101010101" pitchFamily="49" charset="-122"/>
              </a:rPr>
              <a:t>ken </a:t>
            </a:r>
            <a:r>
              <a:rPr lang="en-US" altLang="zh-CN" dirty="0" smtClean="0"/>
              <a:t>Thompson </a:t>
            </a:r>
            <a:r>
              <a:rPr lang="zh-CN" altLang="en-US" dirty="0" smtClean="0"/>
              <a:t>设计了一款电子游戏</a:t>
            </a:r>
            <a:r>
              <a:rPr lang="en-US" altLang="zh-CN" dirty="0" smtClean="0"/>
              <a:t>Space travel</a:t>
            </a:r>
            <a:r>
              <a:rPr lang="zh-CN" altLang="en-US" dirty="0" smtClean="0"/>
              <a:t>，在游戏开发中，</a:t>
            </a:r>
            <a:r>
              <a:rPr lang="en-US" altLang="zh-CN" dirty="0" smtClean="0"/>
              <a:t>1971</a:t>
            </a:r>
            <a:r>
              <a:rPr lang="zh-CN" altLang="en-US" dirty="0" smtClean="0"/>
              <a:t>年，</a:t>
            </a:r>
            <a:r>
              <a:rPr lang="en-US" altLang="zh-CN" dirty="0" err="1" smtClean="0"/>
              <a:t>dennis</a:t>
            </a:r>
            <a:r>
              <a:rPr lang="en-US" altLang="zh-CN" dirty="0" smtClean="0"/>
              <a:t> Ritchie</a:t>
            </a:r>
            <a:r>
              <a:rPr lang="zh-CN" altLang="en-US" dirty="0" smtClean="0"/>
              <a:t>加入了开发。</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latin typeface="Arial" panose="020B0604020202020204" pitchFamily="34" charset="0"/>
                <a:cs typeface="Arial" panose="020B0604020202020204" pitchFamily="34" charset="0"/>
              </a:rPr>
              <a:t>游戏在</a:t>
            </a:r>
            <a:r>
              <a:rPr lang="en-US" altLang="zh-CN" sz="1200" dirty="0" smtClean="0">
                <a:solidFill>
                  <a:srgbClr val="333399"/>
                </a:solidFill>
                <a:latin typeface="Arial" panose="020B0604020202020204" pitchFamily="34" charset="0"/>
                <a:cs typeface="Arial" panose="020B0604020202020204" pitchFamily="34" charset="0"/>
              </a:rPr>
              <a:t>PDP-7</a:t>
            </a:r>
            <a:r>
              <a:rPr lang="zh-CN" altLang="en-US" sz="1200" dirty="0" smtClean="0">
                <a:solidFill>
                  <a:srgbClr val="333399"/>
                </a:solidFill>
                <a:latin typeface="Arial" panose="020B0604020202020204" pitchFamily="34" charset="0"/>
                <a:cs typeface="Arial" panose="020B0604020202020204" pitchFamily="34" charset="0"/>
              </a:rPr>
              <a:t>小型机</a:t>
            </a:r>
            <a:r>
              <a:rPr lang="zh-CN" altLang="en-US" sz="1200" dirty="0" smtClean="0">
                <a:latin typeface="Arial" panose="020B0604020202020204" pitchFamily="34" charset="0"/>
                <a:cs typeface="Arial" panose="020B0604020202020204" pitchFamily="34" charset="0"/>
              </a:rPr>
              <a:t>上开发，因为这台机器免费，但免费的机器没有操作系统。</a:t>
            </a:r>
            <a:endParaRPr lang="en-US" altLang="zh-CN" sz="1200" dirty="0" smtClean="0">
              <a:latin typeface="Arial" panose="020B0604020202020204" pitchFamily="34" charset="0"/>
              <a:cs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latin typeface="Arial" panose="020B0604020202020204" pitchFamily="34" charset="0"/>
                <a:cs typeface="Arial" panose="020B0604020202020204" pitchFamily="34" charset="0"/>
              </a:rPr>
              <a:t>所以，在玩游戏之前，他们先给</a:t>
            </a:r>
            <a:r>
              <a:rPr lang="en-US" altLang="zh-CN" sz="1200" dirty="0" smtClean="0">
                <a:latin typeface="Arial" panose="020B0604020202020204" pitchFamily="34" charset="0"/>
                <a:cs typeface="Arial" panose="020B0604020202020204" pitchFamily="34" charset="0"/>
              </a:rPr>
              <a:t>PDP-7</a:t>
            </a:r>
            <a:r>
              <a:rPr lang="zh-CN" altLang="en-US" sz="1200" dirty="0" smtClean="0">
                <a:latin typeface="Arial" panose="020B0604020202020204" pitchFamily="34" charset="0"/>
                <a:cs typeface="Arial" panose="020B0604020202020204" pitchFamily="34" charset="0"/>
              </a:rPr>
              <a:t>做个</a:t>
            </a:r>
            <a:r>
              <a:rPr lang="zh-CN" altLang="en-US" sz="1200" dirty="0" smtClean="0">
                <a:solidFill>
                  <a:srgbClr val="333399"/>
                </a:solidFill>
                <a:latin typeface="Arial" panose="020B0604020202020204" pitchFamily="34" charset="0"/>
                <a:cs typeface="Arial" panose="020B0604020202020204" pitchFamily="34" charset="0"/>
              </a:rPr>
              <a:t>操作系统，命名为</a:t>
            </a:r>
            <a:r>
              <a:rPr lang="en-US" altLang="zh-CN" sz="1200" dirty="0" smtClean="0">
                <a:solidFill>
                  <a:srgbClr val="333399"/>
                </a:solidFill>
                <a:latin typeface="Arial" panose="020B0604020202020204" pitchFamily="34" charset="0"/>
                <a:cs typeface="Arial" panose="020B0604020202020204" pitchFamily="34" charset="0"/>
              </a:rPr>
              <a:t>UNIX</a:t>
            </a:r>
            <a:r>
              <a:rPr lang="zh-CN" altLang="en-US" sz="1200" dirty="0" smtClean="0">
                <a:solidFill>
                  <a:schemeClr val="tx1"/>
                </a:solidFill>
                <a:latin typeface="黑体" panose="02010609060101010101" pitchFamily="49" charset="-122"/>
                <a:ea typeface="黑体" panose="02010609060101010101" pitchFamily="49" charset="-122"/>
                <a:cs typeface="+mn-cs"/>
              </a:rPr>
              <a:t>。</a:t>
            </a:r>
            <a:endParaRPr lang="en-US" altLang="zh-CN" sz="1200" dirty="0" smtClean="0">
              <a:solidFill>
                <a:srgbClr val="333399"/>
              </a:solidFill>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xfrm>
            <a:off x="709613" y="739775"/>
            <a:ext cx="5340350" cy="3698875"/>
          </a:xfrm>
          <a:ln w="12700"/>
        </p:spPr>
      </p:sp>
      <p:sp>
        <p:nvSpPr>
          <p:cNvPr id="53251" name="备注占位符 2"/>
          <p:cNvSpPr>
            <a:spLocks noGrp="1"/>
          </p:cNvSpPr>
          <p:nvPr>
            <p:ph type="body" idx="1"/>
          </p:nvPr>
        </p:nvSpPr>
        <p:spPr>
          <a:xfrm>
            <a:off x="676275" y="4686300"/>
            <a:ext cx="5405438"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smtClean="0">
                <a:solidFill>
                  <a:schemeClr val="tx1"/>
                </a:solidFill>
                <a:effectLst/>
                <a:latin typeface="Times New Roman" pitchFamily="18" charset="0"/>
                <a:ea typeface="+mn-ea"/>
                <a:cs typeface="+mn-cs"/>
              </a:rPr>
              <a:t>在做这个</a:t>
            </a:r>
            <a:r>
              <a:rPr lang="en-US" altLang="zh-CN" sz="1200" kern="1200" dirty="0" smtClean="0">
                <a:solidFill>
                  <a:schemeClr val="tx1"/>
                </a:solidFill>
                <a:effectLst/>
                <a:latin typeface="Times New Roman" pitchFamily="18" charset="0"/>
                <a:ea typeface="+mn-ea"/>
                <a:cs typeface="+mn-cs"/>
              </a:rPr>
              <a:t>UNIX</a:t>
            </a:r>
            <a:r>
              <a:rPr lang="zh-CN" altLang="zh-CN" sz="1200" kern="1200" dirty="0" smtClean="0">
                <a:solidFill>
                  <a:schemeClr val="tx1"/>
                </a:solidFill>
                <a:effectLst/>
                <a:latin typeface="Times New Roman" pitchFamily="18" charset="0"/>
                <a:ea typeface="+mn-ea"/>
                <a:cs typeface="+mn-cs"/>
              </a:rPr>
              <a:t>操作系统时，发现使用汇编语言编写</a:t>
            </a:r>
            <a:r>
              <a:rPr lang="en-US" altLang="zh-CN" sz="1200" kern="1200" dirty="0" smtClean="0">
                <a:solidFill>
                  <a:schemeClr val="tx1"/>
                </a:solidFill>
                <a:effectLst/>
                <a:latin typeface="Times New Roman" pitchFamily="18" charset="0"/>
                <a:ea typeface="+mn-ea"/>
                <a:cs typeface="+mn-cs"/>
              </a:rPr>
              <a:t>UNIX</a:t>
            </a:r>
            <a:r>
              <a:rPr lang="zh-CN" altLang="zh-CN" sz="1200" kern="1200" dirty="0" smtClean="0">
                <a:solidFill>
                  <a:schemeClr val="tx1"/>
                </a:solidFill>
                <a:effectLst/>
                <a:latin typeface="Times New Roman" pitchFamily="18" charset="0"/>
                <a:ea typeface="+mn-ea"/>
                <a:cs typeface="+mn-cs"/>
              </a:rPr>
              <a:t>进度太慢了，而当时市面上一般的高级语言难以实现汇编语言的某些功能，怎么办呢？</a:t>
            </a:r>
          </a:p>
          <a:p>
            <a:r>
              <a:rPr lang="en-US" altLang="zh-CN" sz="1200" kern="1200" dirty="0" smtClean="0">
                <a:solidFill>
                  <a:schemeClr val="tx1"/>
                </a:solidFill>
                <a:effectLst/>
                <a:latin typeface="Times New Roman" pitchFamily="18" charset="0"/>
                <a:ea typeface="+mn-ea"/>
                <a:cs typeface="+mn-cs"/>
              </a:rPr>
              <a:t>Dennis Ritchie</a:t>
            </a:r>
            <a:r>
              <a:rPr lang="zh-CN" altLang="zh-CN" sz="1200" kern="1200" dirty="0" smtClean="0">
                <a:solidFill>
                  <a:schemeClr val="tx1"/>
                </a:solidFill>
                <a:effectLst/>
                <a:latin typeface="Times New Roman" pitchFamily="18" charset="0"/>
                <a:ea typeface="+mn-ea"/>
                <a:cs typeface="+mn-cs"/>
              </a:rPr>
              <a:t>在</a:t>
            </a:r>
            <a:r>
              <a:rPr lang="en-US" altLang="zh-CN" sz="1200" kern="1200" dirty="0" smtClean="0">
                <a:solidFill>
                  <a:schemeClr val="tx1"/>
                </a:solidFill>
                <a:effectLst/>
                <a:latin typeface="Times New Roman" pitchFamily="18" charset="0"/>
                <a:ea typeface="+mn-ea"/>
                <a:cs typeface="+mn-cs"/>
              </a:rPr>
              <a:t>B</a:t>
            </a:r>
            <a:r>
              <a:rPr lang="zh-CN" altLang="zh-CN" sz="1200" kern="1200" dirty="0" smtClean="0">
                <a:solidFill>
                  <a:schemeClr val="tx1"/>
                </a:solidFill>
                <a:effectLst/>
                <a:latin typeface="Times New Roman" pitchFamily="18" charset="0"/>
                <a:ea typeface="+mn-ea"/>
                <a:cs typeface="+mn-cs"/>
              </a:rPr>
              <a:t>语言的基础上，设计了一种新的高级语言，命名为“</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语言</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，把</a:t>
            </a:r>
            <a:r>
              <a:rPr lang="en-US" altLang="zh-CN" sz="1200" kern="1200" dirty="0" smtClean="0">
                <a:solidFill>
                  <a:schemeClr val="tx1"/>
                </a:solidFill>
                <a:effectLst/>
                <a:latin typeface="Times New Roman" pitchFamily="18" charset="0"/>
                <a:ea typeface="+mn-ea"/>
                <a:cs typeface="+mn-cs"/>
              </a:rPr>
              <a:t>UNIX</a:t>
            </a:r>
            <a:r>
              <a:rPr lang="zh-CN" altLang="zh-CN" sz="1200" kern="1200" dirty="0" smtClean="0">
                <a:solidFill>
                  <a:schemeClr val="tx1"/>
                </a:solidFill>
                <a:effectLst/>
                <a:latin typeface="Times New Roman" pitchFamily="18" charset="0"/>
                <a:ea typeface="+mn-ea"/>
                <a:cs typeface="+mn-cs"/>
              </a:rPr>
              <a:t>的</a:t>
            </a:r>
            <a:r>
              <a:rPr lang="en-US" altLang="zh-CN" sz="1200" kern="1200" dirty="0" smtClean="0">
                <a:solidFill>
                  <a:schemeClr val="tx1"/>
                </a:solidFill>
                <a:effectLst/>
                <a:latin typeface="Times New Roman" pitchFamily="18" charset="0"/>
                <a:ea typeface="+mn-ea"/>
                <a:cs typeface="+mn-cs"/>
              </a:rPr>
              <a:t>90%</a:t>
            </a:r>
            <a:r>
              <a:rPr lang="zh-CN" altLang="zh-CN" sz="1200" kern="1200" dirty="0" smtClean="0">
                <a:solidFill>
                  <a:schemeClr val="tx1"/>
                </a:solidFill>
                <a:effectLst/>
                <a:latin typeface="Times New Roman" pitchFamily="18" charset="0"/>
                <a:ea typeface="+mn-ea"/>
                <a:cs typeface="+mn-cs"/>
              </a:rPr>
              <a:t>以上代码用</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改写。还有</a:t>
            </a:r>
            <a:r>
              <a:rPr lang="en-US" altLang="zh-CN" sz="1200" kern="1200" dirty="0" smtClean="0">
                <a:solidFill>
                  <a:schemeClr val="tx1"/>
                </a:solidFill>
                <a:effectLst/>
                <a:latin typeface="Times New Roman" pitchFamily="18" charset="0"/>
                <a:ea typeface="+mn-ea"/>
                <a:cs typeface="+mn-cs"/>
              </a:rPr>
              <a:t>10%</a:t>
            </a:r>
            <a:r>
              <a:rPr lang="zh-CN" altLang="zh-CN" sz="1200" kern="1200" dirty="0" smtClean="0">
                <a:solidFill>
                  <a:schemeClr val="tx1"/>
                </a:solidFill>
                <a:effectLst/>
                <a:latin typeface="Times New Roman" pitchFamily="18" charset="0"/>
                <a:ea typeface="+mn-ea"/>
                <a:cs typeface="+mn-cs"/>
              </a:rPr>
              <a:t>为什么没有改呢？因为许多核心代码要求速度快，性能好，而汇编语言在这方面要优于高级语言。</a:t>
            </a:r>
          </a:p>
          <a:p>
            <a:r>
              <a:rPr lang="en-US" altLang="zh-CN" sz="1200" kern="1200" dirty="0" smtClean="0">
                <a:solidFill>
                  <a:schemeClr val="tx1"/>
                </a:solidFill>
                <a:effectLst/>
                <a:latin typeface="Times New Roman" pitchFamily="18" charset="0"/>
                <a:ea typeface="+mn-ea"/>
                <a:cs typeface="+mn-cs"/>
              </a:rPr>
              <a:t>1983</a:t>
            </a:r>
            <a:r>
              <a:rPr lang="zh-CN" altLang="zh-CN" sz="1200" kern="1200" dirty="0" smtClean="0">
                <a:solidFill>
                  <a:schemeClr val="tx1"/>
                </a:solidFill>
                <a:effectLst/>
                <a:latin typeface="Times New Roman" pitchFamily="18" charset="0"/>
                <a:ea typeface="+mn-ea"/>
                <a:cs typeface="+mn-cs"/>
              </a:rPr>
              <a:t>年，因为</a:t>
            </a:r>
            <a:r>
              <a:rPr lang="en-US" altLang="zh-CN" sz="1200" kern="1200" dirty="0" smtClean="0">
                <a:solidFill>
                  <a:schemeClr val="tx1"/>
                </a:solidFill>
                <a:effectLst/>
                <a:latin typeface="Times New Roman" pitchFamily="18" charset="0"/>
                <a:ea typeface="+mn-ea"/>
                <a:cs typeface="+mn-cs"/>
              </a:rPr>
              <a:t>UNIX</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语言的巨大成功， </a:t>
            </a:r>
            <a:r>
              <a:rPr lang="en-US" altLang="zh-CN" sz="1200" kern="1200" dirty="0" smtClean="0">
                <a:solidFill>
                  <a:schemeClr val="tx1"/>
                </a:solidFill>
                <a:effectLst/>
                <a:latin typeface="Times New Roman" pitchFamily="18" charset="0"/>
                <a:ea typeface="+mn-ea"/>
                <a:cs typeface="+mn-cs"/>
              </a:rPr>
              <a:t>Ken Thompson</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Dennis Ritchie</a:t>
            </a:r>
            <a:r>
              <a:rPr lang="zh-CN" altLang="zh-CN" sz="1200" kern="1200" dirty="0" smtClean="0">
                <a:solidFill>
                  <a:schemeClr val="tx1"/>
                </a:solidFill>
                <a:effectLst/>
                <a:latin typeface="Times New Roman" pitchFamily="18" charset="0"/>
                <a:ea typeface="+mn-ea"/>
                <a:cs typeface="+mn-cs"/>
              </a:rPr>
              <a:t>共同获得当年度的计算机界最高奖</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图灵奖。 </a:t>
            </a:r>
          </a:p>
          <a:p>
            <a:r>
              <a:rPr lang="zh-CN" altLang="zh-CN" sz="1200" kern="1200" dirty="0" smtClean="0">
                <a:solidFill>
                  <a:schemeClr val="tx1"/>
                </a:solidFill>
                <a:effectLst/>
                <a:latin typeface="Times New Roman" pitchFamily="18" charset="0"/>
                <a:ea typeface="+mn-ea"/>
                <a:cs typeface="+mn-cs"/>
              </a:rPr>
              <a:t>总结一下，</a:t>
            </a:r>
            <a:r>
              <a:rPr lang="en-US" altLang="zh-CN" sz="1200" kern="1200" dirty="0" smtClean="0">
                <a:solidFill>
                  <a:schemeClr val="tx1"/>
                </a:solidFill>
                <a:effectLst/>
                <a:latin typeface="Times New Roman" pitchFamily="18" charset="0"/>
                <a:ea typeface="+mn-ea"/>
                <a:cs typeface="+mn-cs"/>
              </a:rPr>
              <a:t>Ken Thompson</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Ritchie</a:t>
            </a:r>
            <a:r>
              <a:rPr lang="zh-CN" altLang="zh-CN" sz="1200" kern="1200" dirty="0" smtClean="0">
                <a:solidFill>
                  <a:schemeClr val="tx1"/>
                </a:solidFill>
                <a:effectLst/>
                <a:latin typeface="Times New Roman" pitchFamily="18" charset="0"/>
                <a:ea typeface="+mn-ea"/>
                <a:cs typeface="+mn-cs"/>
              </a:rPr>
              <a:t>就是为了玩游戏，设计操作系统，为了高效开发操作系统，设计了</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语言。</a:t>
            </a:r>
            <a:endParaRPr lang="zh-CN" altLang="zh-CN" sz="1200" kern="1200" dirty="0">
              <a:solidFill>
                <a:schemeClr val="tx1"/>
              </a:solidFill>
              <a:effectLst/>
              <a:latin typeface="Times New Roman" pitchFamily="18" charset="0"/>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706438" y="739775"/>
            <a:ext cx="5345112" cy="3702050"/>
          </a:xfrm>
          <a:ln/>
        </p:spPr>
      </p:sp>
      <p:sp>
        <p:nvSpPr>
          <p:cNvPr id="55299" name="Rectangle 3"/>
          <p:cNvSpPr>
            <a:spLocks noGrp="1" noChangeArrowheads="1"/>
          </p:cNvSpPr>
          <p:nvPr>
            <p:ph type="body" idx="1"/>
          </p:nvPr>
        </p:nvSpPr>
        <p:spPr>
          <a:xfrm>
            <a:off x="674688" y="4686300"/>
            <a:ext cx="5408612"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C</a:t>
            </a:r>
            <a:r>
              <a:rPr lang="zh-CN" altLang="en-US" dirty="0" smtClean="0"/>
              <a:t>语言出世以后，在</a:t>
            </a:r>
            <a:r>
              <a:rPr lang="en-US" altLang="zh-CN" dirty="0" smtClean="0"/>
              <a:t>1982</a:t>
            </a:r>
            <a:r>
              <a:rPr lang="zh-CN" altLang="en-US" dirty="0" smtClean="0"/>
              <a:t>年，美国</a:t>
            </a:r>
            <a:r>
              <a:rPr lang="zh-CN" altLang="en-US" sz="1200" dirty="0" smtClean="0">
                <a:ea typeface="黑体" pitchFamily="49" charset="-122"/>
                <a:cs typeface="Times New Roman" pitchFamily="18" charset="0"/>
              </a:rPr>
              <a:t>国家标准化协会成立</a:t>
            </a:r>
            <a:r>
              <a:rPr lang="en-US" altLang="zh-CN" sz="1200" dirty="0" smtClean="0">
                <a:ea typeface="黑体" pitchFamily="49" charset="-122"/>
                <a:cs typeface="Times New Roman" pitchFamily="18" charset="0"/>
              </a:rPr>
              <a:t>C</a:t>
            </a:r>
            <a:r>
              <a:rPr lang="zh-CN" altLang="en-US" sz="1200" dirty="0" smtClean="0">
                <a:ea typeface="黑体" pitchFamily="49" charset="-122"/>
                <a:cs typeface="Times New Roman" pitchFamily="18" charset="0"/>
              </a:rPr>
              <a:t>标准委员会，</a:t>
            </a:r>
            <a:r>
              <a:rPr lang="zh-CN" altLang="en-US" sz="1200" dirty="0" smtClean="0">
                <a:ea typeface="+mn-ea"/>
                <a:cs typeface="+mn-cs"/>
              </a:rPr>
              <a:t>在</a:t>
            </a:r>
            <a:r>
              <a:rPr lang="en-US" altLang="zh-CN" sz="1200" dirty="0" smtClean="0">
                <a:ea typeface="+mn-ea"/>
                <a:cs typeface="+mn-cs"/>
              </a:rPr>
              <a:t>1989</a:t>
            </a:r>
            <a:r>
              <a:rPr lang="zh-CN" altLang="en-US" sz="1200" dirty="0" smtClean="0">
                <a:ea typeface="+mn-ea"/>
                <a:cs typeface="+mn-cs"/>
              </a:rPr>
              <a:t>年发布</a:t>
            </a:r>
            <a:r>
              <a:rPr lang="zh-CN" altLang="en-US" sz="1200" dirty="0" smtClean="0">
                <a:ea typeface="黑体" pitchFamily="49" charset="-122"/>
                <a:cs typeface="Times New Roman" pitchFamily="18" charset="0"/>
              </a:rPr>
              <a:t>第一个完整的</a:t>
            </a:r>
            <a:r>
              <a:rPr lang="en-US" altLang="zh-CN" sz="1200" dirty="0" smtClean="0">
                <a:ea typeface="黑体" pitchFamily="49" charset="-122"/>
                <a:cs typeface="Times New Roman" pitchFamily="18" charset="0"/>
              </a:rPr>
              <a:t>C</a:t>
            </a:r>
            <a:r>
              <a:rPr lang="zh-CN" altLang="en-US" sz="1200" dirty="0" smtClean="0">
                <a:ea typeface="黑体" pitchFamily="49" charset="-122"/>
                <a:cs typeface="Times New Roman" pitchFamily="18" charset="0"/>
              </a:rPr>
              <a:t>语言标准，简称</a:t>
            </a:r>
            <a:r>
              <a:rPr lang="en-US" altLang="zh-CN" sz="1200" dirty="0" smtClean="0">
                <a:ea typeface="黑体" pitchFamily="49" charset="-122"/>
                <a:cs typeface="Times New Roman" pitchFamily="18" charset="0"/>
              </a:rPr>
              <a:t>C89</a:t>
            </a:r>
            <a:r>
              <a:rPr lang="zh-CN" altLang="en-US" sz="1200" dirty="0" smtClean="0">
                <a:ea typeface="黑体" pitchFamily="49" charset="-122"/>
                <a:cs typeface="Times New Roman" pitchFamily="18" charset="0"/>
              </a:rPr>
              <a:t>，最新版的标准是</a:t>
            </a:r>
            <a:r>
              <a:rPr lang="en-US" altLang="zh-CN" sz="1200" dirty="0" smtClean="0">
                <a:ea typeface="黑体" pitchFamily="49" charset="-122"/>
                <a:cs typeface="Times New Roman" pitchFamily="18" charset="0"/>
              </a:rPr>
              <a:t>2011</a:t>
            </a:r>
            <a:r>
              <a:rPr lang="zh-CN" altLang="en-US" sz="1200" dirty="0" smtClean="0">
                <a:ea typeface="黑体" pitchFamily="49" charset="-122"/>
                <a:cs typeface="Times New Roman" pitchFamily="18" charset="0"/>
              </a:rPr>
              <a:t>年发布的</a:t>
            </a:r>
            <a:r>
              <a:rPr lang="en-US" altLang="zh-CN" sz="1200" dirty="0" smtClean="0">
                <a:ea typeface="黑体" pitchFamily="49" charset="-122"/>
                <a:cs typeface="Times New Roman" pitchFamily="18" charset="0"/>
              </a:rPr>
              <a:t>C11</a:t>
            </a:r>
            <a:r>
              <a:rPr lang="zh-CN" altLang="en-US" sz="1200" dirty="0" smtClean="0">
                <a:ea typeface="黑体" pitchFamily="49" charset="-122"/>
                <a:cs typeface="Times New Roman" pitchFamily="18" charset="0"/>
              </a:rPr>
              <a:t>。</a:t>
            </a:r>
            <a:endParaRPr lang="en-US" altLang="zh-CN" sz="1200" dirty="0" smtClean="0">
              <a:ea typeface="黑体" pitchFamily="49" charset="-122"/>
              <a:cs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706438" y="739775"/>
            <a:ext cx="5345112" cy="3702050"/>
          </a:xfrm>
          <a:ln/>
        </p:spPr>
      </p:sp>
      <p:sp>
        <p:nvSpPr>
          <p:cNvPr id="57347" name="Rectangle 3"/>
          <p:cNvSpPr>
            <a:spLocks noGrp="1" noChangeArrowheads="1"/>
          </p:cNvSpPr>
          <p:nvPr>
            <p:ph type="body" idx="1"/>
          </p:nvPr>
        </p:nvSpPr>
        <p:spPr>
          <a:xfrm>
            <a:off x="677863" y="4686300"/>
            <a:ext cx="5405437"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smtClean="0"/>
              <a:t>C</a:t>
            </a:r>
            <a:r>
              <a:rPr lang="zh-CN" altLang="en-US" dirty="0" smtClean="0"/>
              <a:t>语言具有</a:t>
            </a:r>
            <a:r>
              <a:rPr lang="zh-CN" altLang="en-US" dirty="0" smtClean="0">
                <a:latin typeface="Arial" panose="020B0604020202020204" pitchFamily="34" charset="0"/>
                <a:cs typeface="Arial" panose="020B0604020202020204" pitchFamily="34" charset="0"/>
              </a:rPr>
              <a:t>语言简洁、紧凑，使用方便、灵活</a:t>
            </a:r>
            <a:r>
              <a:rPr lang="zh-CN" altLang="en-US" dirty="0" smtClean="0">
                <a:latin typeface="Times New Roman" pitchFamily="18" charset="0"/>
                <a:cs typeface="+mn-cs"/>
              </a:rPr>
              <a:t>、</a:t>
            </a:r>
            <a:r>
              <a:rPr lang="zh-CN" altLang="en-US" dirty="0" smtClean="0">
                <a:latin typeface="Arial" panose="020B0604020202020204" pitchFamily="34" charset="0"/>
                <a:cs typeface="Arial" panose="020B0604020202020204" pitchFamily="34" charset="0"/>
              </a:rPr>
              <a:t>运算符丰富、数据类型、结构丰富、允许直接访问物理地址，</a:t>
            </a:r>
            <a:endParaRPr lang="en-US" altLang="zh-CN" dirty="0" smtClean="0">
              <a:latin typeface="Arial" panose="020B0604020202020204" pitchFamily="34" charset="0"/>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smtClean="0">
                <a:latin typeface="Arial" panose="020B0604020202020204" pitchFamily="34" charset="0"/>
                <a:cs typeface="Arial" panose="020B0604020202020204" pitchFamily="34" charset="0"/>
              </a:rPr>
              <a:t>这些特点在以后的学习中会慢慢体会到。</a:t>
            </a:r>
            <a:endParaRPr lang="en-US" altLang="zh-CN" dirty="0" smtClean="0">
              <a:latin typeface="Arial" panose="020B0604020202020204" pitchFamily="34" charset="0"/>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US" altLang="zh-CN"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8400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在开始编写第一个程序之前，我们先搭建</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语言集成开发环境</a:t>
            </a:r>
            <a:r>
              <a:rPr lang="zh-CN" altLang="en-US" sz="1200" kern="1200" dirty="0" smtClean="0">
                <a:solidFill>
                  <a:schemeClr val="tx1"/>
                </a:solidFill>
                <a:effectLst/>
                <a:latin typeface="Times New Roman" pitchFamily="18"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23</a:t>
            </a:fld>
            <a:endParaRPr lang="en-US" altLang="zh-CN"/>
          </a:p>
        </p:txBody>
      </p:sp>
    </p:spTree>
    <p:extLst>
      <p:ext uri="{BB962C8B-B14F-4D97-AF65-F5344CB8AC3E}">
        <p14:creationId xmlns:p14="http://schemas.microsoft.com/office/powerpoint/2010/main" val="4012250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我们使用</a:t>
            </a:r>
            <a:r>
              <a:rPr lang="en-US" altLang="zh-CN" dirty="0" smtClean="0"/>
              <a:t>visual</a:t>
            </a:r>
            <a:r>
              <a:rPr lang="en-US" altLang="zh-CN" baseline="0" dirty="0" smtClean="0"/>
              <a:t> studio</a:t>
            </a:r>
            <a:r>
              <a:rPr lang="zh-CN" altLang="en-US" baseline="0" dirty="0" smtClean="0"/>
              <a:t>作为我们的集成开发环境，在官网可以下载它的不同版本，这里以</a:t>
            </a:r>
            <a:r>
              <a:rPr lang="en-US" altLang="zh-CN" baseline="0" dirty="0" smtClean="0"/>
              <a:t>visual studio2017</a:t>
            </a:r>
            <a:r>
              <a:rPr lang="zh-CN" altLang="en-US" baseline="0" dirty="0" smtClean="0"/>
              <a:t>为例子，选择简体中文版以降低入门的门槛。</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24</a:t>
            </a:fld>
            <a:endParaRPr lang="en-US" altLang="zh-CN"/>
          </a:p>
        </p:txBody>
      </p:sp>
    </p:spTree>
    <p:extLst>
      <p:ext uri="{BB962C8B-B14F-4D97-AF65-F5344CB8AC3E}">
        <p14:creationId xmlns:p14="http://schemas.microsoft.com/office/powerpoint/2010/main" val="1570038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下载结束后启动安装包，选择需要的组件，这里选择使用</a:t>
            </a:r>
            <a:r>
              <a:rPr lang="en-US" altLang="zh-CN" dirty="0" smtClean="0"/>
              <a:t>C++</a:t>
            </a:r>
            <a:r>
              <a:rPr lang="zh-CN" altLang="en-US" dirty="0" smtClean="0"/>
              <a:t>的桌面开发和通用</a:t>
            </a:r>
            <a:r>
              <a:rPr lang="en-US" altLang="zh-CN" dirty="0" smtClean="0"/>
              <a:t>Windows</a:t>
            </a:r>
            <a:r>
              <a:rPr lang="zh-CN" altLang="en-US" dirty="0" smtClean="0"/>
              <a:t>平台开发，然后开始下载所需组件。</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25</a:t>
            </a:fld>
            <a:endParaRPr lang="en-US" altLang="zh-CN"/>
          </a:p>
        </p:txBody>
      </p:sp>
    </p:spTree>
    <p:extLst>
      <p:ext uri="{BB962C8B-B14F-4D97-AF65-F5344CB8AC3E}">
        <p14:creationId xmlns:p14="http://schemas.microsoft.com/office/powerpoint/2010/main" val="406784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安装完成后启动</a:t>
            </a:r>
            <a:r>
              <a:rPr lang="en-US" altLang="zh-CN" dirty="0" smtClean="0"/>
              <a:t>Visual Studio</a:t>
            </a:r>
            <a:r>
              <a:rPr lang="zh-CN" altLang="en-US" dirty="0" smtClean="0"/>
              <a:t>，输入微软账号密码，进入主界面。</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26</a:t>
            </a:fld>
            <a:endParaRPr lang="en-US" altLang="zh-CN"/>
          </a:p>
        </p:txBody>
      </p:sp>
    </p:spTree>
    <p:extLst>
      <p:ext uri="{BB962C8B-B14F-4D97-AF65-F5344CB8AC3E}">
        <p14:creationId xmlns:p14="http://schemas.microsoft.com/office/powerpoint/2010/main" val="2378381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这就是主页面的布局</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27</a:t>
            </a:fld>
            <a:endParaRPr lang="en-US" altLang="zh-CN"/>
          </a:p>
        </p:txBody>
      </p:sp>
    </p:spTree>
    <p:extLst>
      <p:ext uri="{BB962C8B-B14F-4D97-AF65-F5344CB8AC3E}">
        <p14:creationId xmlns:p14="http://schemas.microsoft.com/office/powerpoint/2010/main" val="2164752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按照图示，通过菜单栏的新建项目，可以快速建立一个空项目。</a:t>
            </a:r>
            <a:endParaRPr lang="en-US" altLang="zh-CN" dirty="0" smtClean="0"/>
          </a:p>
          <a:p>
            <a:r>
              <a:rPr lang="zh-CN" altLang="en-US" dirty="0" smtClean="0"/>
              <a:t>一个项目中，可以包含多个</a:t>
            </a:r>
            <a:r>
              <a:rPr lang="en-US" altLang="zh-CN" dirty="0" smtClean="0"/>
              <a:t>C</a:t>
            </a:r>
            <a:r>
              <a:rPr lang="zh-CN" altLang="en-US" dirty="0" smtClean="0"/>
              <a:t>语言的源文件。</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28</a:t>
            </a:fld>
            <a:endParaRPr lang="en-US" altLang="zh-CN"/>
          </a:p>
        </p:txBody>
      </p:sp>
    </p:spTree>
    <p:extLst>
      <p:ext uri="{BB962C8B-B14F-4D97-AF65-F5344CB8AC3E}">
        <p14:creationId xmlns:p14="http://schemas.microsoft.com/office/powerpoint/2010/main" val="11864195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建立好一个空项目后，开始在项目中添加</a:t>
            </a:r>
            <a:r>
              <a:rPr lang="en-US" altLang="zh-CN" dirty="0" smtClean="0"/>
              <a:t>C</a:t>
            </a:r>
            <a:r>
              <a:rPr lang="zh-CN" altLang="en-US" dirty="0" smtClean="0"/>
              <a:t>语言源文件，可以在右击源文件文件夹快速添加源文件，</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29</a:t>
            </a:fld>
            <a:endParaRPr lang="en-US" altLang="zh-CN"/>
          </a:p>
        </p:txBody>
      </p:sp>
    </p:spTree>
    <p:extLst>
      <p:ext uri="{BB962C8B-B14F-4D97-AF65-F5344CB8AC3E}">
        <p14:creationId xmlns:p14="http://schemas.microsoft.com/office/powerpoint/2010/main" val="1746969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在添加源文件时，注意将文件后缀名改为</a:t>
            </a:r>
            <a:r>
              <a:rPr lang="en-US" altLang="zh-CN" dirty="0" smtClean="0"/>
              <a:t>.c</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30</a:t>
            </a:fld>
            <a:endParaRPr lang="en-US" altLang="zh-CN"/>
          </a:p>
        </p:txBody>
      </p:sp>
    </p:spTree>
    <p:extLst>
      <p:ext uri="{BB962C8B-B14F-4D97-AF65-F5344CB8AC3E}">
        <p14:creationId xmlns:p14="http://schemas.microsoft.com/office/powerpoint/2010/main" val="4242443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这样，我们就可以开始在这个大红框区域编写我们的</a:t>
            </a:r>
            <a:r>
              <a:rPr lang="en-US" altLang="zh-CN" dirty="0" smtClean="0"/>
              <a:t>C</a:t>
            </a:r>
            <a:r>
              <a:rPr lang="zh-CN" altLang="en-US" dirty="0" smtClean="0"/>
              <a:t>语言代码啦。</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31</a:t>
            </a:fld>
            <a:endParaRPr lang="en-US" altLang="zh-CN"/>
          </a:p>
        </p:txBody>
      </p:sp>
    </p:spTree>
    <p:extLst>
      <p:ext uri="{BB962C8B-B14F-4D97-AF65-F5344CB8AC3E}">
        <p14:creationId xmlns:p14="http://schemas.microsoft.com/office/powerpoint/2010/main" val="32347933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706438" y="739775"/>
            <a:ext cx="5345112" cy="3702050"/>
          </a:xfrm>
          <a:ln/>
        </p:spPr>
      </p:sp>
      <p:sp>
        <p:nvSpPr>
          <p:cNvPr id="57347" name="Rectangle 3"/>
          <p:cNvSpPr>
            <a:spLocks noGrp="1" noChangeArrowheads="1"/>
          </p:cNvSpPr>
          <p:nvPr>
            <p:ph type="body" idx="1"/>
          </p:nvPr>
        </p:nvSpPr>
        <p:spPr>
          <a:xfrm>
            <a:off x="677863" y="4686300"/>
            <a:ext cx="5405437"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在创建好源文件后，我们使用一个简单的例子来分析一个源程序的内容。</a:t>
            </a:r>
            <a:endParaRPr lang="en-US" altLang="zh-CN" dirty="0" smtClean="0"/>
          </a:p>
          <a:p>
            <a:pPr eaLnBrk="1" hangingPunct="1"/>
            <a:r>
              <a:rPr lang="en-US" altLang="zh-CN" sz="1200" b="0" i="0" kern="1200" dirty="0" smtClean="0">
                <a:solidFill>
                  <a:schemeClr val="tx1"/>
                </a:solidFill>
                <a:effectLst/>
                <a:latin typeface="Times New Roman" pitchFamily="18" charset="0"/>
                <a:ea typeface="+mn-ea"/>
                <a:cs typeface="+mn-cs"/>
              </a:rPr>
              <a:t>Hello World </a:t>
            </a:r>
            <a:r>
              <a:rPr lang="zh-CN" altLang="en-US" sz="1200" b="0" i="0" kern="1200" dirty="0" smtClean="0">
                <a:solidFill>
                  <a:schemeClr val="tx1"/>
                </a:solidFill>
                <a:effectLst/>
                <a:latin typeface="Times New Roman" pitchFamily="18" charset="0"/>
                <a:ea typeface="+mn-ea"/>
                <a:cs typeface="+mn-cs"/>
              </a:rPr>
              <a:t>中文意思是</a:t>
            </a:r>
            <a:r>
              <a:rPr lang="en-US" altLang="zh-CN" sz="1200" b="0" i="0" kern="1200" dirty="0" smtClean="0">
                <a:solidFill>
                  <a:schemeClr val="tx1"/>
                </a:solidFill>
                <a:effectLst/>
                <a:latin typeface="Times New Roman" pitchFamily="18" charset="0"/>
                <a:ea typeface="+mn-ea"/>
                <a:cs typeface="+mn-cs"/>
              </a:rPr>
              <a:t>『</a:t>
            </a:r>
            <a:r>
              <a:rPr lang="zh-CN" altLang="en-US" sz="1200" b="0" i="0" kern="1200" dirty="0" smtClean="0">
                <a:solidFill>
                  <a:schemeClr val="tx1"/>
                </a:solidFill>
                <a:effectLst/>
                <a:latin typeface="Times New Roman" pitchFamily="18" charset="0"/>
                <a:ea typeface="+mn-ea"/>
                <a:cs typeface="+mn-cs"/>
              </a:rPr>
              <a:t>你好，世界</a:t>
            </a:r>
            <a:r>
              <a:rPr lang="en-US" altLang="zh-CN" sz="1200" b="0" i="0" kern="1200" dirty="0" smtClean="0">
                <a:solidFill>
                  <a:schemeClr val="tx1"/>
                </a:solidFill>
                <a:effectLst/>
                <a:latin typeface="Times New Roman" pitchFamily="18" charset="0"/>
                <a:ea typeface="+mn-ea"/>
                <a:cs typeface="+mn-cs"/>
              </a:rPr>
              <a:t>』</a:t>
            </a:r>
            <a:r>
              <a:rPr lang="zh-CN" altLang="en-US" sz="1200" b="0" i="0" kern="1200" dirty="0" smtClean="0">
                <a:solidFill>
                  <a:schemeClr val="tx1"/>
                </a:solidFill>
                <a:effectLst/>
                <a:latin typeface="Times New Roman" pitchFamily="18" charset="0"/>
                <a:ea typeface="+mn-ea"/>
                <a:cs typeface="+mn-cs"/>
              </a:rPr>
              <a:t>。因为 </a:t>
            </a:r>
            <a:r>
              <a:rPr lang="en-US" altLang="zh-CN" sz="1200" b="0" i="1" kern="1200" dirty="0" smtClean="0">
                <a:solidFill>
                  <a:schemeClr val="tx1"/>
                </a:solidFill>
                <a:effectLst/>
                <a:latin typeface="Times New Roman" pitchFamily="18" charset="0"/>
                <a:ea typeface="+mn-ea"/>
                <a:cs typeface="+mn-cs"/>
              </a:rPr>
              <a:t>The C Programming Language</a:t>
            </a:r>
            <a:r>
              <a:rPr lang="en-US" altLang="zh-CN" sz="1200" b="0" i="0" kern="1200" dirty="0" smtClean="0">
                <a:solidFill>
                  <a:schemeClr val="tx1"/>
                </a:solidFill>
                <a:effectLst/>
                <a:latin typeface="Times New Roman" pitchFamily="18" charset="0"/>
                <a:ea typeface="+mn-ea"/>
                <a:cs typeface="+mn-cs"/>
              </a:rPr>
              <a:t> </a:t>
            </a:r>
            <a:r>
              <a:rPr lang="zh-CN" altLang="en-US" sz="1200" b="0" i="0" kern="1200" dirty="0" smtClean="0">
                <a:solidFill>
                  <a:schemeClr val="tx1"/>
                </a:solidFill>
                <a:effectLst/>
                <a:latin typeface="Times New Roman" pitchFamily="18" charset="0"/>
                <a:ea typeface="+mn-ea"/>
                <a:cs typeface="+mn-cs"/>
              </a:rPr>
              <a:t>中使用它做为第一个演示程序，非常著名，所以后来的程序员在学习编程或进行设备调试时延续了这一习惯。</a:t>
            </a:r>
            <a:endParaRPr lang="zh-CN" altLang="en-US" dirty="0" smtClean="0"/>
          </a:p>
        </p:txBody>
      </p:sp>
    </p:spTree>
    <p:extLst>
      <p:ext uri="{BB962C8B-B14F-4D97-AF65-F5344CB8AC3E}">
        <p14:creationId xmlns:p14="http://schemas.microsoft.com/office/powerpoint/2010/main" val="3482900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706438" y="739775"/>
            <a:ext cx="5345112" cy="3702050"/>
          </a:xfrm>
          <a:ln/>
        </p:spPr>
      </p:sp>
      <p:sp>
        <p:nvSpPr>
          <p:cNvPr id="57347" name="Rectangle 3"/>
          <p:cNvSpPr>
            <a:spLocks noGrp="1" noChangeArrowheads="1"/>
          </p:cNvSpPr>
          <p:nvPr>
            <p:ph type="body" idx="1"/>
          </p:nvPr>
        </p:nvSpPr>
        <p:spPr>
          <a:xfrm>
            <a:off x="677863" y="4686300"/>
            <a:ext cx="5405437"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讲解代码</a:t>
            </a:r>
          </a:p>
        </p:txBody>
      </p:sp>
    </p:spTree>
    <p:extLst>
      <p:ext uri="{BB962C8B-B14F-4D97-AF65-F5344CB8AC3E}">
        <p14:creationId xmlns:p14="http://schemas.microsoft.com/office/powerpoint/2010/main" val="3864942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最后一部分内容是问题的求解过程</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34</a:t>
            </a:fld>
            <a:endParaRPr lang="en-US" altLang="zh-CN"/>
          </a:p>
        </p:txBody>
      </p:sp>
    </p:spTree>
    <p:extLst>
      <p:ext uri="{BB962C8B-B14F-4D97-AF65-F5344CB8AC3E}">
        <p14:creationId xmlns:p14="http://schemas.microsoft.com/office/powerpoint/2010/main" val="26452024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在配置好</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语言集成开发环境和探索如何创建项目和源文件后，我们学习一下一般问题的求解过程。</a:t>
            </a:r>
          </a:p>
          <a:p>
            <a:r>
              <a:rPr lang="zh-CN" altLang="zh-CN" sz="1200" kern="1200" dirty="0" smtClean="0">
                <a:solidFill>
                  <a:schemeClr val="tx1"/>
                </a:solidFill>
                <a:effectLst/>
                <a:latin typeface="Times New Roman" pitchFamily="18" charset="0"/>
                <a:ea typeface="+mn-ea"/>
                <a:cs typeface="+mn-cs"/>
              </a:rPr>
              <a:t>我们以一个简单的例子来说明这个过程。</a:t>
            </a:r>
          </a:p>
          <a:p>
            <a:r>
              <a:rPr lang="zh-CN" altLang="zh-CN" sz="1200" kern="1200" dirty="0" smtClean="0">
                <a:solidFill>
                  <a:schemeClr val="tx1"/>
                </a:solidFill>
                <a:effectLst/>
                <a:latin typeface="Times New Roman" pitchFamily="18" charset="0"/>
                <a:ea typeface="+mn-ea"/>
                <a:cs typeface="+mn-cs"/>
              </a:rPr>
              <a:t>在拿到一个具体问题时，例如：将乱序的一组数排序</a:t>
            </a:r>
          </a:p>
          <a:p>
            <a:r>
              <a:rPr lang="zh-CN" altLang="zh-CN" sz="1200" kern="1200" dirty="0" smtClean="0">
                <a:solidFill>
                  <a:schemeClr val="tx1"/>
                </a:solidFill>
                <a:effectLst/>
                <a:latin typeface="Times New Roman" pitchFamily="18" charset="0"/>
                <a:ea typeface="+mn-ea"/>
                <a:cs typeface="+mn-cs"/>
              </a:rPr>
              <a:t>我们要想到解决问题的办法，比如使用排序算法，如冒泡排序、选择排序、快速排序、归并排序等方法</a:t>
            </a:r>
          </a:p>
          <a:p>
            <a:r>
              <a:rPr lang="zh-CN" altLang="zh-CN" sz="1200" kern="1200" dirty="0" smtClean="0">
                <a:solidFill>
                  <a:schemeClr val="tx1"/>
                </a:solidFill>
                <a:effectLst/>
                <a:latin typeface="Times New Roman" pitchFamily="18" charset="0"/>
                <a:ea typeface="+mn-ea"/>
                <a:cs typeface="+mn-cs"/>
              </a:rPr>
              <a:t>在有了解决办法后，我们应该想办法对这种方法写成具体代码，以解决我们的问题。</a:t>
            </a:r>
            <a:endParaRPr lang="zh-CN" altLang="zh-CN" sz="1200" kern="1200" dirty="0">
              <a:solidFill>
                <a:schemeClr val="tx1"/>
              </a:solidFill>
              <a:effectLst/>
              <a:latin typeface="Times New Roman" pitchFamily="18" charset="0"/>
              <a:ea typeface="+mn-ea"/>
              <a:cs typeface="+mn-cs"/>
            </a:endParaRPr>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35</a:t>
            </a:fld>
            <a:endParaRPr lang="en-US" altLang="zh-CN"/>
          </a:p>
        </p:txBody>
      </p:sp>
    </p:spTree>
    <p:extLst>
      <p:ext uri="{BB962C8B-B14F-4D97-AF65-F5344CB8AC3E}">
        <p14:creationId xmlns:p14="http://schemas.microsoft.com/office/powerpoint/2010/main" val="30916816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xfrm>
            <a:off x="3827463" y="9372600"/>
            <a:ext cx="2928937" cy="49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742950" indent="-28575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ts val="588"/>
              </a:spcBef>
              <a:spcAft>
                <a:spcPts val="588"/>
              </a:spcAft>
              <a:buClr>
                <a:schemeClr val="tx2"/>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spcAft>
                <a:spcPct val="0"/>
              </a:spcAft>
              <a:buClrTx/>
              <a:buSzTx/>
              <a:buFontTx/>
              <a:buNone/>
            </a:pPr>
            <a:fld id="{6C29621A-53D1-48C0-8685-D4C22CE96A82}" type="slidenum">
              <a:rPr lang="en-US" altLang="zh-CN" sz="1200">
                <a:latin typeface="Times New Roman" panose="02020603050405020304" pitchFamily="18" charset="0"/>
              </a:rPr>
              <a:pPr>
                <a:lnSpc>
                  <a:spcPct val="100000"/>
                </a:lnSpc>
                <a:spcBef>
                  <a:spcPct val="0"/>
                </a:spcBef>
                <a:spcAft>
                  <a:spcPct val="0"/>
                </a:spcAft>
                <a:buClrTx/>
                <a:buSzTx/>
                <a:buFontTx/>
                <a:buNone/>
              </a:pPr>
              <a:t>36</a:t>
            </a:fld>
            <a:endParaRPr lang="en-US" altLang="zh-CN" sz="12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xfrm>
            <a:off x="709613" y="739775"/>
            <a:ext cx="5340350" cy="3698875"/>
          </a:xfrm>
          <a:ln/>
        </p:spPr>
      </p:sp>
      <p:sp>
        <p:nvSpPr>
          <p:cNvPr id="67588" name="Rectangle 3"/>
          <p:cNvSpPr>
            <a:spLocks noGrp="1" noChangeArrowheads="1"/>
          </p:cNvSpPr>
          <p:nvPr>
            <p:ph type="body" idx="1"/>
          </p:nvPr>
        </p:nvSpPr>
        <p:spPr>
          <a:xfrm>
            <a:off x="677863" y="4686300"/>
            <a:ext cx="5403850" cy="444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131" tIns="44065" rIns="88131" bIns="44065"/>
          <a:lstStyle/>
          <a:p>
            <a:r>
              <a:rPr lang="zh-CN" altLang="en-US" dirty="0" smtClean="0"/>
              <a:t>那么，对于一个具体的程序需求，我们如何做开发呢？</a:t>
            </a:r>
            <a:endParaRPr lang="en-US" altLang="zh-CN" dirty="0" smtClean="0"/>
          </a:p>
          <a:p>
            <a:r>
              <a:rPr lang="zh-CN" altLang="en-US" dirty="0" smtClean="0"/>
              <a:t>第一步，分析</a:t>
            </a:r>
            <a:r>
              <a:rPr lang="en-US" altLang="zh-CN" dirty="0" smtClean="0"/>
              <a:t>——</a:t>
            </a:r>
            <a:r>
              <a:rPr lang="zh-CN" altLang="en-US" dirty="0" smtClean="0"/>
              <a:t>做什么</a:t>
            </a:r>
            <a:endParaRPr lang="en-US" altLang="zh-CN" dirty="0" smtClean="0"/>
          </a:p>
          <a:p>
            <a:r>
              <a:rPr lang="zh-CN" altLang="en-US" dirty="0" smtClean="0"/>
              <a:t>第二部，设计</a:t>
            </a:r>
            <a:r>
              <a:rPr lang="en-US" altLang="zh-CN" dirty="0" smtClean="0"/>
              <a:t>——</a:t>
            </a:r>
            <a:r>
              <a:rPr lang="zh-CN" altLang="en-US" dirty="0" smtClean="0"/>
              <a:t>怎么做</a:t>
            </a:r>
            <a:endParaRPr lang="en-US" altLang="zh-CN" dirty="0" smtClean="0"/>
          </a:p>
          <a:p>
            <a:r>
              <a:rPr lang="zh-CN" altLang="en-US" dirty="0" smtClean="0"/>
              <a:t>第三步，编码</a:t>
            </a:r>
            <a:r>
              <a:rPr lang="en-US" altLang="zh-CN" dirty="0" smtClean="0"/>
              <a:t>——</a:t>
            </a:r>
            <a:r>
              <a:rPr lang="zh-CN" altLang="en-US" dirty="0" smtClean="0"/>
              <a:t>对具体设计进行实现，</a:t>
            </a:r>
            <a:endParaRPr lang="en-US" altLang="zh-CN" dirty="0" smtClean="0"/>
          </a:p>
          <a:p>
            <a:r>
              <a:rPr lang="zh-CN" altLang="en-US" dirty="0" smtClean="0"/>
              <a:t>编码完成后，进行编译链接，首先把源程序翻译成</a:t>
            </a:r>
            <a:r>
              <a:rPr lang="zh-CN" altLang="zh-CN" sz="1200" b="1" dirty="0" smtClean="0">
                <a:latin typeface="Times New Roman" panose="02020603050405020304" pitchFamily="18" charset="0"/>
                <a:ea typeface="黑体" panose="02010609060101010101" pitchFamily="49" charset="-122"/>
                <a:cs typeface="Times New Roman" panose="02020603050405020304" pitchFamily="18" charset="0"/>
              </a:rPr>
              <a:t>逻辑上等价的</a:t>
            </a:r>
            <a:r>
              <a:rPr lang="zh-CN" altLang="en-US" sz="1200" b="1" dirty="0" smtClean="0">
                <a:latin typeface="Times New Roman" panose="02020603050405020304" pitchFamily="18" charset="0"/>
                <a:ea typeface="黑体" panose="02010609060101010101" pitchFamily="49" charset="-122"/>
                <a:cs typeface="Times New Roman" panose="02020603050405020304" pitchFamily="18" charset="0"/>
              </a:rPr>
              <a:t>机器语言表示的目标程序</a:t>
            </a:r>
            <a:r>
              <a:rPr lang="zh-CN" altLang="en-US" sz="1200" b="0" dirty="0" smtClean="0">
                <a:latin typeface="Times New Roman" pitchFamily="18" charset="0"/>
                <a:ea typeface="+mn-ea"/>
                <a:cs typeface="+mn-cs"/>
              </a:rPr>
              <a:t>，生成</a:t>
            </a:r>
            <a:r>
              <a:rPr lang="en-US" altLang="zh-CN" sz="1200" b="0" dirty="0" err="1" smtClean="0">
                <a:latin typeface="Times New Roman" pitchFamily="18" charset="0"/>
                <a:ea typeface="+mn-ea"/>
                <a:cs typeface="+mn-cs"/>
              </a:rPr>
              <a:t>obj</a:t>
            </a:r>
            <a:r>
              <a:rPr lang="zh-CN" altLang="en-US" sz="1200" b="0" dirty="0" smtClean="0">
                <a:latin typeface="Times New Roman" pitchFamily="18" charset="0"/>
                <a:ea typeface="+mn-ea"/>
                <a:cs typeface="+mn-cs"/>
              </a:rPr>
              <a:t>文件</a:t>
            </a:r>
            <a:endParaRPr lang="en-US" altLang="zh-CN" sz="1200" b="0" dirty="0" smtClean="0">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smtClean="0">
                <a:latin typeface="Times New Roman" pitchFamily="18" charset="0"/>
                <a:ea typeface="+mn-ea"/>
                <a:cs typeface="+mn-cs"/>
              </a:rPr>
              <a:t>然后</a:t>
            </a:r>
            <a:r>
              <a:rPr lang="zh-CN" altLang="en-US" sz="1200" b="1" dirty="0" smtClean="0">
                <a:latin typeface="Times New Roman" panose="02020603050405020304" pitchFamily="18" charset="0"/>
                <a:ea typeface="黑体" panose="02010609060101010101" pitchFamily="49" charset="-122"/>
                <a:cs typeface="Times New Roman" panose="02020603050405020304" pitchFamily="18" charset="0"/>
              </a:rPr>
              <a:t>把</a:t>
            </a:r>
            <a:r>
              <a:rPr lang="zh-CN" altLang="en-US" sz="1200" b="1" dirty="0" smtClean="0">
                <a:latin typeface="Arial" panose="020B0604020202020204" pitchFamily="34" charset="0"/>
                <a:ea typeface="黑体" panose="02010609060101010101" pitchFamily="49" charset="-122"/>
                <a:cs typeface="Arial" panose="020B0604020202020204" pitchFamily="34" charset="0"/>
              </a:rPr>
              <a:t>程序调用的库函数链接到目标程序中，生成可被</a:t>
            </a:r>
            <a:r>
              <a:rPr lang="en-US" altLang="zh-CN" sz="1200" b="1" dirty="0" smtClean="0">
                <a:latin typeface="Arial" panose="020B0604020202020204" pitchFamily="34" charset="0"/>
                <a:ea typeface="黑体" panose="02010609060101010101" pitchFamily="49" charset="-122"/>
                <a:cs typeface="Arial" panose="020B0604020202020204" pitchFamily="34" charset="0"/>
              </a:rPr>
              <a:t>OS</a:t>
            </a:r>
            <a:r>
              <a:rPr lang="zh-CN" altLang="en-US" sz="1200" b="1" dirty="0" smtClean="0">
                <a:latin typeface="Arial" panose="020B0604020202020204" pitchFamily="34" charset="0"/>
                <a:ea typeface="黑体" panose="02010609060101010101" pitchFamily="49" charset="-122"/>
                <a:cs typeface="Arial" panose="020B0604020202020204" pitchFamily="34" charset="0"/>
              </a:rPr>
              <a:t>执行的程序。</a:t>
            </a:r>
            <a:endParaRPr lang="en-US" altLang="zh-CN" sz="1200" b="1" dirty="0" smtClean="0">
              <a:latin typeface="Arial" panose="020B0604020202020204" pitchFamily="34" charset="0"/>
              <a:ea typeface="黑体" panose="02010609060101010101" pitchFamily="49" charset="-122"/>
              <a:cs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smtClean="0">
                <a:latin typeface="Arial" panose="020B0604020202020204" pitchFamily="34" charset="0"/>
                <a:ea typeface="黑体" panose="02010609060101010101" pitchFamily="49" charset="-122"/>
                <a:cs typeface="Arial" panose="020B0604020202020204" pitchFamily="34" charset="0"/>
              </a:rPr>
              <a:t>后面就是运行、调试和维护阶段。</a:t>
            </a:r>
            <a:endParaRPr lang="en-US" altLang="zh-CN" sz="1200" b="1" dirty="0" smtClean="0">
              <a:latin typeface="Arial" panose="020B0604020202020204" pitchFamily="34" charset="0"/>
              <a:ea typeface="黑体" panose="02010609060101010101" pitchFamily="49" charset="-122"/>
              <a:cs typeface="Arial" panose="020B0604020202020204" pitchFamily="34" charset="0"/>
            </a:endParaRPr>
          </a:p>
          <a:p>
            <a:endParaRPr lang="en-US" altLang="zh-CN" sz="12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第一章的学习内容到此结束，有什么问题欢迎大家踊跃提问，谢谢大家。</a:t>
            </a:r>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37</a:t>
            </a:fld>
            <a:endParaRPr lang="en-US" altLang="zh-CN"/>
          </a:p>
        </p:txBody>
      </p:sp>
    </p:spTree>
    <p:extLst>
      <p:ext uri="{BB962C8B-B14F-4D97-AF65-F5344CB8AC3E}">
        <p14:creationId xmlns:p14="http://schemas.microsoft.com/office/powerpoint/2010/main" val="2778746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38</a:t>
            </a:fld>
            <a:endParaRPr lang="en-US" altLang="zh-CN"/>
          </a:p>
        </p:txBody>
      </p:sp>
    </p:spTree>
    <p:extLst>
      <p:ext uri="{BB962C8B-B14F-4D97-AF65-F5344CB8AC3E}">
        <p14:creationId xmlns:p14="http://schemas.microsoft.com/office/powerpoint/2010/main" val="44951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747C7B4-3118-4BD9-BFDF-DBFB6338E769}" type="slidenum">
              <a:rPr lang="zh-CN" altLang="en-US" smtClean="0"/>
              <a:pPr>
                <a:defRPr/>
              </a:pPr>
              <a:t>39</a:t>
            </a:fld>
            <a:endParaRPr lang="en-US" altLang="zh-CN"/>
          </a:p>
        </p:txBody>
      </p:sp>
    </p:spTree>
    <p:extLst>
      <p:ext uri="{BB962C8B-B14F-4D97-AF65-F5344CB8AC3E}">
        <p14:creationId xmlns:p14="http://schemas.microsoft.com/office/powerpoint/2010/main" val="1755728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矩形 2"/>
          <p:cNvSpPr/>
          <p:nvPr/>
        </p:nvSpPr>
        <p:spPr>
          <a:xfrm>
            <a:off x="742950" y="3197225"/>
            <a:ext cx="84201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2" name="标题 1"/>
          <p:cNvSpPr>
            <a:spLocks noGrp="1"/>
          </p:cNvSpPr>
          <p:nvPr>
            <p:ph type="ctrTitle"/>
          </p:nvPr>
        </p:nvSpPr>
        <p:spPr>
          <a:xfrm>
            <a:off x="742950" y="1676401"/>
            <a:ext cx="8420100" cy="1538286"/>
          </a:xfrm>
        </p:spPr>
        <p:txBody>
          <a:bodyPr anchor="b"/>
          <a:lstStyle/>
          <a:p>
            <a:r>
              <a:rPr lang="zh-CN" altLang="en-US" dirty="0" smtClean="0"/>
              <a:t>单击此处编辑母版标题样式</a:t>
            </a:r>
            <a:endParaRPr lang="en-US" dirty="0"/>
          </a:p>
        </p:txBody>
      </p:sp>
      <p:sp>
        <p:nvSpPr>
          <p:cNvPr id="4" name="日期占位符 3"/>
          <p:cNvSpPr>
            <a:spLocks noGrp="1"/>
          </p:cNvSpPr>
          <p:nvPr>
            <p:ph type="dt" sz="half" idx="10"/>
          </p:nvPr>
        </p:nvSpPr>
        <p:spPr>
          <a:xfrm>
            <a:off x="82550" y="6400800"/>
            <a:ext cx="3467100" cy="284163"/>
          </a:xfrm>
          <a:prstGeom prst="rect">
            <a:avLst/>
          </a:prstGeom>
        </p:spPr>
        <p:txBody>
          <a:bodyPr vert="horz" wrap="square" lIns="91440" tIns="45720" rIns="91440" bIns="45720" numCol="1" anchor="t" anchorCtr="0" compatLnSpc="1">
            <a:prstTxWarp prst="textNoShape">
              <a:avLst/>
            </a:prstTxWarp>
          </a:bodyPr>
          <a:lstStyle>
            <a:lvl1pPr>
              <a:lnSpc>
                <a:spcPct val="90000"/>
              </a:lnSpc>
              <a:spcBef>
                <a:spcPts val="588"/>
              </a:spcBef>
              <a:spcAft>
                <a:spcPts val="588"/>
              </a:spcAft>
              <a:buClr>
                <a:schemeClr val="tx2"/>
              </a:buClr>
              <a:buSzPct val="80000"/>
              <a:buFont typeface="Wingdings" panose="05000000000000000000" pitchFamily="2" charset="2"/>
              <a:buNone/>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084887C9-8A12-43B8-98CC-7532E1666D6D}" type="slidenum">
              <a:rPr lang="en-US" altLang="zh-CN"/>
              <a:pPr>
                <a:defRPr/>
              </a:pPr>
              <a:t>‹#›</a:t>
            </a:fld>
            <a:endParaRPr lang="zh-CN" altLang="en-US"/>
          </a:p>
        </p:txBody>
      </p:sp>
    </p:spTree>
    <p:extLst>
      <p:ext uri="{BB962C8B-B14F-4D97-AF65-F5344CB8AC3E}">
        <p14:creationId xmlns:p14="http://schemas.microsoft.com/office/powerpoint/2010/main" val="1225676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p:nvPr/>
        </p:nvSpPr>
        <p:spPr>
          <a:xfrm>
            <a:off x="495300" y="1411288"/>
            <a:ext cx="89154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5" name="页脚占位符 6"/>
          <p:cNvSpPr>
            <a:spLocks noGrp="1"/>
          </p:cNvSpPr>
          <p:nvPr userDrawn="1"/>
        </p:nvSpPr>
        <p:spPr>
          <a:xfrm>
            <a:off x="71438" y="6453188"/>
            <a:ext cx="2144712" cy="404812"/>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a:lstStyle>
          <a:p>
            <a:pPr>
              <a:lnSpc>
                <a:spcPct val="90000"/>
              </a:lnSpc>
              <a:buClr>
                <a:schemeClr val="tx2"/>
              </a:buClr>
              <a:buSzPct val="80000"/>
              <a:buFont typeface="Wingdings" panose="05000000000000000000" pitchFamily="2" charset="2"/>
              <a:buNone/>
              <a:defRPr/>
            </a:pPr>
            <a:r>
              <a:rPr lang="en-US" altLang="zh-CN" sz="1400" dirty="0" smtClean="0">
                <a:solidFill>
                  <a:srgbClr val="663300"/>
                </a:solidFill>
                <a:latin typeface="Arial" pitchFamily="34" charset="0"/>
                <a:ea typeface="黑体" pitchFamily="49" charset="-122"/>
                <a:cs typeface="Arial" pitchFamily="34" charset="0"/>
              </a:rPr>
              <a:t>C</a:t>
            </a:r>
            <a:r>
              <a:rPr lang="zh-CN" altLang="en-US" sz="1400" dirty="0" smtClean="0">
                <a:solidFill>
                  <a:srgbClr val="663300"/>
                </a:solidFill>
                <a:latin typeface="Arial" pitchFamily="34" charset="0"/>
                <a:ea typeface="黑体" pitchFamily="49" charset="-122"/>
                <a:cs typeface="Arial" pitchFamily="34" charset="0"/>
              </a:rPr>
              <a:t>语言程序设计</a:t>
            </a:r>
            <a:endParaRPr lang="en-US" altLang="zh-CN" sz="1400" dirty="0">
              <a:solidFill>
                <a:srgbClr val="663300"/>
              </a:solidFill>
              <a:latin typeface="Arial" pitchFamily="34" charset="0"/>
              <a:ea typeface="黑体" pitchFamily="49" charset="-122"/>
              <a:cs typeface="Arial" pitchFamily="34" charset="0"/>
            </a:endParaRPr>
          </a:p>
        </p:txBody>
      </p:sp>
      <p:sp>
        <p:nvSpPr>
          <p:cNvPr id="2" name="标题 1"/>
          <p:cNvSpPr>
            <a:spLocks noGrp="1"/>
          </p:cNvSpPr>
          <p:nvPr>
            <p:ph type="title"/>
          </p:nvPr>
        </p:nvSpPr>
        <p:spPr>
          <a:xfrm>
            <a:off x="495300" y="269776"/>
            <a:ext cx="8915400" cy="1143000"/>
          </a:xfrm>
        </p:spPr>
        <p:txBody>
          <a:bodyPr/>
          <a:lstStyle>
            <a:lvl1pPr>
              <a:defRPr>
                <a:latin typeface="黑体" pitchFamily="49" charset="-122"/>
                <a:ea typeface="黑体" pitchFamily="49" charset="-122"/>
              </a:defRPr>
            </a:lvl1pPr>
          </a:lstStyle>
          <a:p>
            <a:r>
              <a:rPr lang="zh-CN" altLang="en-US" dirty="0" smtClean="0"/>
              <a:t>单击此处编辑母版标题样式</a:t>
            </a:r>
            <a:endParaRPr lang="en-US" dirty="0"/>
          </a:p>
        </p:txBody>
      </p:sp>
      <p:sp>
        <p:nvSpPr>
          <p:cNvPr id="3" name="内容占位符 2"/>
          <p:cNvSpPr>
            <a:spLocks noGrp="1"/>
          </p:cNvSpPr>
          <p:nvPr>
            <p:ph idx="1"/>
          </p:nvPr>
        </p:nvSpPr>
        <p:spPr/>
        <p:txBody>
          <a:bodyPr/>
          <a:lstStyle>
            <a:lvl1pPr>
              <a:lnSpc>
                <a:spcPct val="120000"/>
              </a:lnSpc>
              <a:spcBef>
                <a:spcPts val="600"/>
              </a:spcBef>
              <a:spcAft>
                <a:spcPts val="600"/>
              </a:spcAft>
              <a:defRPr sz="2800">
                <a:latin typeface="Times New Roman" pitchFamily="18" charset="0"/>
                <a:cs typeface="Times New Roman" pitchFamily="18" charset="0"/>
              </a:defRPr>
            </a:lvl1pPr>
            <a:lvl2pPr>
              <a:lnSpc>
                <a:spcPct val="120000"/>
              </a:lnSpc>
              <a:spcBef>
                <a:spcPts val="600"/>
              </a:spcBef>
              <a:spcAft>
                <a:spcPts val="600"/>
              </a:spcAft>
              <a:defRPr sz="2400">
                <a:solidFill>
                  <a:srgbClr val="333399"/>
                </a:solidFill>
                <a:latin typeface="Times New Roman" pitchFamily="18" charset="0"/>
                <a:cs typeface="Times New Roman" pitchFamily="18" charset="0"/>
              </a:defRPr>
            </a:lvl2pPr>
            <a:lvl3pPr>
              <a:lnSpc>
                <a:spcPct val="120000"/>
              </a:lnSpc>
              <a:spcBef>
                <a:spcPts val="600"/>
              </a:spcBef>
              <a:spcAft>
                <a:spcPts val="600"/>
              </a:spcAft>
              <a:defRPr sz="2000">
                <a:solidFill>
                  <a:srgbClr val="3333CC"/>
                </a:solidFill>
                <a:latin typeface="Times New Roman" pitchFamily="18" charset="0"/>
                <a:cs typeface="Times New Roman" pitchFamily="18" charset="0"/>
              </a:defRPr>
            </a:lvl3pPr>
            <a:lvl4pPr>
              <a:lnSpc>
                <a:spcPct val="120000"/>
              </a:lnSpc>
              <a:spcBef>
                <a:spcPts val="600"/>
              </a:spcBef>
              <a:spcAft>
                <a:spcPts val="600"/>
              </a:spcAft>
              <a:defRPr sz="1800">
                <a:latin typeface="Times New Roman" pitchFamily="18" charset="0"/>
                <a:cs typeface="Times New Roman" pitchFamily="18" charset="0"/>
              </a:defRPr>
            </a:lvl4pPr>
            <a:lvl5pPr>
              <a:lnSpc>
                <a:spcPct val="120000"/>
              </a:lnSpc>
              <a:spcBef>
                <a:spcPts val="600"/>
              </a:spcBef>
              <a:spcAft>
                <a:spcPts val="600"/>
              </a:spcAft>
              <a:defRPr sz="1800">
                <a:latin typeface="Times New Roman" pitchFamily="18" charset="0"/>
                <a:cs typeface="Times New Roman"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6" name="页脚占位符 4"/>
          <p:cNvSpPr>
            <a:spLocks noGrp="1"/>
          </p:cNvSpPr>
          <p:nvPr>
            <p:ph type="ftr" sz="quarter" idx="10"/>
          </p:nvPr>
        </p:nvSpPr>
        <p:spPr>
          <a:xfrm>
            <a:off x="3284538" y="6400800"/>
            <a:ext cx="4044950" cy="284163"/>
          </a:xfrm>
        </p:spPr>
        <p:txBody>
          <a:bodyPr/>
          <a:lstStyle>
            <a:lvl1pPr>
              <a:defRPr/>
            </a:lvl1pPr>
          </a:lstStyle>
          <a:p>
            <a:pPr>
              <a:defRPr/>
            </a:pPr>
            <a:endParaRPr lang="en-US" altLang="zh-CN"/>
          </a:p>
        </p:txBody>
      </p:sp>
      <p:sp>
        <p:nvSpPr>
          <p:cNvPr id="7" name="灯片编号占位符 5"/>
          <p:cNvSpPr>
            <a:spLocks noGrp="1"/>
          </p:cNvSpPr>
          <p:nvPr>
            <p:ph type="sldNum" sz="quarter" idx="11"/>
          </p:nvPr>
        </p:nvSpPr>
        <p:spPr>
          <a:xfrm>
            <a:off x="8769350" y="6400800"/>
            <a:ext cx="990600" cy="284163"/>
          </a:xfrm>
        </p:spPr>
        <p:txBody>
          <a:bodyPr/>
          <a:lstStyle>
            <a:lvl1pPr>
              <a:defRPr smtClean="0"/>
            </a:lvl1pPr>
          </a:lstStyle>
          <a:p>
            <a:pPr>
              <a:defRPr/>
            </a:pPr>
            <a:fld id="{A0789521-ADF1-4E21-9693-C47D771CA54A}" type="slidenum">
              <a:rPr lang="en-US" altLang="zh-CN"/>
              <a:pPr>
                <a:defRPr/>
              </a:pPr>
              <a:t>‹#›</a:t>
            </a:fld>
            <a:r>
              <a:rPr lang="en-US" altLang="zh-CN"/>
              <a:t>/37</a:t>
            </a:r>
            <a:endParaRPr lang="zh-CN" altLang="en-US"/>
          </a:p>
        </p:txBody>
      </p:sp>
    </p:spTree>
    <p:extLst>
      <p:ext uri="{BB962C8B-B14F-4D97-AF65-F5344CB8AC3E}">
        <p14:creationId xmlns:p14="http://schemas.microsoft.com/office/powerpoint/2010/main" val="33207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p:nvSpPr>
        <p:spPr>
          <a:xfrm>
            <a:off x="495300" y="1411288"/>
            <a:ext cx="89154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4" name="页脚占位符 3"/>
          <p:cNvSpPr>
            <a:spLocks noGrp="1"/>
          </p:cNvSpPr>
          <p:nvPr>
            <p:ph type="ftr" sz="quarter" idx="10"/>
          </p:nvPr>
        </p:nvSpPr>
        <p:spPr/>
        <p:txBody>
          <a:bodyPr/>
          <a:lstStyle>
            <a:lvl1pPr>
              <a:defRPr/>
            </a:lvl1pPr>
          </a:lstStyle>
          <a:p>
            <a:pPr>
              <a:defRPr/>
            </a:pPr>
            <a:endParaRPr lang="en-US" altLang="zh-CN"/>
          </a:p>
        </p:txBody>
      </p:sp>
      <p:sp>
        <p:nvSpPr>
          <p:cNvPr id="5" name="灯片编号占位符 4"/>
          <p:cNvSpPr>
            <a:spLocks noGrp="1"/>
          </p:cNvSpPr>
          <p:nvPr>
            <p:ph type="sldNum" sz="quarter" idx="11"/>
          </p:nvPr>
        </p:nvSpPr>
        <p:spPr/>
        <p:txBody>
          <a:bodyPr/>
          <a:lstStyle>
            <a:lvl1pPr>
              <a:defRPr smtClean="0"/>
            </a:lvl1pPr>
          </a:lstStyle>
          <a:p>
            <a:pPr>
              <a:defRPr/>
            </a:pPr>
            <a:fld id="{7A00856F-5BE9-4300-A1E0-468BC316A12E}" type="slidenum">
              <a:rPr lang="en-US" altLang="zh-CN"/>
              <a:pPr>
                <a:defRPr/>
              </a:pPr>
              <a:t>‹#›</a:t>
            </a:fld>
            <a:r>
              <a:rPr lang="en-US" altLang="zh-CN"/>
              <a:t>/37</a:t>
            </a:r>
            <a:endParaRPr lang="zh-CN" altLang="en-US"/>
          </a:p>
        </p:txBody>
      </p:sp>
    </p:spTree>
    <p:extLst>
      <p:ext uri="{BB962C8B-B14F-4D97-AF65-F5344CB8AC3E}">
        <p14:creationId xmlns:p14="http://schemas.microsoft.com/office/powerpoint/2010/main" val="30820975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0" y="6678613"/>
            <a:ext cx="9906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1027" name="标题占位符 1"/>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文本占位符 2"/>
          <p:cNvSpPr>
            <a:spLocks noGrp="1"/>
          </p:cNvSpPr>
          <p:nvPr>
            <p:ph type="body" idx="1"/>
          </p:nvPr>
        </p:nvSpPr>
        <p:spPr bwMode="auto">
          <a:xfrm>
            <a:off x="495300" y="1600200"/>
            <a:ext cx="89154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5" name="页脚占位符 4"/>
          <p:cNvSpPr>
            <a:spLocks noGrp="1"/>
          </p:cNvSpPr>
          <p:nvPr>
            <p:ph type="ftr" sz="quarter" idx="3"/>
          </p:nvPr>
        </p:nvSpPr>
        <p:spPr>
          <a:xfrm>
            <a:off x="2576513" y="6400800"/>
            <a:ext cx="4044950" cy="284163"/>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90000"/>
              </a:lnSpc>
              <a:spcBef>
                <a:spcPts val="588"/>
              </a:spcBef>
              <a:spcAft>
                <a:spcPts val="588"/>
              </a:spcAft>
              <a:buClr>
                <a:schemeClr val="tx2"/>
              </a:buClr>
              <a:buSzPct val="80000"/>
              <a:buFont typeface="Wingdings" panose="05000000000000000000" pitchFamily="2" charset="2"/>
              <a:buNone/>
              <a:defRPr sz="1100">
                <a:solidFill>
                  <a:srgbClr val="636363"/>
                </a:solidFill>
              </a:defRPr>
            </a:lvl1pPr>
          </a:lstStyle>
          <a:p>
            <a:pPr>
              <a:defRPr/>
            </a:pPr>
            <a:endParaRPr lang="en-US" altLang="zh-CN"/>
          </a:p>
        </p:txBody>
      </p:sp>
      <p:sp>
        <p:nvSpPr>
          <p:cNvPr id="6" name="灯片编号占位符 5"/>
          <p:cNvSpPr>
            <a:spLocks noGrp="1"/>
          </p:cNvSpPr>
          <p:nvPr>
            <p:ph type="sldNum" sz="quarter" idx="4"/>
          </p:nvPr>
        </p:nvSpPr>
        <p:spPr>
          <a:xfrm>
            <a:off x="8858250" y="6400800"/>
            <a:ext cx="990600" cy="284163"/>
          </a:xfrm>
          <a:prstGeom prst="rect">
            <a:avLst/>
          </a:prstGeom>
          <a:noFill/>
        </p:spPr>
        <p:txBody>
          <a:bodyPr vert="horz" wrap="square" lIns="45720" tIns="45720" rIns="45720" bIns="45720" numCol="1" anchor="ctr" anchorCtr="0" compatLnSpc="1">
            <a:prstTxWarp prst="textNoShape">
              <a:avLst/>
            </a:prstTxWarp>
          </a:bodyPr>
          <a:lstStyle>
            <a:lvl1pPr algn="ctr" eaLnBrk="1" hangingPunct="1">
              <a:lnSpc>
                <a:spcPct val="90000"/>
              </a:lnSpc>
              <a:spcBef>
                <a:spcPts val="588"/>
              </a:spcBef>
              <a:spcAft>
                <a:spcPts val="588"/>
              </a:spcAft>
              <a:buClr>
                <a:schemeClr val="tx2"/>
              </a:buClr>
              <a:buSzPct val="80000"/>
              <a:buFont typeface="Wingdings" panose="05000000000000000000" pitchFamily="2" charset="2"/>
              <a:buNone/>
              <a:defRPr sz="1100" smtClean="0">
                <a:solidFill>
                  <a:srgbClr val="636363"/>
                </a:solidFill>
              </a:defRPr>
            </a:lvl1pPr>
          </a:lstStyle>
          <a:p>
            <a:pPr>
              <a:defRPr/>
            </a:pPr>
            <a:fld id="{864D2B1F-D03E-4C97-97ED-E704A1B247BA}" type="slidenum">
              <a:rPr lang="en-US" altLang="zh-CN"/>
              <a:pPr>
                <a:defRPr/>
              </a:pPr>
              <a:t>‹#›</a:t>
            </a:fld>
            <a:r>
              <a:rPr lang="en-US" altLang="zh-CN"/>
              <a:t>/37</a:t>
            </a:r>
            <a:endParaRPr lang="zh-CN" altLang="en-US"/>
          </a:p>
        </p:txBody>
      </p:sp>
      <p:sp>
        <p:nvSpPr>
          <p:cNvPr id="8" name="矩形 7"/>
          <p:cNvSpPr/>
          <p:nvPr/>
        </p:nvSpPr>
        <p:spPr>
          <a:xfrm>
            <a:off x="0" y="0"/>
            <a:ext cx="9906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9" name="页脚占位符 6"/>
          <p:cNvSpPr>
            <a:spLocks noGrp="1"/>
          </p:cNvSpPr>
          <p:nvPr userDrawn="1"/>
        </p:nvSpPr>
        <p:spPr>
          <a:xfrm>
            <a:off x="7761312" y="115888"/>
            <a:ext cx="2160563" cy="57785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a:lstStyle>
          <a:p>
            <a:pPr algn="ctr">
              <a:lnSpc>
                <a:spcPct val="90000"/>
              </a:lnSpc>
              <a:buClr>
                <a:schemeClr val="tx2"/>
              </a:buClr>
              <a:buSzPct val="80000"/>
              <a:buFont typeface="Wingdings" panose="05000000000000000000" pitchFamily="2" charset="2"/>
              <a:buNone/>
              <a:defRPr/>
            </a:pPr>
            <a:r>
              <a:rPr lang="zh-CN" altLang="en-US" sz="1400" dirty="0" smtClean="0">
                <a:solidFill>
                  <a:srgbClr val="663300"/>
                </a:solidFill>
                <a:latin typeface="Arial" pitchFamily="34" charset="0"/>
                <a:ea typeface="黑体" pitchFamily="49" charset="-122"/>
                <a:cs typeface="Arial" pitchFamily="34" charset="0"/>
              </a:rPr>
              <a:t>第</a:t>
            </a:r>
            <a:r>
              <a:rPr lang="en-US" altLang="zh-CN" sz="1400" dirty="0" smtClean="0">
                <a:solidFill>
                  <a:srgbClr val="663300"/>
                </a:solidFill>
                <a:latin typeface="Arial" pitchFamily="34" charset="0"/>
                <a:ea typeface="黑体" pitchFamily="49" charset="-122"/>
                <a:cs typeface="Arial" pitchFamily="34" charset="0"/>
              </a:rPr>
              <a:t>1</a:t>
            </a:r>
            <a:r>
              <a:rPr lang="zh-CN" altLang="en-US" sz="1400" dirty="0" smtClean="0">
                <a:solidFill>
                  <a:srgbClr val="663300"/>
                </a:solidFill>
                <a:latin typeface="Arial" pitchFamily="34" charset="0"/>
                <a:ea typeface="黑体" pitchFamily="49" charset="-122"/>
                <a:cs typeface="Arial" pitchFamily="34" charset="0"/>
              </a:rPr>
              <a:t>章 程序设计基本知识</a:t>
            </a:r>
            <a:endParaRPr lang="en-US" altLang="zh-CN" sz="2000" dirty="0" smtClean="0">
              <a:latin typeface="华文行楷" pitchFamily="2" charset="-122"/>
              <a:ea typeface="华文行楷" pitchFamily="2" charset="-122"/>
            </a:endParaRPr>
          </a:p>
          <a:p>
            <a:pPr>
              <a:lnSpc>
                <a:spcPct val="90000"/>
              </a:lnSpc>
              <a:buClr>
                <a:schemeClr val="tx2"/>
              </a:buClr>
              <a:buSzPct val="80000"/>
              <a:buFont typeface="Wingdings" panose="05000000000000000000" pitchFamily="2" charset="2"/>
              <a:buNone/>
              <a:defRPr/>
            </a:pPr>
            <a:endParaRPr lang="en-US" altLang="zh-CN" sz="2000" dirty="0">
              <a:latin typeface="楷体_GB2312" pitchFamily="49" charset="-122"/>
              <a:ea typeface="楷体_GB2312" pitchFamily="49" charset="-122"/>
            </a:endParaRPr>
          </a:p>
        </p:txBody>
      </p:sp>
      <p:sp>
        <p:nvSpPr>
          <p:cNvPr id="10" name="页脚占位符 6"/>
          <p:cNvSpPr>
            <a:spLocks noGrp="1"/>
          </p:cNvSpPr>
          <p:nvPr userDrawn="1"/>
        </p:nvSpPr>
        <p:spPr>
          <a:xfrm>
            <a:off x="71438" y="6453188"/>
            <a:ext cx="2144712" cy="404812"/>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a:lstStyle>
          <a:p>
            <a:pPr>
              <a:lnSpc>
                <a:spcPct val="90000"/>
              </a:lnSpc>
              <a:buClr>
                <a:schemeClr val="tx2"/>
              </a:buClr>
              <a:buSzPct val="80000"/>
              <a:buFont typeface="Wingdings" panose="05000000000000000000" pitchFamily="2" charset="2"/>
              <a:buNone/>
              <a:defRPr/>
            </a:pPr>
            <a:r>
              <a:rPr lang="en-US" altLang="zh-CN" sz="1400" dirty="0" smtClean="0">
                <a:solidFill>
                  <a:srgbClr val="663300"/>
                </a:solidFill>
                <a:latin typeface="Arial" pitchFamily="34" charset="0"/>
                <a:ea typeface="黑体" pitchFamily="49" charset="-122"/>
                <a:cs typeface="Arial" pitchFamily="34" charset="0"/>
              </a:rPr>
              <a:t>C</a:t>
            </a:r>
            <a:r>
              <a:rPr lang="zh-CN" altLang="en-US" sz="1400" dirty="0" smtClean="0">
                <a:solidFill>
                  <a:srgbClr val="663300"/>
                </a:solidFill>
                <a:latin typeface="Arial" pitchFamily="34" charset="0"/>
                <a:ea typeface="黑体" pitchFamily="49" charset="-122"/>
                <a:cs typeface="Arial" pitchFamily="34" charset="0"/>
              </a:rPr>
              <a:t>语言程序设计</a:t>
            </a:r>
            <a:endParaRPr lang="en-US" altLang="zh-CN" sz="1400" dirty="0">
              <a:solidFill>
                <a:srgbClr val="663300"/>
              </a:solidFill>
              <a:latin typeface="Arial" pitchFamily="34" charset="0"/>
              <a:ea typeface="黑体" pitchFamily="49" charset="-122"/>
              <a:cs typeface="Arial" pitchFamily="34" charset="0"/>
            </a:endParaRPr>
          </a:p>
        </p:txBody>
      </p:sp>
    </p:spTree>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2"/>
          </a:solidFill>
          <a:latin typeface="Arial" pitchFamily="34" charset="0"/>
          <a:ea typeface="+mn-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5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kern="1200">
          <a:solidFill>
            <a:srgbClr val="333399"/>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kern="1200">
          <a:solidFill>
            <a:srgbClr val="3333CC"/>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kern="1200">
          <a:solidFill>
            <a:schemeClr val="tx1"/>
          </a:solidFill>
          <a:latin typeface="Times New Roman" pitchFamily="18" charset="0"/>
          <a:ea typeface="+mn-ea"/>
          <a:cs typeface="Times New Roman" pitchFamily="18" charset="0"/>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my.visualstudio.com/Downloads?q=visual%20studio%202017"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3.gif"/><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4.png"/><Relationship Id="rId4"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4"/>
          <p:cNvSpPr txBox="1">
            <a:spLocks noChangeArrowheads="1"/>
          </p:cNvSpPr>
          <p:nvPr/>
        </p:nvSpPr>
        <p:spPr bwMode="auto">
          <a:xfrm>
            <a:off x="273050" y="1919288"/>
            <a:ext cx="9632950"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ts val="600"/>
              </a:spcBef>
              <a:spcAft>
                <a:spcPts val="588"/>
              </a:spcAft>
              <a:buSzPct val="80000"/>
              <a:buNone/>
            </a:pPr>
            <a:r>
              <a:rPr lang="en-US" altLang="zh-CN" sz="6600" dirty="0" smtClean="0">
                <a:latin typeface="Arial" panose="020B0604020202020204" pitchFamily="34" charset="0"/>
                <a:ea typeface="黑体" panose="02010609060101010101" pitchFamily="49" charset="-122"/>
                <a:cs typeface="Arial" panose="020B0604020202020204" pitchFamily="34" charset="0"/>
              </a:rPr>
              <a:t>C</a:t>
            </a:r>
            <a:r>
              <a:rPr lang="zh-CN" altLang="en-US" sz="6600" dirty="0" smtClean="0">
                <a:latin typeface="Arial" panose="020B0604020202020204" pitchFamily="34" charset="0"/>
                <a:ea typeface="黑体" panose="02010609060101010101" pitchFamily="49" charset="-122"/>
                <a:cs typeface="Arial" panose="020B0604020202020204" pitchFamily="34" charset="0"/>
              </a:rPr>
              <a:t>语言程序设计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课程定位与目标</a:t>
            </a:r>
          </a:p>
        </p:txBody>
      </p:sp>
      <p:sp>
        <p:nvSpPr>
          <p:cNvPr id="11267" name="Rectangle 3"/>
          <p:cNvSpPr>
            <a:spLocks noGrp="1" noChangeArrowheads="1"/>
          </p:cNvSpPr>
          <p:nvPr>
            <p:ph type="body" idx="1"/>
          </p:nvPr>
        </p:nvSpPr>
        <p:spPr>
          <a:xfrm>
            <a:off x="153839" y="1638585"/>
            <a:ext cx="9618042" cy="4536504"/>
          </a:xfrm>
        </p:spPr>
        <p:txBody>
          <a:bodyPr/>
          <a:lstStyle/>
          <a:p>
            <a:pPr marL="533400" indent="-533400" eaLnBrk="1" hangingPunct="1"/>
            <a:r>
              <a:rPr lang="zh-CN" altLang="zh-CN" b="1" dirty="0"/>
              <a:t>课程类别：通识教育</a:t>
            </a:r>
            <a:r>
              <a:rPr lang="zh-CN" altLang="zh-CN" b="1" dirty="0" smtClean="0"/>
              <a:t>课程</a:t>
            </a:r>
            <a:endParaRPr lang="en-US" altLang="zh-CN" b="1" dirty="0" smtClean="0"/>
          </a:p>
          <a:p>
            <a:pPr marL="533400" indent="-533400" eaLnBrk="1" hangingPunct="1"/>
            <a:r>
              <a:rPr lang="zh-CN" altLang="zh-CN" b="1" dirty="0"/>
              <a:t>适用专业</a:t>
            </a:r>
            <a:r>
              <a:rPr lang="zh-CN" altLang="zh-CN" b="1" dirty="0" smtClean="0"/>
              <a:t>：非</a:t>
            </a:r>
            <a:r>
              <a:rPr lang="zh-CN" altLang="zh-CN" b="1" dirty="0"/>
              <a:t>计算机</a:t>
            </a:r>
            <a:r>
              <a:rPr lang="zh-CN" altLang="zh-CN" b="1" dirty="0" smtClean="0"/>
              <a:t>专业</a:t>
            </a:r>
            <a:endParaRPr lang="en-US" altLang="zh-CN" b="1" dirty="0" smtClean="0"/>
          </a:p>
          <a:p>
            <a:pPr marL="533400" indent="-533400" eaLnBrk="1" hangingPunct="1"/>
            <a:r>
              <a:rPr lang="zh-CN" altLang="en-US" b="1" dirty="0" smtClean="0"/>
              <a:t>课程目标：</a:t>
            </a:r>
            <a:endParaRPr lang="en-US" altLang="zh-CN" b="1" dirty="0" smtClean="0"/>
          </a:p>
          <a:p>
            <a:pPr marL="933450" lvl="1" indent="-533400" eaLnBrk="1" hangingPunct="1"/>
            <a:r>
              <a:rPr lang="zh-CN" altLang="zh-CN" dirty="0"/>
              <a:t>掌握</a:t>
            </a:r>
            <a:r>
              <a:rPr lang="en-US" altLang="zh-CN" dirty="0"/>
              <a:t>C</a:t>
            </a:r>
            <a:r>
              <a:rPr lang="zh-CN" altLang="zh-CN" dirty="0"/>
              <a:t>语言的基本语法知识、计算机常用算法和经典算法、基本的程序设计过程和方法，理解利用计算机求解问题的基本特点</a:t>
            </a:r>
            <a:r>
              <a:rPr lang="zh-CN" altLang="zh-CN" dirty="0" smtClean="0"/>
              <a:t>。</a:t>
            </a:r>
            <a:endParaRPr lang="en-US" altLang="zh-CN" dirty="0" smtClean="0"/>
          </a:p>
          <a:p>
            <a:pPr marL="933450" lvl="1" indent="-533400" eaLnBrk="1" hangingPunct="1"/>
            <a:r>
              <a:rPr lang="zh-CN" altLang="zh-CN" dirty="0"/>
              <a:t>具备利用程序设计的方法去分析问题、解决问题的基本能力，具有程序设计的基础编码能力，具有运用</a:t>
            </a:r>
            <a:r>
              <a:rPr lang="zh-CN" altLang="zh-CN" dirty="0" smtClean="0"/>
              <a:t>计算</a:t>
            </a:r>
            <a:r>
              <a:rPr lang="zh-CN" altLang="en-US" dirty="0" smtClean="0"/>
              <a:t>机</a:t>
            </a:r>
            <a:r>
              <a:rPr lang="zh-CN" altLang="zh-CN" dirty="0" smtClean="0"/>
              <a:t>思维</a:t>
            </a:r>
            <a:r>
              <a:rPr lang="zh-CN" altLang="zh-CN" dirty="0"/>
              <a:t>分析和解决本专业实际问题的能力。</a:t>
            </a:r>
          </a:p>
          <a:p>
            <a:pPr marL="0" indent="0" eaLnBrk="1" hangingPunct="1">
              <a:buNone/>
            </a:pPr>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2</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1062215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5160" y="-188770"/>
            <a:ext cx="8915400" cy="1143000"/>
          </a:xfrm>
        </p:spPr>
        <p:txBody>
          <a:bodyPr/>
          <a:lstStyle/>
          <a:p>
            <a:pPr eaLnBrk="1" hangingPunct="1"/>
            <a:r>
              <a:rPr lang="zh-CN" altLang="en-US" dirty="0" smtClean="0"/>
              <a:t>课程主要学习内容</a:t>
            </a:r>
          </a:p>
        </p:txBody>
      </p:sp>
      <p:sp>
        <p:nvSpPr>
          <p:cNvPr id="11267" name="Rectangle 3"/>
          <p:cNvSpPr>
            <a:spLocks noGrp="1" noChangeArrowheads="1"/>
          </p:cNvSpPr>
          <p:nvPr>
            <p:ph type="body" idx="1"/>
          </p:nvPr>
        </p:nvSpPr>
        <p:spPr>
          <a:xfrm>
            <a:off x="153839" y="1638585"/>
            <a:ext cx="9618042" cy="4536504"/>
          </a:xfrm>
        </p:spPr>
        <p:txBody>
          <a:bodyPr/>
          <a:lstStyle/>
          <a:p>
            <a:pPr marL="0" indent="0" eaLnBrk="1" hangingPunct="1">
              <a:buNone/>
            </a:pPr>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618148550"/>
              </p:ext>
            </p:extLst>
          </p:nvPr>
        </p:nvGraphicFramePr>
        <p:xfrm>
          <a:off x="153839" y="719509"/>
          <a:ext cx="9623787" cy="6107861"/>
        </p:xfrm>
        <a:graphic>
          <a:graphicData uri="http://schemas.openxmlformats.org/drawingml/2006/table">
            <a:tbl>
              <a:tblPr firstRow="1" firstCol="1" bandRow="1">
                <a:tableStyleId>{5C22544A-7EE6-4342-B048-85BDC9FD1C3A}</a:tableStyleId>
              </a:tblPr>
              <a:tblGrid>
                <a:gridCol w="2246050">
                  <a:extLst>
                    <a:ext uri="{9D8B030D-6E8A-4147-A177-3AD203B41FA5}">
                      <a16:colId xmlns:a16="http://schemas.microsoft.com/office/drawing/2014/main" val="2252207173"/>
                    </a:ext>
                  </a:extLst>
                </a:gridCol>
                <a:gridCol w="7377737">
                  <a:extLst>
                    <a:ext uri="{9D8B030D-6E8A-4147-A177-3AD203B41FA5}">
                      <a16:colId xmlns:a16="http://schemas.microsoft.com/office/drawing/2014/main" val="2458618303"/>
                    </a:ext>
                  </a:extLst>
                </a:gridCol>
              </a:tblGrid>
              <a:tr h="504048">
                <a:tc>
                  <a:txBody>
                    <a:bodyPr/>
                    <a:lstStyle/>
                    <a:p>
                      <a:pPr algn="ctr">
                        <a:lnSpc>
                          <a:spcPts val="2000"/>
                        </a:lnSpc>
                        <a:spcAft>
                          <a:spcPts val="0"/>
                        </a:spcAft>
                      </a:pPr>
                      <a:r>
                        <a:rPr lang="zh-CN" sz="2400" dirty="0">
                          <a:effectLst/>
                        </a:rPr>
                        <a:t>课程模块</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lnSpc>
                          <a:spcPts val="2000"/>
                        </a:lnSpc>
                        <a:spcAft>
                          <a:spcPts val="0"/>
                        </a:spcAft>
                      </a:pPr>
                      <a:r>
                        <a:rPr lang="zh-CN" sz="2400" dirty="0">
                          <a:effectLst/>
                        </a:rPr>
                        <a:t>学习内容</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4215257219"/>
                  </a:ext>
                </a:extLst>
              </a:tr>
              <a:tr h="190161">
                <a:tc rowSpan="3">
                  <a:txBody>
                    <a:bodyPr/>
                    <a:lstStyle/>
                    <a:p>
                      <a:pPr algn="ctr">
                        <a:spcAft>
                          <a:spcPts val="0"/>
                        </a:spcAft>
                      </a:pPr>
                      <a:r>
                        <a:rPr lang="zh-CN" sz="1600" dirty="0">
                          <a:effectLst/>
                        </a:rPr>
                        <a:t>程序设计基本知识</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程序与程序设计语言。</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532220840"/>
                  </a:ext>
                </a:extLst>
              </a:tr>
              <a:tr h="190161">
                <a:tc vMerge="1">
                  <a:txBody>
                    <a:bodyPr/>
                    <a:lstStyle/>
                    <a:p>
                      <a:endParaRPr lang="zh-CN" altLang="en-US"/>
                    </a:p>
                  </a:txBody>
                  <a:tcPr/>
                </a:tc>
                <a:tc>
                  <a:txBody>
                    <a:bodyPr/>
                    <a:lstStyle/>
                    <a:p>
                      <a:pPr algn="ctr">
                        <a:spcAft>
                          <a:spcPts val="0"/>
                        </a:spcAft>
                      </a:pPr>
                      <a:r>
                        <a:rPr lang="en-US" sz="1200" dirty="0">
                          <a:effectLst/>
                        </a:rPr>
                        <a:t>C</a:t>
                      </a:r>
                      <a:r>
                        <a:rPr lang="zh-CN" sz="1200" dirty="0">
                          <a:effectLst/>
                        </a:rPr>
                        <a:t>语言的发展历史和特点，</a:t>
                      </a:r>
                      <a:r>
                        <a:rPr lang="en-US" sz="1200" dirty="0">
                          <a:effectLst/>
                        </a:rPr>
                        <a:t>C</a:t>
                      </a:r>
                      <a:r>
                        <a:rPr lang="zh-CN" sz="1200" dirty="0">
                          <a:effectLst/>
                        </a:rPr>
                        <a:t>程序的基本结构。</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083287321"/>
                  </a:ext>
                </a:extLst>
              </a:tr>
              <a:tr h="271563">
                <a:tc vMerge="1">
                  <a:txBody>
                    <a:bodyPr/>
                    <a:lstStyle/>
                    <a:p>
                      <a:endParaRPr lang="zh-CN" altLang="en-US"/>
                    </a:p>
                  </a:txBody>
                  <a:tcPr/>
                </a:tc>
                <a:tc>
                  <a:txBody>
                    <a:bodyPr/>
                    <a:lstStyle/>
                    <a:p>
                      <a:pPr algn="ctr">
                        <a:spcAft>
                          <a:spcPts val="0"/>
                        </a:spcAft>
                      </a:pPr>
                      <a:r>
                        <a:rPr lang="zh-CN" sz="1200" dirty="0">
                          <a:effectLst/>
                        </a:rPr>
                        <a:t>实现问题求解的过程，</a:t>
                      </a:r>
                      <a:r>
                        <a:rPr lang="en-US" sz="1200" dirty="0">
                          <a:effectLst/>
                        </a:rPr>
                        <a:t>C</a:t>
                      </a:r>
                      <a:r>
                        <a:rPr lang="zh-CN" sz="1200" dirty="0">
                          <a:effectLst/>
                        </a:rPr>
                        <a:t>语言的运行环境。</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928827296"/>
                  </a:ext>
                </a:extLst>
              </a:tr>
              <a:tr h="190161">
                <a:tc rowSpan="3">
                  <a:txBody>
                    <a:bodyPr/>
                    <a:lstStyle/>
                    <a:p>
                      <a:pPr algn="ctr">
                        <a:spcAft>
                          <a:spcPts val="0"/>
                        </a:spcAft>
                      </a:pPr>
                      <a:r>
                        <a:rPr lang="zh-CN" sz="1600" dirty="0">
                          <a:effectLst/>
                        </a:rPr>
                        <a:t>数据类型、运算符与表达式</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en-US" sz="1200" dirty="0">
                          <a:effectLst/>
                        </a:rPr>
                        <a:t>C</a:t>
                      </a:r>
                      <a:r>
                        <a:rPr lang="zh-CN" sz="1200" dirty="0">
                          <a:effectLst/>
                        </a:rPr>
                        <a:t>的数据类型及其定义方法；不同类型数据间的转换与运算。</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960610374"/>
                  </a:ext>
                </a:extLst>
              </a:tr>
              <a:tr h="380324">
                <a:tc vMerge="1">
                  <a:txBody>
                    <a:bodyPr/>
                    <a:lstStyle/>
                    <a:p>
                      <a:endParaRPr lang="zh-CN" altLang="en-US"/>
                    </a:p>
                  </a:txBody>
                  <a:tcPr/>
                </a:tc>
                <a:tc>
                  <a:txBody>
                    <a:bodyPr/>
                    <a:lstStyle/>
                    <a:p>
                      <a:pPr algn="ctr">
                        <a:spcAft>
                          <a:spcPts val="0"/>
                        </a:spcAft>
                      </a:pPr>
                      <a:r>
                        <a:rPr lang="en-US" sz="1200" dirty="0">
                          <a:effectLst/>
                        </a:rPr>
                        <a:t>C</a:t>
                      </a:r>
                      <a:r>
                        <a:rPr lang="zh-CN" sz="1200" dirty="0">
                          <a:effectLst/>
                        </a:rPr>
                        <a:t>运算符（赋值运算符，算术运算符，关系运算符，逻辑运算符，条件运算符，逗号运算符，求字节数运算符）、运算优先级和结合性。</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147983541"/>
                  </a:ext>
                </a:extLst>
              </a:tr>
              <a:tr h="357300">
                <a:tc vMerge="1">
                  <a:txBody>
                    <a:bodyPr/>
                    <a:lstStyle/>
                    <a:p>
                      <a:endParaRPr lang="zh-CN" altLang="en-US"/>
                    </a:p>
                  </a:txBody>
                  <a:tcPr/>
                </a:tc>
                <a:tc>
                  <a:txBody>
                    <a:bodyPr/>
                    <a:lstStyle/>
                    <a:p>
                      <a:pPr algn="ctr">
                        <a:spcAft>
                          <a:spcPts val="0"/>
                        </a:spcAft>
                      </a:pPr>
                      <a:r>
                        <a:rPr lang="en-US" sz="1200" dirty="0">
                          <a:effectLst/>
                        </a:rPr>
                        <a:t>C</a:t>
                      </a:r>
                      <a:r>
                        <a:rPr lang="zh-CN" sz="1200" dirty="0">
                          <a:effectLst/>
                        </a:rPr>
                        <a:t>表达式</a:t>
                      </a:r>
                      <a:r>
                        <a:rPr lang="en-US" sz="1200" dirty="0">
                          <a:effectLst/>
                        </a:rPr>
                        <a:t> (</a:t>
                      </a:r>
                      <a:r>
                        <a:rPr lang="zh-CN" sz="1200" dirty="0">
                          <a:effectLst/>
                        </a:rPr>
                        <a:t>赋值表达式，算术表达式，关系表达式，逻辑表达式，条件表达式，逗号表达式</a:t>
                      </a:r>
                      <a:r>
                        <a:rPr lang="en-US" sz="1200" dirty="0">
                          <a:effectLst/>
                        </a:rPr>
                        <a:t>)</a:t>
                      </a:r>
                      <a:r>
                        <a:rPr lang="zh-CN" sz="1200" dirty="0">
                          <a:effectLst/>
                        </a:rPr>
                        <a:t>和求值规则。</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796592394"/>
                  </a:ext>
                </a:extLst>
              </a:tr>
              <a:tr h="190161">
                <a:tc rowSpan="3">
                  <a:txBody>
                    <a:bodyPr/>
                    <a:lstStyle/>
                    <a:p>
                      <a:pPr algn="ctr">
                        <a:lnSpc>
                          <a:spcPts val="2000"/>
                        </a:lnSpc>
                        <a:spcAft>
                          <a:spcPts val="0"/>
                        </a:spcAft>
                      </a:pPr>
                      <a:r>
                        <a:rPr lang="zh-CN" sz="1600" dirty="0">
                          <a:effectLst/>
                        </a:rPr>
                        <a:t>顺序结构程序设计</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算法的基本思想。</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313744115"/>
                  </a:ext>
                </a:extLst>
              </a:tr>
              <a:tr h="190161">
                <a:tc vMerge="1">
                  <a:txBody>
                    <a:bodyPr/>
                    <a:lstStyle/>
                    <a:p>
                      <a:endParaRPr lang="zh-CN" altLang="en-US"/>
                    </a:p>
                  </a:txBody>
                  <a:tcPr/>
                </a:tc>
                <a:tc>
                  <a:txBody>
                    <a:bodyPr/>
                    <a:lstStyle/>
                    <a:p>
                      <a:pPr algn="ctr">
                        <a:spcAft>
                          <a:spcPts val="0"/>
                        </a:spcAft>
                      </a:pPr>
                      <a:r>
                        <a:rPr lang="zh-CN" sz="1200" dirty="0">
                          <a:effectLst/>
                        </a:rPr>
                        <a:t>输入和输出函数。</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100667807"/>
                  </a:ext>
                </a:extLst>
              </a:tr>
              <a:tr h="190161">
                <a:tc vMerge="1">
                  <a:txBody>
                    <a:bodyPr/>
                    <a:lstStyle/>
                    <a:p>
                      <a:endParaRPr lang="zh-CN" altLang="en-US"/>
                    </a:p>
                  </a:txBody>
                  <a:tcPr/>
                </a:tc>
                <a:tc>
                  <a:txBody>
                    <a:bodyPr/>
                    <a:lstStyle/>
                    <a:p>
                      <a:pPr algn="ctr">
                        <a:spcAft>
                          <a:spcPts val="0"/>
                        </a:spcAft>
                      </a:pPr>
                      <a:r>
                        <a:rPr lang="zh-CN" sz="1200" dirty="0">
                          <a:effectLst/>
                        </a:rPr>
                        <a:t>顺序结构程序设计。</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012368413"/>
                  </a:ext>
                </a:extLst>
              </a:tr>
              <a:tr h="190161">
                <a:tc rowSpan="3">
                  <a:txBody>
                    <a:bodyPr/>
                    <a:lstStyle/>
                    <a:p>
                      <a:pPr algn="ctr">
                        <a:spcAft>
                          <a:spcPts val="0"/>
                        </a:spcAft>
                      </a:pPr>
                      <a:r>
                        <a:rPr lang="zh-CN" sz="1600" dirty="0">
                          <a:effectLst/>
                        </a:rPr>
                        <a:t>选择结构程序设计</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用</a:t>
                      </a:r>
                      <a:r>
                        <a:rPr lang="en-US" sz="1200" dirty="0">
                          <a:effectLst/>
                        </a:rPr>
                        <a:t>if</a:t>
                      </a:r>
                      <a:r>
                        <a:rPr lang="zh-CN" sz="1200" dirty="0">
                          <a:effectLst/>
                        </a:rPr>
                        <a:t>语句实现选择结构。 </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544584511"/>
                  </a:ext>
                </a:extLst>
              </a:tr>
              <a:tr h="190161">
                <a:tc vMerge="1">
                  <a:txBody>
                    <a:bodyPr/>
                    <a:lstStyle/>
                    <a:p>
                      <a:endParaRPr lang="zh-CN" altLang="en-US"/>
                    </a:p>
                  </a:txBody>
                  <a:tcPr/>
                </a:tc>
                <a:tc>
                  <a:txBody>
                    <a:bodyPr/>
                    <a:lstStyle/>
                    <a:p>
                      <a:pPr algn="ctr">
                        <a:spcAft>
                          <a:spcPts val="0"/>
                        </a:spcAft>
                      </a:pPr>
                      <a:r>
                        <a:rPr lang="zh-CN" sz="1200" dirty="0">
                          <a:effectLst/>
                        </a:rPr>
                        <a:t>用</a:t>
                      </a:r>
                      <a:r>
                        <a:rPr lang="en-US" sz="1200" dirty="0">
                          <a:effectLst/>
                        </a:rPr>
                        <a:t>switch</a:t>
                      </a:r>
                      <a:r>
                        <a:rPr lang="zh-CN" sz="1200" dirty="0">
                          <a:effectLst/>
                        </a:rPr>
                        <a:t>语句实现多分支选择结构。</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350849896"/>
                  </a:ext>
                </a:extLst>
              </a:tr>
              <a:tr h="190161">
                <a:tc vMerge="1">
                  <a:txBody>
                    <a:bodyPr/>
                    <a:lstStyle/>
                    <a:p>
                      <a:endParaRPr lang="zh-CN" altLang="en-US"/>
                    </a:p>
                  </a:txBody>
                  <a:tcPr/>
                </a:tc>
                <a:tc>
                  <a:txBody>
                    <a:bodyPr/>
                    <a:lstStyle/>
                    <a:p>
                      <a:pPr algn="ctr">
                        <a:spcAft>
                          <a:spcPts val="0"/>
                        </a:spcAft>
                      </a:pPr>
                      <a:r>
                        <a:rPr lang="zh-CN" sz="1200" dirty="0">
                          <a:effectLst/>
                        </a:rPr>
                        <a:t>选择结构的嵌套。</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444691441"/>
                  </a:ext>
                </a:extLst>
              </a:tr>
              <a:tr h="190161">
                <a:tc rowSpan="3">
                  <a:txBody>
                    <a:bodyPr/>
                    <a:lstStyle/>
                    <a:p>
                      <a:pPr algn="ctr">
                        <a:spcAft>
                          <a:spcPts val="0"/>
                        </a:spcAft>
                      </a:pPr>
                      <a:r>
                        <a:rPr lang="zh-CN" sz="1600" dirty="0">
                          <a:effectLst/>
                        </a:rPr>
                        <a:t>循环结构程序设计</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en-US" sz="1200" dirty="0">
                          <a:effectLst/>
                        </a:rPr>
                        <a:t>While </a:t>
                      </a:r>
                      <a:r>
                        <a:rPr lang="zh-CN" sz="1200" dirty="0">
                          <a:effectLst/>
                        </a:rPr>
                        <a:t>语句、</a:t>
                      </a:r>
                      <a:r>
                        <a:rPr lang="en-US" sz="1200" dirty="0">
                          <a:effectLst/>
                        </a:rPr>
                        <a:t>do-while </a:t>
                      </a:r>
                      <a:r>
                        <a:rPr lang="zh-CN" sz="1200" dirty="0">
                          <a:effectLst/>
                        </a:rPr>
                        <a:t>语句 、</a:t>
                      </a:r>
                      <a:r>
                        <a:rPr lang="en-US" sz="1200" dirty="0">
                          <a:effectLst/>
                        </a:rPr>
                        <a:t>for </a:t>
                      </a:r>
                      <a:r>
                        <a:rPr lang="zh-CN" sz="1200" dirty="0">
                          <a:effectLst/>
                        </a:rPr>
                        <a:t>语句。</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367091666"/>
                  </a:ext>
                </a:extLst>
              </a:tr>
              <a:tr h="190161">
                <a:tc vMerge="1">
                  <a:txBody>
                    <a:bodyPr/>
                    <a:lstStyle/>
                    <a:p>
                      <a:endParaRPr lang="zh-CN" altLang="en-US"/>
                    </a:p>
                  </a:txBody>
                  <a:tcPr/>
                </a:tc>
                <a:tc>
                  <a:txBody>
                    <a:bodyPr/>
                    <a:lstStyle/>
                    <a:p>
                      <a:pPr algn="ctr">
                        <a:spcAft>
                          <a:spcPts val="0"/>
                        </a:spcAft>
                      </a:pPr>
                      <a:r>
                        <a:rPr lang="en-US" sz="1200" dirty="0">
                          <a:effectLst/>
                        </a:rPr>
                        <a:t>break</a:t>
                      </a:r>
                      <a:r>
                        <a:rPr lang="zh-CN" sz="1200" dirty="0">
                          <a:effectLst/>
                        </a:rPr>
                        <a:t>语句和</a:t>
                      </a:r>
                      <a:r>
                        <a:rPr lang="en-US" sz="1200" dirty="0">
                          <a:effectLst/>
                        </a:rPr>
                        <a:t>continue </a:t>
                      </a:r>
                      <a:r>
                        <a:rPr lang="zh-CN" sz="1200" dirty="0">
                          <a:effectLst/>
                        </a:rPr>
                        <a:t>语句。</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495444488"/>
                  </a:ext>
                </a:extLst>
              </a:tr>
              <a:tr h="190161">
                <a:tc vMerge="1">
                  <a:txBody>
                    <a:bodyPr/>
                    <a:lstStyle/>
                    <a:p>
                      <a:endParaRPr lang="zh-CN" altLang="en-US"/>
                    </a:p>
                  </a:txBody>
                  <a:tcPr/>
                </a:tc>
                <a:tc>
                  <a:txBody>
                    <a:bodyPr/>
                    <a:lstStyle/>
                    <a:p>
                      <a:pPr algn="ctr">
                        <a:spcAft>
                          <a:spcPts val="0"/>
                        </a:spcAft>
                      </a:pPr>
                      <a:r>
                        <a:rPr lang="zh-CN" sz="1200" dirty="0">
                          <a:effectLst/>
                        </a:rPr>
                        <a:t>循环结构的嵌套。</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557617629"/>
                  </a:ext>
                </a:extLst>
              </a:tr>
              <a:tr h="190161">
                <a:tc rowSpan="2">
                  <a:txBody>
                    <a:bodyPr/>
                    <a:lstStyle/>
                    <a:p>
                      <a:pPr algn="ctr">
                        <a:spcAft>
                          <a:spcPts val="0"/>
                        </a:spcAft>
                      </a:pPr>
                      <a:r>
                        <a:rPr lang="zh-CN" sz="1600" dirty="0">
                          <a:effectLst/>
                        </a:rPr>
                        <a:t>数组</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一维数组和二维数组的定义、初始化和数组元素的引用。</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56678131"/>
                  </a:ext>
                </a:extLst>
              </a:tr>
              <a:tr h="190161">
                <a:tc vMerge="1">
                  <a:txBody>
                    <a:bodyPr/>
                    <a:lstStyle/>
                    <a:p>
                      <a:endParaRPr lang="zh-CN" altLang="en-US"/>
                    </a:p>
                  </a:txBody>
                  <a:tcPr/>
                </a:tc>
                <a:tc>
                  <a:txBody>
                    <a:bodyPr/>
                    <a:lstStyle/>
                    <a:p>
                      <a:pPr algn="ctr">
                        <a:spcAft>
                          <a:spcPts val="0"/>
                        </a:spcAft>
                      </a:pPr>
                      <a:r>
                        <a:rPr lang="zh-CN" sz="1200" dirty="0">
                          <a:effectLst/>
                        </a:rPr>
                        <a:t>字符串与字符数组。</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195555566"/>
                  </a:ext>
                </a:extLst>
              </a:tr>
              <a:tr h="197682">
                <a:tc rowSpan="3">
                  <a:txBody>
                    <a:bodyPr/>
                    <a:lstStyle/>
                    <a:p>
                      <a:pPr algn="ctr">
                        <a:spcAft>
                          <a:spcPts val="0"/>
                        </a:spcAft>
                      </a:pPr>
                      <a:r>
                        <a:rPr lang="zh-CN" sz="1600" dirty="0">
                          <a:effectLst/>
                        </a:rPr>
                        <a:t>函数</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常用库函数的调用方法，函数的定义，函数的嵌套调用；函数的递归调用。</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487365115"/>
                  </a:ext>
                </a:extLst>
              </a:tr>
              <a:tr h="190161">
                <a:tc vMerge="1">
                  <a:txBody>
                    <a:bodyPr/>
                    <a:lstStyle/>
                    <a:p>
                      <a:endParaRPr lang="zh-CN" altLang="en-US"/>
                    </a:p>
                  </a:txBody>
                  <a:tcPr/>
                </a:tc>
                <a:tc>
                  <a:txBody>
                    <a:bodyPr/>
                    <a:lstStyle/>
                    <a:p>
                      <a:pPr algn="ctr">
                        <a:spcAft>
                          <a:spcPts val="0"/>
                        </a:spcAft>
                      </a:pPr>
                      <a:r>
                        <a:rPr lang="zh-CN" sz="1200" dirty="0">
                          <a:effectLst/>
                        </a:rPr>
                        <a:t>函数调用中形参和实参的概念、使用方法，函数类型和返回值。</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496644417"/>
                  </a:ext>
                </a:extLst>
              </a:tr>
              <a:tr h="190161">
                <a:tc vMerge="1">
                  <a:txBody>
                    <a:bodyPr/>
                    <a:lstStyle/>
                    <a:p>
                      <a:endParaRPr lang="zh-CN" altLang="en-US"/>
                    </a:p>
                  </a:txBody>
                  <a:tcPr/>
                </a:tc>
                <a:tc>
                  <a:txBody>
                    <a:bodyPr/>
                    <a:lstStyle/>
                    <a:p>
                      <a:pPr algn="ctr">
                        <a:spcAft>
                          <a:spcPts val="0"/>
                        </a:spcAft>
                      </a:pPr>
                      <a:r>
                        <a:rPr lang="zh-CN" sz="1200" dirty="0">
                          <a:effectLst/>
                        </a:rPr>
                        <a:t>局部变量和全局变量；变量的存储类别。</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14815408"/>
                  </a:ext>
                </a:extLst>
              </a:tr>
              <a:tr h="190161">
                <a:tc rowSpan="3">
                  <a:txBody>
                    <a:bodyPr/>
                    <a:lstStyle/>
                    <a:p>
                      <a:pPr algn="ctr">
                        <a:lnSpc>
                          <a:spcPts val="2000"/>
                        </a:lnSpc>
                        <a:spcAft>
                          <a:spcPts val="0"/>
                        </a:spcAft>
                      </a:pPr>
                      <a:r>
                        <a:rPr lang="zh-CN" sz="1600" dirty="0">
                          <a:effectLst/>
                        </a:rPr>
                        <a:t>指针</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地址和指针的概念；变量的指针和指向变量的指针变量。</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436534767"/>
                  </a:ext>
                </a:extLst>
              </a:tr>
              <a:tr h="197682">
                <a:tc vMerge="1">
                  <a:txBody>
                    <a:bodyPr/>
                    <a:lstStyle/>
                    <a:p>
                      <a:endParaRPr lang="zh-CN" altLang="en-US"/>
                    </a:p>
                  </a:txBody>
                  <a:tcPr/>
                </a:tc>
                <a:tc>
                  <a:txBody>
                    <a:bodyPr/>
                    <a:lstStyle/>
                    <a:p>
                      <a:pPr algn="ctr">
                        <a:spcAft>
                          <a:spcPts val="0"/>
                        </a:spcAft>
                      </a:pPr>
                      <a:r>
                        <a:rPr lang="zh-CN" sz="1200" dirty="0">
                          <a:effectLst/>
                        </a:rPr>
                        <a:t>数组的指针和指向数组的指针变量；字符串的指针和指向字符串的指针变量。</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688247202"/>
                  </a:ext>
                </a:extLst>
              </a:tr>
              <a:tr h="190161">
                <a:tc vMerge="1">
                  <a:txBody>
                    <a:bodyPr/>
                    <a:lstStyle/>
                    <a:p>
                      <a:endParaRPr lang="zh-CN" altLang="en-US"/>
                    </a:p>
                  </a:txBody>
                  <a:tcPr/>
                </a:tc>
                <a:tc>
                  <a:txBody>
                    <a:bodyPr/>
                    <a:lstStyle/>
                    <a:p>
                      <a:pPr algn="ctr">
                        <a:spcAft>
                          <a:spcPts val="0"/>
                        </a:spcAft>
                      </a:pPr>
                      <a:r>
                        <a:rPr lang="zh-CN" sz="1200" dirty="0">
                          <a:effectLst/>
                        </a:rPr>
                        <a:t>函数的指针。</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609912600"/>
                  </a:ext>
                </a:extLst>
              </a:tr>
              <a:tr h="175306">
                <a:tc rowSpan="2">
                  <a:txBody>
                    <a:bodyPr/>
                    <a:lstStyle/>
                    <a:p>
                      <a:pPr algn="ctr">
                        <a:lnSpc>
                          <a:spcPts val="2000"/>
                        </a:lnSpc>
                        <a:spcAft>
                          <a:spcPts val="0"/>
                        </a:spcAft>
                      </a:pPr>
                      <a:r>
                        <a:rPr lang="zh-CN" sz="1600" dirty="0">
                          <a:effectLst/>
                        </a:rPr>
                        <a:t>结构体与其他数据类型</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lnSpc>
                          <a:spcPts val="1500"/>
                        </a:lnSpc>
                        <a:spcAft>
                          <a:spcPts val="0"/>
                        </a:spcAft>
                      </a:pPr>
                      <a:r>
                        <a:rPr lang="zh-CN" sz="1200" dirty="0">
                          <a:effectLst/>
                        </a:rPr>
                        <a:t>结构体，结构体数组；共用体；指向结构体类型数据的指针。</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356475812"/>
                  </a:ext>
                </a:extLst>
              </a:tr>
              <a:tr h="175306">
                <a:tc vMerge="1">
                  <a:txBody>
                    <a:bodyPr/>
                    <a:lstStyle/>
                    <a:p>
                      <a:endParaRPr lang="zh-CN" altLang="en-US"/>
                    </a:p>
                  </a:txBody>
                  <a:tcPr/>
                </a:tc>
                <a:tc>
                  <a:txBody>
                    <a:bodyPr/>
                    <a:lstStyle/>
                    <a:p>
                      <a:pPr algn="ctr">
                        <a:lnSpc>
                          <a:spcPts val="1500"/>
                        </a:lnSpc>
                        <a:spcAft>
                          <a:spcPts val="0"/>
                        </a:spcAft>
                      </a:pPr>
                      <a:r>
                        <a:rPr lang="zh-CN" sz="1200" dirty="0">
                          <a:effectLst/>
                        </a:rPr>
                        <a:t>编译预处理</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413382391"/>
                  </a:ext>
                </a:extLst>
              </a:tr>
              <a:tr h="197682">
                <a:tc rowSpan="2">
                  <a:txBody>
                    <a:bodyPr/>
                    <a:lstStyle/>
                    <a:p>
                      <a:pPr algn="ctr">
                        <a:lnSpc>
                          <a:spcPts val="2000"/>
                        </a:lnSpc>
                        <a:spcAft>
                          <a:spcPts val="0"/>
                        </a:spcAft>
                      </a:pPr>
                      <a:r>
                        <a:rPr lang="zh-CN" sz="1600" dirty="0">
                          <a:effectLst/>
                        </a:rPr>
                        <a:t>文件</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tc>
                  <a:txBody>
                    <a:bodyPr/>
                    <a:lstStyle/>
                    <a:p>
                      <a:pPr algn="ctr">
                        <a:spcAft>
                          <a:spcPts val="0"/>
                        </a:spcAft>
                      </a:pPr>
                      <a:r>
                        <a:rPr lang="zh-CN" sz="1200" dirty="0">
                          <a:effectLst/>
                        </a:rPr>
                        <a:t>文件的概念和文件的分类；文件类型指针</a:t>
                      </a:r>
                      <a:r>
                        <a:rPr lang="en-US" sz="1200" dirty="0">
                          <a:effectLst/>
                        </a:rPr>
                        <a:t>(FILE</a:t>
                      </a:r>
                      <a:r>
                        <a:rPr lang="zh-CN" sz="1200" dirty="0">
                          <a:effectLst/>
                        </a:rPr>
                        <a:t>类型指针</a:t>
                      </a:r>
                      <a:r>
                        <a:rPr lang="en-US" sz="1200" dirty="0">
                          <a:effectLst/>
                        </a:rPr>
                        <a:t>)</a:t>
                      </a:r>
                      <a:r>
                        <a:rPr lang="zh-CN" sz="1200" dirty="0">
                          <a:effectLst/>
                        </a:rPr>
                        <a:t>的定义和使用。</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122154646"/>
                  </a:ext>
                </a:extLst>
              </a:tr>
              <a:tr h="197682">
                <a:tc vMerge="1">
                  <a:txBody>
                    <a:bodyPr/>
                    <a:lstStyle/>
                    <a:p>
                      <a:endParaRPr lang="zh-CN" altLang="en-US"/>
                    </a:p>
                  </a:txBody>
                  <a:tcPr/>
                </a:tc>
                <a:tc>
                  <a:txBody>
                    <a:bodyPr/>
                    <a:lstStyle/>
                    <a:p>
                      <a:pPr algn="ctr">
                        <a:spcAft>
                          <a:spcPts val="0"/>
                        </a:spcAft>
                      </a:pPr>
                      <a:r>
                        <a:rPr lang="zh-CN" sz="1200" dirty="0">
                          <a:effectLst/>
                        </a:rPr>
                        <a:t>文件的打开与关闭；文件的读写函数的应用，文件的定位函数的应用。</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34881" marR="34881" marT="0" marB="0" anchor="ctr"/>
                </a:tc>
                <a:extLst>
                  <a:ext uri="{0D108BD9-81ED-4DB2-BD59-A6C34878D82A}">
                    <a16:rowId xmlns:a16="http://schemas.microsoft.com/office/drawing/2014/main" val="2555869939"/>
                  </a:ext>
                </a:extLst>
              </a:tr>
            </a:tbl>
          </a:graphicData>
        </a:graphic>
      </p:graphicFrame>
    </p:spTree>
    <p:extLst>
      <p:ext uri="{BB962C8B-B14F-4D97-AF65-F5344CB8AC3E}">
        <p14:creationId xmlns:p14="http://schemas.microsoft.com/office/powerpoint/2010/main" val="751546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几个学习本课程的小建议</a:t>
            </a:r>
            <a:endParaRPr lang="zh-CN" altLang="en-US" dirty="0"/>
          </a:p>
        </p:txBody>
      </p:sp>
      <p:sp>
        <p:nvSpPr>
          <p:cNvPr id="3" name="内容占位符 2"/>
          <p:cNvSpPr>
            <a:spLocks noGrp="1"/>
          </p:cNvSpPr>
          <p:nvPr>
            <p:ph idx="1"/>
          </p:nvPr>
        </p:nvSpPr>
        <p:spPr>
          <a:xfrm>
            <a:off x="1010471" y="1714500"/>
            <a:ext cx="8915400" cy="4686300"/>
          </a:xfrm>
        </p:spPr>
        <p:txBody>
          <a:bodyPr/>
          <a:lstStyle/>
          <a:p>
            <a:r>
              <a:rPr lang="zh-CN" altLang="en-US" dirty="0" smtClean="0"/>
              <a:t>实践是检验真理的唯一标准</a:t>
            </a:r>
            <a:r>
              <a:rPr lang="en-US" altLang="zh-CN" dirty="0" smtClean="0"/>
              <a:t>——</a:t>
            </a:r>
            <a:r>
              <a:rPr lang="zh-CN" altLang="en-US" dirty="0" smtClean="0"/>
              <a:t>多动手</a:t>
            </a:r>
            <a:endParaRPr lang="en-US" altLang="zh-CN" dirty="0" smtClean="0"/>
          </a:p>
          <a:p>
            <a:endParaRPr lang="en-US" altLang="zh-CN" sz="1800" dirty="0" smtClean="0"/>
          </a:p>
          <a:p>
            <a:r>
              <a:rPr lang="zh-CN" altLang="en-US" dirty="0"/>
              <a:t>学而不思则</a:t>
            </a:r>
            <a:r>
              <a:rPr lang="zh-CN" altLang="en-US" dirty="0" smtClean="0"/>
              <a:t>罔，思而不学则殆</a:t>
            </a:r>
            <a:r>
              <a:rPr lang="en-US" altLang="zh-CN" dirty="0" smtClean="0"/>
              <a:t>——</a:t>
            </a:r>
            <a:r>
              <a:rPr lang="zh-CN" altLang="en-US" dirty="0" smtClean="0"/>
              <a:t>多学习，勤思考</a:t>
            </a:r>
            <a:endParaRPr lang="en-US" altLang="zh-CN" dirty="0" smtClean="0"/>
          </a:p>
          <a:p>
            <a:endParaRPr lang="en-US" altLang="zh-CN" sz="1800" dirty="0" smtClean="0"/>
          </a:p>
          <a:p>
            <a:r>
              <a:rPr lang="zh-CN" altLang="en-US" dirty="0"/>
              <a:t>三人行，必有我师</a:t>
            </a:r>
            <a:r>
              <a:rPr lang="zh-CN" altLang="en-US" dirty="0" smtClean="0"/>
              <a:t>焉</a:t>
            </a:r>
            <a:r>
              <a:rPr lang="en-US" altLang="zh-CN" dirty="0" smtClean="0"/>
              <a:t>——</a:t>
            </a:r>
            <a:r>
              <a:rPr lang="zh-CN" altLang="en-US" dirty="0" smtClean="0"/>
              <a:t>多沟通</a:t>
            </a:r>
            <a:endParaRPr lang="en-US" altLang="zh-CN" dirty="0" smtClean="0"/>
          </a:p>
          <a:p>
            <a:endParaRPr lang="en-US" altLang="zh-CN" sz="1800" dirty="0"/>
          </a:p>
          <a:p>
            <a:r>
              <a:rPr lang="zh-CN" altLang="en-US" dirty="0" smtClean="0"/>
              <a:t>善用搜索引擎</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4</a:t>
            </a:fld>
            <a:r>
              <a:rPr lang="en-US" altLang="zh-CN" smtClean="0"/>
              <a:t>/37</a:t>
            </a:r>
            <a:endParaRPr lang="zh-CN" altLang="en-US"/>
          </a:p>
        </p:txBody>
      </p:sp>
    </p:spTree>
    <p:extLst>
      <p:ext uri="{BB962C8B-B14F-4D97-AF65-F5344CB8AC3E}">
        <p14:creationId xmlns:p14="http://schemas.microsoft.com/office/powerpoint/2010/main" val="18602550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4"/>
          <p:cNvSpPr txBox="1">
            <a:spLocks noChangeArrowheads="1"/>
          </p:cNvSpPr>
          <p:nvPr/>
        </p:nvSpPr>
        <p:spPr bwMode="auto">
          <a:xfrm>
            <a:off x="273050" y="1919288"/>
            <a:ext cx="9632950"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ts val="600"/>
              </a:spcBef>
              <a:spcAft>
                <a:spcPts val="588"/>
              </a:spcAft>
              <a:buSzPct val="80000"/>
              <a:buNone/>
            </a:pPr>
            <a:r>
              <a:rPr lang="zh-CN" altLang="en-US" sz="6600" dirty="0" smtClean="0">
                <a:latin typeface="Arial" panose="020B0604020202020204" pitchFamily="34" charset="0"/>
                <a:ea typeface="黑体" panose="02010609060101010101" pitchFamily="49" charset="-122"/>
                <a:cs typeface="Arial" panose="020B0604020202020204" pitchFamily="34" charset="0"/>
              </a:rPr>
              <a:t>第</a:t>
            </a:r>
            <a:r>
              <a:rPr lang="en-US" altLang="zh-CN" sz="6600" dirty="0" smtClean="0">
                <a:latin typeface="Arial" panose="020B0604020202020204" pitchFamily="34" charset="0"/>
                <a:ea typeface="黑体" panose="02010609060101010101" pitchFamily="49" charset="-122"/>
                <a:cs typeface="Arial" panose="020B0604020202020204" pitchFamily="34" charset="0"/>
              </a:rPr>
              <a:t>1</a:t>
            </a:r>
            <a:r>
              <a:rPr lang="zh-CN" altLang="en-US" sz="6600" dirty="0" smtClean="0">
                <a:latin typeface="Arial" panose="020B0604020202020204" pitchFamily="34" charset="0"/>
                <a:ea typeface="黑体" panose="02010609060101010101" pitchFamily="49" charset="-122"/>
                <a:cs typeface="Arial" panose="020B0604020202020204" pitchFamily="34" charset="0"/>
              </a:rPr>
              <a:t>章 程序设计基本知识</a:t>
            </a:r>
          </a:p>
        </p:txBody>
      </p:sp>
    </p:spTree>
    <p:extLst>
      <p:ext uri="{BB962C8B-B14F-4D97-AF65-F5344CB8AC3E}">
        <p14:creationId xmlns:p14="http://schemas.microsoft.com/office/powerpoint/2010/main" val="1702055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学习内容</a:t>
            </a:r>
          </a:p>
        </p:txBody>
      </p:sp>
      <p:sp>
        <p:nvSpPr>
          <p:cNvPr id="11267" name="Rectangle 3"/>
          <p:cNvSpPr>
            <a:spLocks noGrp="1" noChangeArrowheads="1"/>
          </p:cNvSpPr>
          <p:nvPr>
            <p:ph type="body" idx="1"/>
          </p:nvPr>
        </p:nvSpPr>
        <p:spPr>
          <a:xfrm>
            <a:off x="1424608" y="1627981"/>
            <a:ext cx="7986092" cy="4772819"/>
          </a:xfrm>
        </p:spPr>
        <p:txBody>
          <a:bodyPr/>
          <a:lstStyle/>
          <a:p>
            <a:pPr marL="533400" indent="-533400" eaLnBrk="1" hangingPunct="1"/>
            <a:r>
              <a:rPr lang="zh-CN" altLang="en-US" dirty="0" smtClean="0">
                <a:latin typeface="Arial" panose="020B0604020202020204" pitchFamily="34" charset="0"/>
                <a:cs typeface="Arial" panose="020B0604020202020204" pitchFamily="34" charset="0"/>
              </a:rPr>
              <a:t>程序和程序设计语言</a:t>
            </a:r>
            <a:endParaRPr lang="en-US" altLang="zh-CN" dirty="0" smtClean="0">
              <a:latin typeface="Arial" panose="020B0604020202020204" pitchFamily="34" charset="0"/>
              <a:cs typeface="Arial" panose="020B0604020202020204" pitchFamily="34" charset="0"/>
            </a:endParaRPr>
          </a:p>
          <a:p>
            <a:pPr marL="533400" indent="-533400" eaLnBrk="1" hangingPunct="1"/>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语言简介</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发展历史</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特点</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基本结构</a:t>
            </a:r>
            <a:endParaRPr lang="en-US" altLang="zh-CN" dirty="0" smtClean="0">
              <a:latin typeface="Arial" panose="020B0604020202020204" pitchFamily="34" charset="0"/>
              <a:cs typeface="Arial" panose="020B0604020202020204" pitchFamily="34" charset="0"/>
            </a:endParaRPr>
          </a:p>
          <a:p>
            <a:pPr marL="533400" indent="-533400" eaLnBrk="1" hangingPunct="1"/>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语言集成开发环境</a:t>
            </a:r>
            <a:endParaRPr lang="en-US" altLang="zh-CN" dirty="0" smtClean="0">
              <a:latin typeface="Arial" panose="020B0604020202020204" pitchFamily="34" charset="0"/>
              <a:cs typeface="Arial" panose="020B0604020202020204" pitchFamily="34" charset="0"/>
            </a:endParaRPr>
          </a:p>
          <a:p>
            <a:pPr marL="533400" indent="-533400" eaLnBrk="1" hangingPunct="1"/>
            <a:r>
              <a:rPr lang="zh-CN" altLang="en-US" dirty="0" smtClean="0">
                <a:latin typeface="Arial" panose="020B0604020202020204" pitchFamily="34" charset="0"/>
                <a:cs typeface="Arial" panose="020B0604020202020204" pitchFamily="34" charset="0"/>
              </a:rPr>
              <a:t>问题求解过程</a:t>
            </a:r>
            <a:endParaRPr lang="en-US" altLang="zh-CN" dirty="0" smtClean="0">
              <a:latin typeface="Arial" panose="020B0604020202020204" pitchFamily="34" charset="0"/>
              <a:cs typeface="Arial" panose="020B0604020202020204" pitchFamily="34" charset="0"/>
            </a:endParaRPr>
          </a:p>
          <a:p>
            <a:pPr marL="533400" indent="-533400" eaLnBrk="1" hangingPunct="1"/>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6</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42940456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学习内容</a:t>
            </a:r>
          </a:p>
        </p:txBody>
      </p:sp>
      <p:sp>
        <p:nvSpPr>
          <p:cNvPr id="11267" name="Rectangle 3"/>
          <p:cNvSpPr>
            <a:spLocks noGrp="1" noChangeArrowheads="1"/>
          </p:cNvSpPr>
          <p:nvPr>
            <p:ph type="body" idx="1"/>
          </p:nvPr>
        </p:nvSpPr>
        <p:spPr>
          <a:xfrm>
            <a:off x="1424608" y="1627981"/>
            <a:ext cx="7986092" cy="3744913"/>
          </a:xfrm>
        </p:spPr>
        <p:txBody>
          <a:bodyPr/>
          <a:lstStyle/>
          <a:p>
            <a:pPr marL="533400" indent="-533400" eaLnBrk="1" hangingPunct="1"/>
            <a:r>
              <a:rPr lang="zh-CN" altLang="en-US" dirty="0" smtClean="0">
                <a:solidFill>
                  <a:srgbClr val="FF0000"/>
                </a:solidFill>
                <a:latin typeface="Arial" panose="020B0604020202020204" pitchFamily="34" charset="0"/>
                <a:cs typeface="Arial" panose="020B0604020202020204" pitchFamily="34" charset="0"/>
              </a:rPr>
              <a:t>程序和程序设计语言</a:t>
            </a:r>
            <a:endParaRPr lang="en-US" altLang="zh-CN" dirty="0" smtClean="0">
              <a:solidFill>
                <a:srgbClr val="FF0000"/>
              </a:solidFill>
              <a:latin typeface="Arial" panose="020B0604020202020204" pitchFamily="34" charset="0"/>
              <a:cs typeface="Arial" panose="020B0604020202020204" pitchFamily="34" charset="0"/>
            </a:endParaRPr>
          </a:p>
          <a:p>
            <a:pPr marL="533400" indent="-533400" eaLnBrk="1" hangingPunct="1"/>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语言简介</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发展历史</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特点</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基本结构</a:t>
            </a:r>
            <a:endParaRPr lang="en-US" altLang="zh-CN" dirty="0">
              <a:latin typeface="Arial" panose="020B0604020202020204" pitchFamily="34" charset="0"/>
              <a:cs typeface="Arial" panose="020B0604020202020204" pitchFamily="34" charset="0"/>
            </a:endParaRPr>
          </a:p>
          <a:p>
            <a:pPr marL="533400" indent="-533400" eaLnBrk="1" hangingPunct="1"/>
            <a:r>
              <a:rPr lang="en-US" altLang="zh-CN" dirty="0">
                <a:latin typeface="Arial" panose="020B0604020202020204" pitchFamily="34" charset="0"/>
                <a:cs typeface="Arial" panose="020B0604020202020204" pitchFamily="34" charset="0"/>
              </a:rPr>
              <a:t>C</a:t>
            </a:r>
            <a:r>
              <a:rPr lang="zh-CN" altLang="en-US" dirty="0">
                <a:latin typeface="Arial" panose="020B0604020202020204" pitchFamily="34" charset="0"/>
                <a:cs typeface="Arial" panose="020B0604020202020204" pitchFamily="34" charset="0"/>
              </a:rPr>
              <a:t>语言集成开发环境</a:t>
            </a:r>
            <a:endParaRPr lang="en-US" altLang="zh-CN" dirty="0">
              <a:latin typeface="Arial" panose="020B0604020202020204" pitchFamily="34" charset="0"/>
              <a:cs typeface="Arial" panose="020B0604020202020204" pitchFamily="34" charset="0"/>
            </a:endParaRPr>
          </a:p>
          <a:p>
            <a:pPr marL="533400" indent="-533400" eaLnBrk="1" hangingPunct="1"/>
            <a:r>
              <a:rPr lang="zh-CN" altLang="en-US" dirty="0">
                <a:latin typeface="Arial" panose="020B0604020202020204" pitchFamily="34" charset="0"/>
                <a:cs typeface="Arial" panose="020B0604020202020204" pitchFamily="34" charset="0"/>
              </a:rPr>
              <a:t>问题求解过程</a:t>
            </a:r>
            <a:endParaRPr lang="en-US" altLang="zh-CN" dirty="0">
              <a:latin typeface="Arial" panose="020B0604020202020204" pitchFamily="34" charset="0"/>
              <a:cs typeface="Arial" panose="020B0604020202020204" pitchFamily="34" charset="0"/>
            </a:endParaRPr>
          </a:p>
          <a:p>
            <a:pPr marL="533400" indent="-533400" eaLnBrk="1" hangingPunct="1"/>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7</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20204" pitchFamily="34" charset="0"/>
                <a:cs typeface="Arial" panose="020B0604020202020204" pitchFamily="34" charset="0"/>
              </a:rPr>
              <a:t>程序和</a:t>
            </a:r>
            <a:r>
              <a:rPr lang="zh-CN" altLang="en-US" dirty="0" smtClean="0">
                <a:latin typeface="Arial" panose="020B0604020202020204" pitchFamily="34" charset="0"/>
                <a:cs typeface="Arial" panose="020B0604020202020204" pitchFamily="34" charset="0"/>
              </a:rPr>
              <a:t>程序设计语言</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8</a:t>
            </a:fld>
            <a:r>
              <a:rPr lang="en-US" altLang="zh-CN" smtClean="0"/>
              <a:t>/37</a:t>
            </a:r>
            <a:endParaRPr lang="zh-CN" altLang="en-US"/>
          </a:p>
        </p:txBody>
      </p:sp>
      <p:sp>
        <p:nvSpPr>
          <p:cNvPr id="6" name="内容占位符 2"/>
          <p:cNvSpPr>
            <a:spLocks noGrp="1"/>
          </p:cNvSpPr>
          <p:nvPr>
            <p:ph idx="4294967295"/>
          </p:nvPr>
        </p:nvSpPr>
        <p:spPr>
          <a:xfrm>
            <a:off x="200025" y="1412875"/>
            <a:ext cx="9432925" cy="4824413"/>
          </a:xfrm>
        </p:spPr>
        <p:txBody>
          <a:bodyPr/>
          <a:lstStyle/>
          <a:p>
            <a:pPr eaLnBrk="1" hangingPunct="1">
              <a:spcBef>
                <a:spcPts val="600"/>
              </a:spcBef>
            </a:pPr>
            <a:r>
              <a:rPr lang="zh-CN" altLang="en-US" sz="2800" dirty="0" smtClean="0">
                <a:latin typeface="Times New Roman" panose="02020603050405020304" pitchFamily="18" charset="0"/>
                <a:cs typeface="Times New Roman" panose="02020603050405020304" pitchFamily="18" charset="0"/>
              </a:rPr>
              <a:t>程序（</a:t>
            </a:r>
            <a:r>
              <a:rPr lang="en-US" altLang="zh-CN" sz="2800" dirty="0" smtClean="0">
                <a:latin typeface="Arial" panose="020B0604020202020204" pitchFamily="34" charset="0"/>
                <a:cs typeface="Arial" panose="020B0604020202020204" pitchFamily="34" charset="0"/>
              </a:rPr>
              <a:t>Program</a:t>
            </a:r>
            <a:r>
              <a:rPr lang="zh-CN" altLang="en-US" sz="2800" dirty="0" smtClean="0">
                <a:latin typeface="Arial" panose="020B0604020202020204" pitchFamily="34" charset="0"/>
                <a:cs typeface="Arial" panose="020B0604020202020204" pitchFamily="34" charset="0"/>
              </a:rPr>
              <a:t>）</a:t>
            </a:r>
          </a:p>
          <a:p>
            <a:pPr lvl="1" eaLnBrk="1" hangingPunct="1">
              <a:spcBef>
                <a:spcPts val="600"/>
              </a:spcBef>
            </a:pPr>
            <a:r>
              <a:rPr lang="zh-CN" altLang="en-US" sz="2400" dirty="0" smtClean="0">
                <a:latin typeface="Arial" panose="020B0604020202020204" pitchFamily="34" charset="0"/>
                <a:cs typeface="Arial" panose="020B0604020202020204" pitchFamily="34" charset="0"/>
              </a:rPr>
              <a:t>为了实现特定目标或解决具体问题而用计算机语言编写的指令的有序集合</a:t>
            </a:r>
          </a:p>
          <a:p>
            <a:pPr eaLnBrk="1" hangingPunct="1">
              <a:spcBef>
                <a:spcPts val="600"/>
              </a:spcBef>
            </a:pPr>
            <a:r>
              <a:rPr lang="zh-CN" altLang="en-US" sz="2800" dirty="0" smtClean="0">
                <a:latin typeface="Arial" panose="020B0604020202020204" pitchFamily="34" charset="0"/>
                <a:cs typeface="Arial" panose="020B0604020202020204" pitchFamily="34" charset="0"/>
              </a:rPr>
              <a:t>程序就是软件的全部吗？</a:t>
            </a:r>
          </a:p>
          <a:p>
            <a:pPr eaLnBrk="1" hangingPunct="1">
              <a:spcBef>
                <a:spcPts val="600"/>
              </a:spcBef>
            </a:pPr>
            <a:r>
              <a:rPr lang="zh-CN" altLang="en-US" sz="2800" dirty="0" smtClean="0">
                <a:latin typeface="Arial" panose="020B0604020202020204" pitchFamily="34" charset="0"/>
                <a:cs typeface="Arial" panose="020B0604020202020204" pitchFamily="34" charset="0"/>
              </a:rPr>
              <a:t>程序、数据、文档之间的关系</a:t>
            </a:r>
          </a:p>
        </p:txBody>
      </p:sp>
      <p:graphicFrame>
        <p:nvGraphicFramePr>
          <p:cNvPr id="7" name="表格 6"/>
          <p:cNvGraphicFramePr>
            <a:graphicFrameLocks noGrp="1"/>
          </p:cNvGraphicFramePr>
          <p:nvPr>
            <p:extLst>
              <p:ext uri="{D42A27DB-BD31-4B8C-83A1-F6EECF244321}">
                <p14:modId xmlns:p14="http://schemas.microsoft.com/office/powerpoint/2010/main" val="1946318655"/>
              </p:ext>
            </p:extLst>
          </p:nvPr>
        </p:nvGraphicFramePr>
        <p:xfrm>
          <a:off x="2084388" y="3933825"/>
          <a:ext cx="5329237" cy="2286000"/>
        </p:xfrm>
        <a:graphic>
          <a:graphicData uri="http://schemas.openxmlformats.org/drawingml/2006/table">
            <a:tbl>
              <a:tblPr/>
              <a:tblGrid>
                <a:gridCol w="2232025">
                  <a:extLst>
                    <a:ext uri="{9D8B030D-6E8A-4147-A177-3AD203B41FA5}">
                      <a16:colId xmlns:a16="http://schemas.microsoft.com/office/drawing/2014/main" val="20000"/>
                    </a:ext>
                  </a:extLst>
                </a:gridCol>
                <a:gridCol w="3097212">
                  <a:extLst>
                    <a:ext uri="{9D8B030D-6E8A-4147-A177-3AD203B41FA5}">
                      <a16:colId xmlns:a16="http://schemas.microsoft.com/office/drawing/2014/main" val="20001"/>
                    </a:ext>
                  </a:extLst>
                </a:gridCol>
              </a:tblGrid>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FFFFFF"/>
                          </a:solidFill>
                          <a:effectLst/>
                          <a:latin typeface="Arial" pitchFamily="34" charset="0"/>
                          <a:ea typeface="黑体" pitchFamily="49" charset="-122"/>
                          <a:cs typeface="Arial" pitchFamily="34" charset="0"/>
                        </a:rPr>
                        <a:t>厨师</a:t>
                      </a:r>
                      <a:endParaRPr kumimoji="0" lang="zh-CN" altLang="en-US" sz="2400" b="0" i="0" u="none" strike="noStrike" cap="none" normalizeH="0" baseline="0" dirty="0" smtClean="0">
                        <a:ln>
                          <a:noFill/>
                        </a:ln>
                        <a:solidFill>
                          <a:srgbClr val="FFFFFF"/>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FFFFFF"/>
                          </a:solidFill>
                          <a:effectLst/>
                          <a:latin typeface="Arial" pitchFamily="34" charset="0"/>
                          <a:ea typeface="黑体" pitchFamily="49" charset="-122"/>
                          <a:cs typeface="Arial" pitchFamily="34" charset="0"/>
                        </a:rPr>
                        <a:t>软件开发人员</a:t>
                      </a:r>
                      <a:endParaRPr kumimoji="0" lang="zh-CN" altLang="en-US" sz="2400" b="0" i="0" u="none" strike="noStrike" cap="none" normalizeH="0" baseline="0" dirty="0" smtClean="0">
                        <a:ln>
                          <a:noFill/>
                        </a:ln>
                        <a:solidFill>
                          <a:srgbClr val="FFFFFF"/>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Arial" pitchFamily="34" charset="0"/>
                          <a:ea typeface="黑体" pitchFamily="49" charset="-122"/>
                          <a:cs typeface="Arial" pitchFamily="34" charset="0"/>
                        </a:rPr>
                        <a:t>烹饪方法</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Arial" pitchFamily="34" charset="0"/>
                          <a:ea typeface="黑体" pitchFamily="49" charset="-122"/>
                          <a:cs typeface="Arial" pitchFamily="34" charset="0"/>
                        </a:rPr>
                        <a:t>软件中的程序</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000000"/>
                          </a:solidFill>
                          <a:effectLst/>
                          <a:latin typeface="Arial" pitchFamily="34" charset="0"/>
                          <a:ea typeface="黑体" pitchFamily="49" charset="-122"/>
                          <a:cs typeface="Arial" pitchFamily="34" charset="0"/>
                        </a:rPr>
                        <a:t>菜谱</a:t>
                      </a:r>
                      <a:endParaRPr kumimoji="0" lang="zh-CN" altLang="en-US" sz="2400" b="0" i="0" u="none" strike="noStrike" cap="none" normalizeH="0" baseline="0" dirty="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Arial" pitchFamily="34" charset="0"/>
                          <a:ea typeface="黑体" pitchFamily="49" charset="-122"/>
                          <a:cs typeface="Arial" pitchFamily="34" charset="0"/>
                        </a:rPr>
                        <a:t>软件的文档</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Arial" pitchFamily="34" charset="0"/>
                          <a:ea typeface="黑体" pitchFamily="49" charset="-122"/>
                          <a:cs typeface="Arial" pitchFamily="34" charset="0"/>
                        </a:rPr>
                        <a:t>食材</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Arial" pitchFamily="34" charset="0"/>
                          <a:ea typeface="黑体" pitchFamily="49" charset="-122"/>
                          <a:cs typeface="Arial" pitchFamily="34" charset="0"/>
                        </a:rPr>
                        <a:t>软件中的数据</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extLst>
                  <a:ext uri="{0D108BD9-81ED-4DB2-BD59-A6C34878D82A}">
                    <a16:rowId xmlns:a16="http://schemas.microsoft.com/office/drawing/2014/main" val="10003"/>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000000"/>
                          </a:solidFill>
                          <a:effectLst/>
                          <a:latin typeface="Arial" pitchFamily="34" charset="0"/>
                          <a:ea typeface="黑体" pitchFamily="49" charset="-122"/>
                          <a:cs typeface="Arial" pitchFamily="34" charset="0"/>
                        </a:rPr>
                        <a:t>整个烹饪过程</a:t>
                      </a:r>
                      <a:endParaRPr kumimoji="0" lang="zh-CN" altLang="en-US" sz="2400" b="0" i="0" u="none" strike="noStrike" cap="none" normalizeH="0" baseline="0" dirty="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000000"/>
                          </a:solidFill>
                          <a:effectLst/>
                          <a:latin typeface="Arial" pitchFamily="34" charset="0"/>
                          <a:ea typeface="黑体" pitchFamily="49" charset="-122"/>
                          <a:cs typeface="Arial" pitchFamily="34" charset="0"/>
                        </a:rPr>
                        <a:t>软件的实现过程</a:t>
                      </a:r>
                      <a:endParaRPr kumimoji="0" lang="zh-CN" altLang="en-US" sz="2400" b="0" i="0" u="none" strike="noStrike" cap="none" normalizeH="0" baseline="0" dirty="0" smtClean="0">
                        <a:ln>
                          <a:noFill/>
                        </a:ln>
                        <a:solidFill>
                          <a:srgbClr val="000000"/>
                        </a:solidFill>
                        <a:effectLst/>
                        <a:latin typeface="Franklin Gothic Book" pitchFamily="34" charset="0"/>
                        <a:ea typeface="黑体" pitchFamily="49" charset="-122"/>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extLst>
                  <a:ext uri="{0D108BD9-81ED-4DB2-BD59-A6C34878D82A}">
                    <a16:rowId xmlns:a16="http://schemas.microsoft.com/office/drawing/2014/main" val="10004"/>
                  </a:ext>
                </a:extLst>
              </a:tr>
            </a:tbl>
          </a:graphicData>
        </a:graphic>
      </p:graphicFrame>
      <p:pic>
        <p:nvPicPr>
          <p:cNvPr id="8"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0" y="4437063"/>
            <a:ext cx="20764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4652963"/>
            <a:ext cx="15113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11571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38188" y="476250"/>
            <a:ext cx="8447087" cy="839788"/>
          </a:xfrm>
        </p:spPr>
        <p:txBody>
          <a:bodyPr/>
          <a:lstStyle/>
          <a:p>
            <a:pPr eaLnBrk="1" hangingPunct="1"/>
            <a:r>
              <a:rPr lang="zh-CN" altLang="en-US" sz="4000" dirty="0" smtClean="0"/>
              <a:t>问题</a:t>
            </a:r>
            <a:r>
              <a:rPr lang="en-US" altLang="zh-CN" sz="4000" dirty="0" smtClean="0"/>
              <a:t>1</a:t>
            </a:r>
            <a:r>
              <a:rPr lang="zh-CN" altLang="en-US" sz="4000" dirty="0" smtClean="0"/>
              <a:t>：计算机能读懂什么语言？</a:t>
            </a:r>
            <a:r>
              <a:rPr lang="zh-CN" altLang="en-US" dirty="0" smtClean="0"/>
              <a:t> </a:t>
            </a:r>
          </a:p>
        </p:txBody>
      </p:sp>
      <p:sp>
        <p:nvSpPr>
          <p:cNvPr id="100355" name="Rectangle 3"/>
          <p:cNvSpPr>
            <a:spLocks noGrp="1" noChangeArrowheads="1"/>
          </p:cNvSpPr>
          <p:nvPr>
            <p:ph type="body" idx="1"/>
          </p:nvPr>
        </p:nvSpPr>
        <p:spPr>
          <a:xfrm>
            <a:off x="344488" y="1341438"/>
            <a:ext cx="8915400" cy="3024187"/>
          </a:xfrm>
        </p:spPr>
        <p:txBody>
          <a:bodyPr/>
          <a:lstStyle/>
          <a:p>
            <a:pPr eaLnBrk="1" hangingPunct="1">
              <a:spcBef>
                <a:spcPct val="0"/>
              </a:spcBef>
              <a:spcAft>
                <a:spcPct val="0"/>
              </a:spcAft>
            </a:pPr>
            <a:r>
              <a:rPr lang="zh-CN" altLang="en-US" dirty="0" smtClean="0"/>
              <a:t>计算机只能识别二进制指令</a:t>
            </a:r>
          </a:p>
          <a:p>
            <a:pPr eaLnBrk="1" hangingPunct="1">
              <a:spcBef>
                <a:spcPct val="0"/>
              </a:spcBef>
              <a:spcAft>
                <a:spcPct val="0"/>
              </a:spcAft>
            </a:pPr>
            <a:r>
              <a:rPr lang="zh-CN" altLang="en-US" dirty="0" smtClean="0">
                <a:solidFill>
                  <a:srgbClr val="000066"/>
                </a:solidFill>
              </a:rPr>
              <a:t>机器语言</a:t>
            </a:r>
            <a:r>
              <a:rPr lang="zh-CN" altLang="en-US" dirty="0" smtClean="0"/>
              <a:t>（</a:t>
            </a:r>
            <a:r>
              <a:rPr lang="en-US" altLang="zh-CN" dirty="0" smtClean="0">
                <a:latin typeface="Arial" panose="020B0604020202020204" pitchFamily="34" charset="0"/>
                <a:cs typeface="Arial" panose="020B0604020202020204" pitchFamily="34" charset="0"/>
              </a:rPr>
              <a:t>Machine Language</a:t>
            </a:r>
            <a:r>
              <a:rPr lang="zh-CN" altLang="en-US" dirty="0" smtClean="0">
                <a:latin typeface="Arial" panose="020B0604020202020204" pitchFamily="34" charset="0"/>
                <a:cs typeface="Arial" panose="020B0604020202020204" pitchFamily="34" charset="0"/>
              </a:rPr>
              <a:t>）</a:t>
            </a:r>
          </a:p>
          <a:p>
            <a:pPr lvl="1" eaLnBrk="1" hangingPunct="1">
              <a:spcBef>
                <a:spcPct val="0"/>
              </a:spcBef>
              <a:spcAft>
                <a:spcPct val="0"/>
              </a:spcAft>
            </a:pPr>
            <a:r>
              <a:rPr lang="zh-CN" altLang="en-US" dirty="0" smtClean="0">
                <a:latin typeface="Arial" panose="020B0604020202020204" pitchFamily="34" charset="0"/>
                <a:cs typeface="Arial" panose="020B0604020202020204" pitchFamily="34" charset="0"/>
              </a:rPr>
              <a:t>用机器语言编写的一组机器指令的集合，称为机器代码（</a:t>
            </a:r>
            <a:r>
              <a:rPr lang="en-US" altLang="zh-CN" dirty="0" smtClean="0">
                <a:latin typeface="Arial" panose="020B0604020202020204" pitchFamily="34" charset="0"/>
                <a:cs typeface="Arial" panose="020B0604020202020204" pitchFamily="34" charset="0"/>
              </a:rPr>
              <a:t>Machine Code</a:t>
            </a:r>
            <a:r>
              <a:rPr lang="zh-CN" altLang="en-US" dirty="0" smtClean="0">
                <a:latin typeface="Arial" panose="020B0604020202020204" pitchFamily="34" charset="0"/>
                <a:cs typeface="Arial" panose="020B0604020202020204" pitchFamily="34" charset="0"/>
              </a:rPr>
              <a:t>），简称机器码</a:t>
            </a:r>
          </a:p>
          <a:p>
            <a:pPr lvl="1" eaLnBrk="1" hangingPunct="1">
              <a:spcBef>
                <a:spcPct val="0"/>
              </a:spcBef>
              <a:spcAft>
                <a:spcPct val="0"/>
              </a:spcAft>
            </a:pPr>
            <a:r>
              <a:rPr lang="zh-CN" altLang="en-US" dirty="0" smtClean="0">
                <a:latin typeface="Arial" panose="020B0604020202020204" pitchFamily="34" charset="0"/>
                <a:cs typeface="Arial" panose="020B0604020202020204" pitchFamily="34" charset="0"/>
              </a:rPr>
              <a:t>用一系列二进制</a:t>
            </a:r>
            <a:r>
              <a:rPr lang="en-US" altLang="zh-CN" dirty="0" smtClean="0">
                <a:latin typeface="Arial" panose="020B0604020202020204" pitchFamily="34" charset="0"/>
                <a:cs typeface="Arial" panose="020B0604020202020204" pitchFamily="34" charset="0"/>
              </a:rPr>
              <a:t>0</a:t>
            </a:r>
            <a:r>
              <a:rPr lang="zh-CN" altLang="en-US" dirty="0" smtClean="0">
                <a:latin typeface="Arial" panose="020B0604020202020204" pitchFamily="34" charset="0"/>
                <a:cs typeface="Arial" panose="020B0604020202020204" pitchFamily="34" charset="0"/>
              </a:rPr>
              <a:t>和</a:t>
            </a:r>
            <a:r>
              <a:rPr lang="en-US" altLang="zh-CN" dirty="0" smtClean="0">
                <a:latin typeface="Arial" panose="020B0604020202020204" pitchFamily="34" charset="0"/>
                <a:cs typeface="Arial" panose="020B0604020202020204" pitchFamily="34" charset="0"/>
              </a:rPr>
              <a:t>1</a:t>
            </a:r>
            <a:r>
              <a:rPr lang="zh-CN" altLang="en-US" dirty="0" smtClean="0">
                <a:latin typeface="Arial" panose="020B0604020202020204" pitchFamily="34" charset="0"/>
                <a:cs typeface="Arial" panose="020B0604020202020204" pitchFamily="34" charset="0"/>
              </a:rPr>
              <a:t>组成的二进制代码代表不同的机器指令</a:t>
            </a:r>
          </a:p>
          <a:p>
            <a:pPr lvl="1" eaLnBrk="1" hangingPunct="1">
              <a:spcBef>
                <a:spcPct val="0"/>
              </a:spcBef>
              <a:spcAft>
                <a:spcPct val="0"/>
              </a:spcAft>
            </a:pPr>
            <a:r>
              <a:rPr lang="zh-CN" altLang="en-US" dirty="0" smtClean="0">
                <a:latin typeface="Arial" panose="020B0604020202020204" pitchFamily="34" charset="0"/>
                <a:cs typeface="Arial" panose="020B0604020202020204" pitchFamily="34" charset="0"/>
              </a:rPr>
              <a:t>机器语言编写的</a:t>
            </a:r>
            <a:r>
              <a:rPr lang="en-US" altLang="zh-CN" dirty="0" smtClean="0">
                <a:latin typeface="Arial" panose="020B0604020202020204" pitchFamily="34" charset="0"/>
                <a:cs typeface="Arial" panose="020B0604020202020204" pitchFamily="34" charset="0"/>
              </a:rPr>
              <a:t>1+1</a:t>
            </a:r>
            <a:r>
              <a:rPr lang="zh-CN" altLang="en-US" dirty="0" smtClean="0">
                <a:latin typeface="Arial" panose="020B0604020202020204" pitchFamily="34" charset="0"/>
                <a:cs typeface="Arial" panose="020B0604020202020204" pitchFamily="34" charset="0"/>
              </a:rPr>
              <a:t>程序</a:t>
            </a:r>
            <a:r>
              <a:rPr lang="en-US" altLang="zh-CN" dirty="0" smtClean="0">
                <a:latin typeface="Arial" panose="020B0604020202020204" pitchFamily="34" charset="0"/>
                <a:cs typeface="Arial" panose="020B0604020202020204" pitchFamily="34" charset="0"/>
              </a:rPr>
              <a:t>——</a:t>
            </a:r>
            <a:r>
              <a:rPr lang="zh-CN" altLang="en-US" dirty="0" smtClean="0">
                <a:latin typeface="Arial" panose="020B0604020202020204" pitchFamily="34" charset="0"/>
                <a:cs typeface="Arial" panose="020B0604020202020204" pitchFamily="34" charset="0"/>
              </a:rPr>
              <a:t>犹如天书！</a:t>
            </a:r>
          </a:p>
          <a:p>
            <a:pPr lvl="1" eaLnBrk="1" hangingPunct="1">
              <a:lnSpc>
                <a:spcPct val="115000"/>
              </a:lnSpc>
              <a:spcBef>
                <a:spcPct val="0"/>
              </a:spcBef>
              <a:spcAft>
                <a:spcPct val="0"/>
              </a:spcAft>
            </a:pPr>
            <a:endParaRPr lang="zh-CN" altLang="en-US" dirty="0" smtClean="0"/>
          </a:p>
          <a:p>
            <a:pPr lvl="1" eaLnBrk="1" hangingPunct="1">
              <a:lnSpc>
                <a:spcPct val="100000"/>
              </a:lnSpc>
              <a:spcBef>
                <a:spcPct val="0"/>
              </a:spcBef>
              <a:spcAft>
                <a:spcPct val="0"/>
              </a:spcAft>
            </a:pPr>
            <a:endParaRPr lang="zh-CN" altLang="en-US" dirty="0" smtClean="0"/>
          </a:p>
          <a:p>
            <a:pPr lvl="1" eaLnBrk="1" hangingPunct="1">
              <a:lnSpc>
                <a:spcPct val="100000"/>
              </a:lnSpc>
              <a:spcBef>
                <a:spcPct val="0"/>
              </a:spcBef>
              <a:spcAft>
                <a:spcPct val="0"/>
              </a:spcAft>
            </a:pPr>
            <a:endParaRPr lang="zh-CN" altLang="en-US" dirty="0" smtClean="0"/>
          </a:p>
          <a:p>
            <a:pPr lvl="1" eaLnBrk="1" hangingPunct="1">
              <a:lnSpc>
                <a:spcPct val="100000"/>
              </a:lnSpc>
              <a:spcBef>
                <a:spcPct val="0"/>
              </a:spcBef>
              <a:spcAft>
                <a:spcPct val="0"/>
              </a:spcAft>
            </a:pPr>
            <a:endParaRPr lang="zh-CN" altLang="en-US" dirty="0" smtClean="0"/>
          </a:p>
          <a:p>
            <a:pPr lvl="1" eaLnBrk="1" hangingPunct="1">
              <a:lnSpc>
                <a:spcPct val="100000"/>
              </a:lnSpc>
              <a:spcBef>
                <a:spcPct val="0"/>
              </a:spcBef>
              <a:spcAft>
                <a:spcPct val="0"/>
              </a:spcAft>
            </a:pPr>
            <a:endParaRPr lang="zh-CN" altLang="en-US" dirty="0" smtClean="0"/>
          </a:p>
        </p:txBody>
      </p:sp>
      <p:sp>
        <p:nvSpPr>
          <p:cNvPr id="100356" name="Rectangle 4"/>
          <p:cNvSpPr>
            <a:spLocks noChangeArrowheads="1"/>
          </p:cNvSpPr>
          <p:nvPr/>
        </p:nvSpPr>
        <p:spPr bwMode="auto">
          <a:xfrm>
            <a:off x="1655366" y="4412987"/>
            <a:ext cx="16319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50000"/>
              <a:buFont typeface="Wingdings" panose="05000000000000000000" pitchFamily="2" charset="2"/>
              <a:buChar char="n"/>
              <a:tabLst>
                <a:tab pos="528638" algn="l"/>
                <a:tab pos="792163" algn="l"/>
                <a:tab pos="1057275" algn="l"/>
              </a:tabLst>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tabLst>
                <a:tab pos="528638" algn="l"/>
                <a:tab pos="792163" algn="l"/>
                <a:tab pos="1057275"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10111000</a:t>
            </a:r>
          </a:p>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00000001</a:t>
            </a:r>
          </a:p>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00000000</a:t>
            </a:r>
          </a:p>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00000101</a:t>
            </a:r>
          </a:p>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00000001</a:t>
            </a:r>
          </a:p>
          <a:p>
            <a:pPr algn="ctr">
              <a:lnSpc>
                <a:spcPct val="90000"/>
              </a:lnSpc>
              <a:spcBef>
                <a:spcPct val="0"/>
              </a:spcBef>
              <a:buSzPct val="80000"/>
              <a:buFont typeface="Wingdings" panose="05000000000000000000" pitchFamily="2" charset="2"/>
              <a:buNone/>
            </a:pPr>
            <a:r>
              <a:rPr lang="en-US" altLang="zh-CN" sz="2000" b="1" dirty="0">
                <a:latin typeface="Verdana" panose="020B0604030504040204" pitchFamily="34" charset="0"/>
              </a:rPr>
              <a:t>00000000</a:t>
            </a:r>
          </a:p>
        </p:txBody>
      </p:sp>
      <p:pic>
        <p:nvPicPr>
          <p:cNvPr id="8" name="Picture 7" descr="paper tape"/>
          <p:cNvPicPr>
            <a:picLocks noChangeAspect="1" noChangeArrowheads="1"/>
          </p:cNvPicPr>
          <p:nvPr/>
        </p:nvPicPr>
        <p:blipFill>
          <a:blip r:embed="rId3">
            <a:extLst>
              <a:ext uri="{28A0092B-C50C-407E-A947-70E740481C1C}">
                <a14:useLocalDpi xmlns:a14="http://schemas.microsoft.com/office/drawing/2010/main" val="0"/>
              </a:ext>
            </a:extLst>
          </a:blip>
          <a:srcRect l="22749" t="25444" r="19048" b="1118"/>
          <a:stretch>
            <a:fillRect/>
          </a:stretch>
        </p:blipFill>
        <p:spPr bwMode="auto">
          <a:xfrm>
            <a:off x="4802188" y="4456643"/>
            <a:ext cx="1895475"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图片 13" descr="Image3.jpg"/>
          <p:cNvPicPr>
            <a:picLocks noChangeAspect="1"/>
          </p:cNvPicPr>
          <p:nvPr/>
        </p:nvPicPr>
        <p:blipFill>
          <a:blip r:embed="rId4">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8913813" y="4941888"/>
            <a:ext cx="758825"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7" name="组合 16"/>
          <p:cNvGrpSpPr>
            <a:grpSpLocks/>
          </p:cNvGrpSpPr>
          <p:nvPr/>
        </p:nvGrpSpPr>
        <p:grpSpPr bwMode="auto">
          <a:xfrm>
            <a:off x="7185025" y="3733800"/>
            <a:ext cx="2647950" cy="1639888"/>
            <a:chOff x="4786314" y="2643182"/>
            <a:chExt cx="3429024" cy="2143140"/>
          </a:xfrm>
        </p:grpSpPr>
        <p:sp>
          <p:nvSpPr>
            <p:cNvPr id="15" name="爆炸形 2 14"/>
            <p:cNvSpPr/>
            <p:nvPr/>
          </p:nvSpPr>
          <p:spPr bwMode="auto">
            <a:xfrm>
              <a:off x="4786314" y="2643182"/>
              <a:ext cx="3429024" cy="2143140"/>
            </a:xfrm>
            <a:prstGeom prst="irregularSeal2">
              <a:avLst/>
            </a:prstGeom>
            <a:solidFill>
              <a:srgbClr val="FFFFCC"/>
            </a:solidFill>
            <a:ln w="12700" cap="flat" cmpd="sng" algn="ctr">
              <a:solidFill>
                <a:schemeClr val="tx1"/>
              </a:solidFill>
              <a:prstDash val="solid"/>
              <a:round/>
              <a:headEnd type="none" w="sm" len="sm"/>
              <a:tailEnd type="none" w="sm" len="sm"/>
            </a:ln>
            <a:effectLst/>
          </p:spPr>
          <p:txBody>
            <a:bodyP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35850" name="Rectangle 7"/>
            <p:cNvSpPr txBox="1">
              <a:spLocks noChangeArrowheads="1"/>
            </p:cNvSpPr>
            <p:nvPr/>
          </p:nvSpPr>
          <p:spPr bwMode="auto">
            <a:xfrm>
              <a:off x="5214942" y="3357562"/>
              <a:ext cx="2281711" cy="92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lstStyle>
              <a:lvl1pPr marL="374650" indent="-37465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Aft>
                  <a:spcPct val="20000"/>
                </a:spcAft>
                <a:buClr>
                  <a:srgbClr val="FFCC66"/>
                </a:buClr>
                <a:buSzPct val="80000"/>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计算机的母语是什么？</a:t>
              </a:r>
            </a:p>
          </p:txBody>
        </p:sp>
      </p:grpSp>
      <p:sp>
        <p:nvSpPr>
          <p:cNvPr id="35848" name="灯片编号占位符 11"/>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6780603D-9252-4CE2-B194-BAFB19D5B71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9</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box(in)">
                                      <p:cBhvr>
                                        <p:cTn id="7" dur="500"/>
                                        <p:tgtEl>
                                          <p:spTgt spid="10035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9"/>
          <p:cNvSpPr>
            <a:spLocks noGrp="1" noChangeArrowheads="1"/>
          </p:cNvSpPr>
          <p:nvPr>
            <p:ph type="title"/>
          </p:nvPr>
        </p:nvSpPr>
        <p:spPr>
          <a:xfrm>
            <a:off x="738188" y="428625"/>
            <a:ext cx="8447087" cy="839788"/>
          </a:xfrm>
        </p:spPr>
        <p:txBody>
          <a:bodyPr/>
          <a:lstStyle/>
          <a:p>
            <a:pPr eaLnBrk="1" hangingPunct="1"/>
            <a:r>
              <a:rPr lang="zh-CN" altLang="en-US" sz="4000" dirty="0" smtClean="0"/>
              <a:t>问题</a:t>
            </a:r>
            <a:r>
              <a:rPr lang="en-US" altLang="zh-CN" sz="4000" dirty="0" smtClean="0"/>
              <a:t>2</a:t>
            </a:r>
            <a:r>
              <a:rPr lang="zh-CN" altLang="en-US" sz="4000" dirty="0" smtClean="0"/>
              <a:t>：</a:t>
            </a:r>
            <a:r>
              <a:rPr lang="zh-CN" altLang="en-US" sz="4000" dirty="0"/>
              <a:t>如何</a:t>
            </a:r>
            <a:r>
              <a:rPr lang="zh-CN" altLang="en-US" sz="4000" dirty="0" smtClean="0"/>
              <a:t>让我们远离二进制？</a:t>
            </a:r>
            <a:r>
              <a:rPr lang="zh-CN" altLang="en-US" dirty="0" smtClean="0"/>
              <a:t> </a:t>
            </a:r>
          </a:p>
        </p:txBody>
      </p:sp>
      <p:sp>
        <p:nvSpPr>
          <p:cNvPr id="20" name="Rectangle 7"/>
          <p:cNvSpPr txBox="1">
            <a:spLocks noChangeArrowheads="1"/>
          </p:cNvSpPr>
          <p:nvPr/>
        </p:nvSpPr>
        <p:spPr bwMode="auto">
          <a:xfrm>
            <a:off x="273050" y="1341438"/>
            <a:ext cx="9324975"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lstStyle>
            <a:lvl1pPr marL="457200" indent="-4572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800100" indent="-34290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Bef>
                <a:spcPct val="0"/>
              </a:spcBef>
              <a:buClr>
                <a:schemeClr val="tx1"/>
              </a:buClr>
              <a:buSzPct val="80000"/>
            </a:pPr>
            <a:r>
              <a:rPr lang="en-US" altLang="zh-CN" sz="2800" dirty="0">
                <a:latin typeface="Arial" panose="020B0604020202020204" pitchFamily="34" charset="0"/>
                <a:ea typeface="黑体" panose="02010609060101010101" pitchFamily="49" charset="-122"/>
                <a:cs typeface="Times New Roman" panose="02020603050405020304" pitchFamily="18" charset="0"/>
              </a:rPr>
              <a:t>Both learn a third-party language</a:t>
            </a:r>
          </a:p>
          <a:p>
            <a:pPr>
              <a:lnSpc>
                <a:spcPct val="120000"/>
              </a:lnSpc>
              <a:spcBef>
                <a:spcPct val="0"/>
              </a:spcBef>
              <a:buClr>
                <a:schemeClr val="tx1"/>
              </a:buClr>
              <a:buSzPct val="80000"/>
            </a:pPr>
            <a:r>
              <a:rPr lang="zh-CN" altLang="en-US" sz="2800" dirty="0">
                <a:latin typeface="Arial" panose="020B0604020202020204" pitchFamily="34" charset="0"/>
                <a:ea typeface="黑体" panose="02010609060101010101" pitchFamily="49" charset="-122"/>
                <a:cs typeface="Times New Roman" panose="02020603050405020304" pitchFamily="18" charset="0"/>
              </a:rPr>
              <a:t>用助记符代表机器指令的操作码</a:t>
            </a:r>
          </a:p>
          <a:p>
            <a:pPr lvl="1">
              <a:lnSpc>
                <a:spcPct val="120000"/>
              </a:lnSpc>
              <a:spcBef>
                <a:spcPct val="0"/>
              </a:spcBef>
              <a:buClr>
                <a:schemeClr val="tx1"/>
              </a:buClr>
              <a:buSzPct val="115000"/>
              <a:buFont typeface="Arial" panose="020B0604020202020204" pitchFamily="34" charset="0"/>
              <a:buChar char="–"/>
            </a:pPr>
            <a:r>
              <a:rPr lang="zh-CN" altLang="en-US" sz="2400" dirty="0">
                <a:latin typeface="Arial" panose="020B0604020202020204" pitchFamily="34" charset="0"/>
                <a:ea typeface="黑体" panose="02010609060101010101" pitchFamily="49" charset="-122"/>
              </a:rPr>
              <a:t>用一个汇编器（</a:t>
            </a:r>
            <a:r>
              <a:rPr lang="en-US" altLang="zh-CN" sz="2400" dirty="0">
                <a:latin typeface="Arial" panose="020B0604020202020204" pitchFamily="34" charset="0"/>
                <a:ea typeface="黑体" panose="02010609060101010101" pitchFamily="49" charset="-122"/>
              </a:rPr>
              <a:t>Assembler</a:t>
            </a:r>
            <a:r>
              <a:rPr lang="zh-CN" altLang="en-US" sz="2400" dirty="0">
                <a:latin typeface="Arial" panose="020B0604020202020204" pitchFamily="34" charset="0"/>
                <a:ea typeface="黑体" panose="02010609060101010101" pitchFamily="49" charset="-122"/>
              </a:rPr>
              <a:t>）将这些符号翻译成机器可识别、可执行的二进制指令</a:t>
            </a:r>
            <a:r>
              <a:rPr lang="en-US" altLang="zh-CN" sz="2400" dirty="0">
                <a:latin typeface="Arial" panose="020B0604020202020204" pitchFamily="34" charset="0"/>
                <a:ea typeface="黑体" panose="02010609060101010101" pitchFamily="49" charset="-122"/>
              </a:rPr>
              <a:t>——</a:t>
            </a:r>
            <a:r>
              <a:rPr lang="zh-CN" altLang="en-US" sz="2400" dirty="0">
                <a:latin typeface="Arial" panose="020B0604020202020204" pitchFamily="34" charset="0"/>
                <a:ea typeface="黑体" panose="02010609060101010101" pitchFamily="49" charset="-122"/>
              </a:rPr>
              <a:t>汇编过程</a:t>
            </a:r>
          </a:p>
          <a:p>
            <a:pPr>
              <a:lnSpc>
                <a:spcPct val="120000"/>
              </a:lnSpc>
              <a:spcBef>
                <a:spcPct val="0"/>
              </a:spcBef>
              <a:buClr>
                <a:schemeClr val="tx1"/>
              </a:buClr>
              <a:buSzPct val="80000"/>
            </a:pPr>
            <a:r>
              <a:rPr lang="zh-CN" altLang="en-US" sz="2800" dirty="0">
                <a:latin typeface="Arial" panose="020B0604020202020204" pitchFamily="34" charset="0"/>
                <a:ea typeface="黑体" panose="02010609060101010101" pitchFamily="49" charset="-122"/>
                <a:cs typeface="Times New Roman" panose="02020603050405020304" pitchFamily="18" charset="0"/>
              </a:rPr>
              <a:t>汇编语言（</a:t>
            </a:r>
            <a:r>
              <a:rPr lang="en-US" altLang="zh-CN" sz="2800" dirty="0">
                <a:latin typeface="Arial" panose="020B0604020202020204" pitchFamily="34" charset="0"/>
                <a:ea typeface="黑体" panose="02010609060101010101" pitchFamily="49" charset="-122"/>
                <a:cs typeface="Arial" panose="020B0604020202020204" pitchFamily="34" charset="0"/>
              </a:rPr>
              <a:t>Assembly  Language</a:t>
            </a:r>
            <a:r>
              <a:rPr lang="zh-CN" altLang="en-US" sz="2800" dirty="0">
                <a:latin typeface="Arial" panose="020B0604020202020204" pitchFamily="34" charset="0"/>
                <a:ea typeface="黑体" panose="02010609060101010101" pitchFamily="49" charset="-122"/>
                <a:cs typeface="Arial" panose="020B0604020202020204" pitchFamily="34" charset="0"/>
              </a:rPr>
              <a:t>）</a:t>
            </a:r>
          </a:p>
          <a:p>
            <a:pPr lvl="1">
              <a:lnSpc>
                <a:spcPct val="120000"/>
              </a:lnSpc>
              <a:spcBef>
                <a:spcPct val="0"/>
              </a:spcBef>
              <a:buClr>
                <a:schemeClr val="tx1"/>
              </a:buClr>
              <a:buSzPct val="115000"/>
              <a:buFontTx/>
              <a:buChar char="–"/>
            </a:pPr>
            <a:r>
              <a:rPr lang="zh-CN" altLang="en-US" sz="2400" dirty="0">
                <a:latin typeface="Arial" panose="020B0604020202020204" pitchFamily="34" charset="0"/>
                <a:ea typeface="黑体" panose="02010609060101010101" pitchFamily="49" charset="-122"/>
              </a:rPr>
              <a:t>低级语言，与计算机硬件的距离的级别较低，对硬件依赖性强</a:t>
            </a:r>
            <a:endParaRPr lang="en-US" altLang="zh-CN" sz="2400" dirty="0">
              <a:latin typeface="Arial" panose="020B0604020202020204" pitchFamily="34" charset="0"/>
              <a:ea typeface="黑体" panose="02010609060101010101" pitchFamily="49" charset="-122"/>
            </a:endParaRPr>
          </a:p>
        </p:txBody>
      </p:sp>
      <p:sp>
        <p:nvSpPr>
          <p:cNvPr id="5" name="Rectangle 4"/>
          <p:cNvSpPr>
            <a:spLocks noChangeArrowheads="1"/>
          </p:cNvSpPr>
          <p:nvPr/>
        </p:nvSpPr>
        <p:spPr bwMode="auto">
          <a:xfrm>
            <a:off x="1479550" y="4106863"/>
            <a:ext cx="3360738"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defTabSz="457200">
              <a:spcBef>
                <a:spcPct val="20000"/>
              </a:spcBef>
              <a:buClr>
                <a:schemeClr val="tx2"/>
              </a:buClr>
              <a:buSzPct val="50000"/>
              <a:buFont typeface="Wingdings" panose="05000000000000000000" pitchFamily="2" charset="2"/>
              <a:buChar char="n"/>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chemeClr val="tx1"/>
                </a:solidFill>
                <a:latin typeface="Franklin Gothic Book" panose="020B0503020102020204" pitchFamily="34" charset="0"/>
              </a:defRPr>
            </a:lvl1pPr>
            <a:lvl2pPr marL="742950" indent="-285750" defTabSz="457200">
              <a:spcBef>
                <a:spcPct val="20000"/>
              </a:spcBef>
              <a:buClr>
                <a:schemeClr val="tx2"/>
              </a:buClr>
              <a:buSzPct val="50000"/>
              <a:buFont typeface="Wingdings 2" panose="05020102010507070707" pitchFamily="18" charset="2"/>
              <a:buChar char="Þ"/>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ts val="588"/>
              </a:spcBef>
              <a:spcAft>
                <a:spcPts val="588"/>
              </a:spcAft>
              <a:buClr>
                <a:srgbClr val="000000"/>
              </a:buClr>
              <a:buSzPct val="100000"/>
              <a:buFont typeface="Times New Roman" panose="02020603050405020304" pitchFamily="18" charset="0"/>
              <a:buNone/>
            </a:pPr>
            <a:r>
              <a:rPr lang="en-US" altLang="zh-CN" sz="2800" b="1" dirty="0">
                <a:solidFill>
                  <a:srgbClr val="000099"/>
                </a:solidFill>
                <a:latin typeface="Arial" panose="020B0604020202020204" pitchFamily="34" charset="0"/>
              </a:rPr>
              <a:t>MOV AX, 1</a:t>
            </a:r>
          </a:p>
        </p:txBody>
      </p:sp>
      <p:sp>
        <p:nvSpPr>
          <p:cNvPr id="36869" name="Rectangle 5"/>
          <p:cNvSpPr>
            <a:spLocks noChangeArrowheads="1"/>
          </p:cNvSpPr>
          <p:nvPr/>
        </p:nvSpPr>
        <p:spPr bwMode="auto">
          <a:xfrm>
            <a:off x="3495675" y="4437063"/>
            <a:ext cx="3249613"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tx2"/>
              </a:buClr>
              <a:buSzPct val="50000"/>
              <a:buFont typeface="Wingdings" panose="05000000000000000000" pitchFamily="2" charset="2"/>
              <a:buChar char="n"/>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chemeClr val="tx1"/>
                </a:solidFill>
                <a:latin typeface="Franklin Gothic Book" panose="020B0503020102020204" pitchFamily="34" charset="0"/>
              </a:defRPr>
            </a:lvl1pPr>
            <a:lvl2pPr marL="742950" indent="-285750" defTabSz="457200">
              <a:spcBef>
                <a:spcPct val="20000"/>
              </a:spcBef>
              <a:buClr>
                <a:schemeClr val="tx2"/>
              </a:buClr>
              <a:buSzPct val="50000"/>
              <a:buFont typeface="Wingdings 2" panose="05020102010507070707" pitchFamily="18" charset="2"/>
              <a:buChar char="Þ"/>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9pPr>
          </a:lstStyle>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10111000</a:t>
            </a:r>
          </a:p>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00000001</a:t>
            </a:r>
          </a:p>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00000000</a:t>
            </a:r>
          </a:p>
        </p:txBody>
      </p:sp>
      <p:sp>
        <p:nvSpPr>
          <p:cNvPr id="7" name="Rectangle 6"/>
          <p:cNvSpPr>
            <a:spLocks noChangeArrowheads="1"/>
          </p:cNvSpPr>
          <p:nvPr/>
        </p:nvSpPr>
        <p:spPr bwMode="auto">
          <a:xfrm>
            <a:off x="1604963" y="5403850"/>
            <a:ext cx="3205162"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defTabSz="457200">
              <a:spcBef>
                <a:spcPct val="20000"/>
              </a:spcBef>
              <a:buClr>
                <a:schemeClr val="tx2"/>
              </a:buClr>
              <a:buSzPct val="50000"/>
              <a:buFont typeface="Wingdings" panose="05000000000000000000" pitchFamily="2" charset="2"/>
              <a:buChar char="n"/>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chemeClr val="tx1"/>
                </a:solidFill>
                <a:latin typeface="Franklin Gothic Book" panose="020B0503020102020204" pitchFamily="34" charset="0"/>
              </a:defRPr>
            </a:lvl1pPr>
            <a:lvl2pPr marL="742950" indent="-285750" defTabSz="457200">
              <a:spcBef>
                <a:spcPct val="20000"/>
              </a:spcBef>
              <a:buClr>
                <a:schemeClr val="tx2"/>
              </a:buClr>
              <a:buSzPct val="50000"/>
              <a:buFont typeface="Wingdings 2" panose="05020102010507070707" pitchFamily="18" charset="2"/>
              <a:buChar char="Þ"/>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ts val="588"/>
              </a:spcBef>
              <a:spcAft>
                <a:spcPts val="588"/>
              </a:spcAft>
              <a:buClr>
                <a:srgbClr val="000000"/>
              </a:buClr>
              <a:buSzPct val="100000"/>
              <a:buFont typeface="Times New Roman" panose="02020603050405020304" pitchFamily="18" charset="0"/>
              <a:buNone/>
            </a:pPr>
            <a:r>
              <a:rPr lang="en-US" altLang="zh-CN" sz="2800" b="1" dirty="0">
                <a:solidFill>
                  <a:srgbClr val="000099"/>
                </a:solidFill>
                <a:latin typeface="Arial" panose="020B0604020202020204" pitchFamily="34" charset="0"/>
              </a:rPr>
              <a:t>ADD AX, 1</a:t>
            </a:r>
          </a:p>
        </p:txBody>
      </p:sp>
      <p:sp>
        <p:nvSpPr>
          <p:cNvPr id="36871" name="Rectangle 7"/>
          <p:cNvSpPr>
            <a:spLocks noChangeArrowheads="1"/>
          </p:cNvSpPr>
          <p:nvPr/>
        </p:nvSpPr>
        <p:spPr bwMode="auto">
          <a:xfrm>
            <a:off x="3621088" y="5445125"/>
            <a:ext cx="3017837"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tx2"/>
              </a:buClr>
              <a:buSzPct val="50000"/>
              <a:buFont typeface="Wingdings" panose="05000000000000000000" pitchFamily="2" charset="2"/>
              <a:buChar char="n"/>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chemeClr val="tx1"/>
                </a:solidFill>
                <a:latin typeface="Franklin Gothic Book" panose="020B0503020102020204" pitchFamily="34" charset="0"/>
              </a:defRPr>
            </a:lvl1pPr>
            <a:lvl2pPr marL="742950" indent="-285750" defTabSz="457200">
              <a:spcBef>
                <a:spcPct val="20000"/>
              </a:spcBef>
              <a:buClr>
                <a:schemeClr val="tx2"/>
              </a:buClr>
              <a:buSzPct val="50000"/>
              <a:buFont typeface="Wingdings 2" panose="05020102010507070707" pitchFamily="18" charset="2"/>
              <a:buChar char="Þ"/>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defTabSz="457200">
              <a:spcBef>
                <a:spcPct val="20000"/>
              </a:spcBef>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defTabSz="457200" eaLnBrk="0" fontAlgn="base" hangingPunct="0">
              <a:spcBef>
                <a:spcPct val="20000"/>
              </a:spcBef>
              <a:spcAft>
                <a:spcPct val="0"/>
              </a:spcAft>
              <a:buClr>
                <a:schemeClr val="tx2"/>
              </a:buClr>
              <a:buSzPct val="50000"/>
              <a:buFont typeface="Wingdings 2" panose="05020102010507070707" pitchFamily="18"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Times New Roman" panose="02020603050405020304" pitchFamily="18" charset="0"/>
                <a:cs typeface="Times New Roman" panose="02020603050405020304" pitchFamily="18" charset="0"/>
              </a:defRPr>
            </a:lvl9pPr>
          </a:lstStyle>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00000101</a:t>
            </a:r>
          </a:p>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00000001</a:t>
            </a:r>
          </a:p>
          <a:p>
            <a:pPr algn="ctr">
              <a:lnSpc>
                <a:spcPct val="80000"/>
              </a:lnSpc>
              <a:spcBef>
                <a:spcPct val="0"/>
              </a:spcBef>
              <a:buClr>
                <a:srgbClr val="000000"/>
              </a:buClr>
              <a:buSzPct val="100000"/>
              <a:buFont typeface="Times New Roman" panose="02020603050405020304" pitchFamily="18" charset="0"/>
              <a:buNone/>
            </a:pPr>
            <a:r>
              <a:rPr lang="en-US" altLang="zh-CN" sz="2400" b="1">
                <a:latin typeface="Arial" panose="020B0604020202020204" pitchFamily="34" charset="0"/>
                <a:cs typeface="Arial" panose="020B0604020202020204" pitchFamily="34" charset="0"/>
              </a:rPr>
              <a:t>00000000</a:t>
            </a:r>
          </a:p>
        </p:txBody>
      </p:sp>
      <p:sp>
        <p:nvSpPr>
          <p:cNvPr id="36872" name="Line 8"/>
          <p:cNvSpPr>
            <a:spLocks noChangeShapeType="1"/>
          </p:cNvSpPr>
          <p:nvPr/>
        </p:nvSpPr>
        <p:spPr bwMode="auto">
          <a:xfrm>
            <a:off x="1898650" y="5403850"/>
            <a:ext cx="5070475" cy="1588"/>
          </a:xfrm>
          <a:prstGeom prst="line">
            <a:avLst/>
          </a:prstGeom>
          <a:noFill/>
          <a:ln w="12600">
            <a:solidFill>
              <a:srgbClr val="000000"/>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687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5025" y="4724400"/>
            <a:ext cx="201612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灯片编号占位符 11"/>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8D685DC2-B9B2-4FC6-80F3-B6BE3640FC2B}"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10</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9"/>
          <p:cNvSpPr>
            <a:spLocks noGrp="1" noChangeArrowheads="1"/>
          </p:cNvSpPr>
          <p:nvPr>
            <p:ph type="title"/>
          </p:nvPr>
        </p:nvSpPr>
        <p:spPr>
          <a:xfrm>
            <a:off x="738188" y="476250"/>
            <a:ext cx="8447087" cy="839788"/>
          </a:xfrm>
        </p:spPr>
        <p:txBody>
          <a:bodyPr/>
          <a:lstStyle/>
          <a:p>
            <a:pPr eaLnBrk="1" hangingPunct="1"/>
            <a:r>
              <a:rPr lang="zh-CN" altLang="en-US" sz="3600" dirty="0" smtClean="0"/>
              <a:t>问题</a:t>
            </a:r>
            <a:r>
              <a:rPr lang="en-US" altLang="zh-CN" sz="3600" dirty="0" smtClean="0"/>
              <a:t>3</a:t>
            </a:r>
            <a:r>
              <a:rPr lang="zh-CN" altLang="en-US" sz="3600" dirty="0" smtClean="0"/>
              <a:t>：</a:t>
            </a:r>
            <a:r>
              <a:rPr lang="zh-CN" altLang="en-US" sz="3600" dirty="0"/>
              <a:t>如何</a:t>
            </a:r>
            <a:r>
              <a:rPr lang="zh-CN" altLang="en-US" sz="3600" dirty="0" smtClean="0"/>
              <a:t>实现更有效的人机交流？</a:t>
            </a:r>
            <a:r>
              <a:rPr lang="zh-CN" altLang="en-US" sz="4000" dirty="0" smtClean="0"/>
              <a:t> </a:t>
            </a:r>
          </a:p>
        </p:txBody>
      </p:sp>
      <p:sp>
        <p:nvSpPr>
          <p:cNvPr id="20" name="Rectangle 7"/>
          <p:cNvSpPr txBox="1">
            <a:spLocks noChangeArrowheads="1"/>
          </p:cNvSpPr>
          <p:nvPr/>
        </p:nvSpPr>
        <p:spPr bwMode="auto">
          <a:xfrm>
            <a:off x="381000" y="1484313"/>
            <a:ext cx="9324975"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lstStyle>
            <a:lvl1pPr marL="457200" indent="-4572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831850" indent="-3746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Aft>
                <a:spcPts val="588"/>
              </a:spcAft>
              <a:buClr>
                <a:schemeClr val="tx1"/>
              </a:buClr>
              <a:buSzPct val="80000"/>
            </a:pPr>
            <a:r>
              <a:rPr lang="zh-CN" altLang="en-US" sz="2800" dirty="0">
                <a:latin typeface="Arial" panose="020B0604020202020204" pitchFamily="34" charset="0"/>
                <a:ea typeface="黑体" panose="02010609060101010101" pitchFamily="49" charset="-122"/>
                <a:cs typeface="Arial" panose="020B0604020202020204" pitchFamily="34" charset="0"/>
              </a:rPr>
              <a:t>设计更贴近人类自然语言和数学语言的计算机语言</a:t>
            </a:r>
          </a:p>
          <a:p>
            <a:pPr>
              <a:lnSpc>
                <a:spcPct val="120000"/>
              </a:lnSpc>
              <a:spcAft>
                <a:spcPts val="588"/>
              </a:spcAft>
              <a:buClr>
                <a:schemeClr val="tx1"/>
              </a:buClr>
              <a:buSzPct val="80000"/>
            </a:pPr>
            <a:r>
              <a:rPr lang="zh-CN" altLang="en-US" sz="2800" dirty="0">
                <a:latin typeface="Arial" panose="020B0604020202020204" pitchFamily="34" charset="0"/>
                <a:ea typeface="黑体" panose="02010609060101010101" pitchFamily="49" charset="-122"/>
                <a:cs typeface="Arial" panose="020B0604020202020204" pitchFamily="34" charset="0"/>
              </a:rPr>
              <a:t>高级语言（ </a:t>
            </a:r>
            <a:r>
              <a:rPr lang="en-US" altLang="zh-CN" sz="2800" dirty="0">
                <a:latin typeface="Arial" panose="020B0604020202020204" pitchFamily="34" charset="0"/>
                <a:ea typeface="黑体" panose="02010609060101010101" pitchFamily="49" charset="-122"/>
                <a:cs typeface="Arial" panose="020B0604020202020204" pitchFamily="34" charset="0"/>
              </a:rPr>
              <a:t>High-level Languages </a:t>
            </a:r>
            <a:r>
              <a:rPr lang="zh-CN" altLang="en-US" sz="2800" dirty="0">
                <a:latin typeface="Arial" panose="020B0604020202020204" pitchFamily="34" charset="0"/>
                <a:ea typeface="黑体" panose="02010609060101010101" pitchFamily="49" charset="-122"/>
                <a:cs typeface="Arial" panose="020B0604020202020204" pitchFamily="34" charset="0"/>
              </a:rPr>
              <a:t>）</a:t>
            </a:r>
          </a:p>
          <a:p>
            <a:pPr>
              <a:lnSpc>
                <a:spcPct val="120000"/>
              </a:lnSpc>
              <a:spcBef>
                <a:spcPct val="0"/>
              </a:spcBef>
              <a:buClr>
                <a:schemeClr val="tx1"/>
              </a:buClr>
              <a:buSzPct val="115000"/>
              <a:buFont typeface="Times New Roman" panose="02020603050405020304" pitchFamily="18" charset="0"/>
              <a:buChar char="–"/>
            </a:pPr>
            <a:r>
              <a:rPr lang="zh-CN" altLang="en-US" sz="2800" dirty="0">
                <a:latin typeface="Arial" panose="020B0604020202020204" pitchFamily="34" charset="0"/>
                <a:ea typeface="黑体" panose="02010609060101010101" pitchFamily="49" charset="-122"/>
                <a:cs typeface="Arial" panose="020B0604020202020204" pitchFamily="34" charset="0"/>
              </a:rPr>
              <a:t>“</a:t>
            </a:r>
            <a:r>
              <a:rPr lang="zh-CN" altLang="en-US" sz="2800" dirty="0">
                <a:solidFill>
                  <a:srgbClr val="A50021"/>
                </a:solidFill>
                <a:latin typeface="Arial" panose="020B0604020202020204" pitchFamily="34" charset="0"/>
                <a:ea typeface="黑体" panose="02010609060101010101" pitchFamily="49" charset="-122"/>
                <a:cs typeface="Arial" panose="020B0604020202020204" pitchFamily="34" charset="0"/>
              </a:rPr>
              <a:t>高级</a:t>
            </a:r>
            <a:r>
              <a:rPr lang="zh-CN" altLang="en-US" sz="2800" dirty="0">
                <a:latin typeface="Arial" panose="020B0604020202020204" pitchFamily="34" charset="0"/>
                <a:ea typeface="黑体" panose="02010609060101010101" pitchFamily="49" charset="-122"/>
                <a:cs typeface="Arial" panose="020B0604020202020204" pitchFamily="34" charset="0"/>
              </a:rPr>
              <a:t>”在哪里？</a:t>
            </a:r>
          </a:p>
          <a:p>
            <a:pPr lvl="1">
              <a:lnSpc>
                <a:spcPct val="120000"/>
              </a:lnSpc>
              <a:spcBef>
                <a:spcPct val="0"/>
              </a:spcBef>
              <a:buClr>
                <a:schemeClr val="tx1"/>
              </a:buClr>
              <a:buSzPct val="115000"/>
              <a:buFont typeface="Times New Roman" panose="02020603050405020304" pitchFamily="18" charset="0"/>
              <a:buChar char="–"/>
            </a:pPr>
            <a:r>
              <a:rPr lang="zh-CN" altLang="en-US" sz="2400" dirty="0">
                <a:latin typeface="Arial" panose="020B0604020202020204" pitchFamily="34" charset="0"/>
                <a:ea typeface="黑体" panose="02010609060101010101" pitchFamily="49" charset="-122"/>
                <a:cs typeface="Arial" panose="020B0604020202020204" pitchFamily="34" charset="0"/>
              </a:rPr>
              <a:t>可以在一个更高的级别上进行编程</a:t>
            </a:r>
          </a:p>
          <a:p>
            <a:pPr lvl="1">
              <a:lnSpc>
                <a:spcPct val="120000"/>
              </a:lnSpc>
              <a:spcBef>
                <a:spcPct val="0"/>
              </a:spcBef>
              <a:buClr>
                <a:schemeClr val="tx1"/>
              </a:buClr>
              <a:buSzPct val="115000"/>
              <a:buFont typeface="Times New Roman" panose="02020603050405020304" pitchFamily="18" charset="0"/>
              <a:buChar char="–"/>
            </a:pPr>
            <a:r>
              <a:rPr lang="zh-CN" altLang="en-US" sz="2400" dirty="0">
                <a:latin typeface="Arial" panose="020B0604020202020204" pitchFamily="34" charset="0"/>
                <a:ea typeface="黑体" panose="02010609060101010101" pitchFamily="49" charset="-122"/>
                <a:cs typeface="Arial" panose="020B0604020202020204" pitchFamily="34" charset="0"/>
              </a:rPr>
              <a:t>不像低级语言那样依赖于硬件</a:t>
            </a:r>
          </a:p>
          <a:p>
            <a:pPr lvl="1">
              <a:lnSpc>
                <a:spcPct val="120000"/>
              </a:lnSpc>
              <a:spcBef>
                <a:spcPct val="0"/>
              </a:spcBef>
              <a:buClr>
                <a:schemeClr val="tx1"/>
              </a:buClr>
              <a:buSzPct val="115000"/>
              <a:buFont typeface="Times New Roman" panose="02020603050405020304" pitchFamily="18" charset="0"/>
              <a:buChar char="–"/>
            </a:pPr>
            <a:r>
              <a:rPr lang="zh-CN" altLang="en-US" sz="2400" dirty="0">
                <a:latin typeface="Arial" panose="020B0604020202020204" pitchFamily="34" charset="0"/>
                <a:ea typeface="黑体" panose="02010609060101010101" pitchFamily="49" charset="-122"/>
                <a:cs typeface="Arial" panose="020B0604020202020204" pitchFamily="34" charset="0"/>
              </a:rPr>
              <a:t>更远离机器语言</a:t>
            </a:r>
          </a:p>
          <a:p>
            <a:pPr lvl="1">
              <a:lnSpc>
                <a:spcPct val="120000"/>
              </a:lnSpc>
              <a:spcBef>
                <a:spcPct val="0"/>
              </a:spcBef>
              <a:buClr>
                <a:schemeClr val="tx1"/>
              </a:buClr>
              <a:buSzPct val="115000"/>
              <a:buFont typeface="Times New Roman" panose="02020603050405020304" pitchFamily="18" charset="0"/>
              <a:buChar char="–"/>
            </a:pPr>
            <a:r>
              <a:rPr lang="zh-CN" altLang="en-US" sz="2400" dirty="0">
                <a:latin typeface="Arial" panose="020B0604020202020204" pitchFamily="34" charset="0"/>
                <a:ea typeface="黑体" panose="02010609060101010101" pitchFamily="49" charset="-122"/>
                <a:cs typeface="Arial" panose="020B0604020202020204" pitchFamily="34" charset="0"/>
              </a:rPr>
              <a:t>更易学易用，具有可移植性</a:t>
            </a:r>
          </a:p>
        </p:txBody>
      </p:sp>
      <p:pic>
        <p:nvPicPr>
          <p:cNvPr id="22534" name="图片 7" descr="Image5.jpg"/>
          <p:cNvPicPr>
            <a:picLocks noChangeAspect="1"/>
          </p:cNvPicPr>
          <p:nvPr/>
        </p:nvPicPr>
        <p:blipFill>
          <a:blip r:embed="rId3">
            <a:clrChange>
              <a:clrFrom>
                <a:srgbClr val="FEFFF9"/>
              </a:clrFrom>
              <a:clrTo>
                <a:srgbClr val="FEFFF9">
                  <a:alpha val="0"/>
                </a:srgbClr>
              </a:clrTo>
            </a:clrChange>
            <a:extLst>
              <a:ext uri="{28A0092B-C50C-407E-A947-70E740481C1C}">
                <a14:useLocalDpi xmlns:a14="http://schemas.microsoft.com/office/drawing/2010/main" val="0"/>
              </a:ext>
            </a:extLst>
          </a:blip>
          <a:srcRect/>
          <a:stretch>
            <a:fillRect/>
          </a:stretch>
        </p:blipFill>
        <p:spPr bwMode="auto">
          <a:xfrm>
            <a:off x="6248400" y="3068638"/>
            <a:ext cx="3327400"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183D0F1C-8985-4BE2-80E8-BC37AAFBF855}"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11</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anim calcmode="lin" valueType="num">
                                      <p:cBhvr>
                                        <p:cTn id="7" dur="500" fill="hold"/>
                                        <p:tgtEl>
                                          <p:spTgt spid="22534"/>
                                        </p:tgtEl>
                                        <p:attrNameLst>
                                          <p:attrName>ppt_w</p:attrName>
                                        </p:attrNameLst>
                                      </p:cBhvr>
                                      <p:tavLst>
                                        <p:tav tm="0">
                                          <p:val>
                                            <p:fltVal val="0"/>
                                          </p:val>
                                        </p:tav>
                                        <p:tav tm="100000">
                                          <p:val>
                                            <p:strVal val="#ppt_w"/>
                                          </p:val>
                                        </p:tav>
                                      </p:tavLst>
                                    </p:anim>
                                    <p:anim calcmode="lin" valueType="num">
                                      <p:cBhvr>
                                        <p:cTn id="8" dur="500" fill="hold"/>
                                        <p:tgtEl>
                                          <p:spTgt spid="225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idx="4294967295"/>
          </p:nvPr>
        </p:nvSpPr>
        <p:spPr>
          <a:xfrm>
            <a:off x="495300" y="269875"/>
            <a:ext cx="8915400" cy="1143000"/>
          </a:xfrm>
        </p:spPr>
        <p:txBody>
          <a:bodyPr/>
          <a:lstStyle/>
          <a:p>
            <a:r>
              <a:rPr lang="zh-CN" altLang="en-US" sz="3600" dirty="0" smtClean="0"/>
              <a:t>问题</a:t>
            </a:r>
            <a:r>
              <a:rPr lang="en-US" altLang="zh-CN" sz="3600" dirty="0" smtClean="0"/>
              <a:t>4</a:t>
            </a:r>
            <a:r>
              <a:rPr lang="zh-CN" altLang="en-US" sz="3600" dirty="0" smtClean="0"/>
              <a:t>：</a:t>
            </a:r>
            <a:r>
              <a:rPr lang="zh-CN" altLang="en-US" sz="3600" dirty="0" smtClean="0">
                <a:latin typeface="黑体" panose="02010609060101010101" pitchFamily="49" charset="-122"/>
              </a:rPr>
              <a:t>如何将高级语言翻译成机器语言？</a:t>
            </a:r>
          </a:p>
        </p:txBody>
      </p:sp>
      <p:sp>
        <p:nvSpPr>
          <p:cNvPr id="29699" name="内容占位符 2"/>
          <p:cNvSpPr>
            <a:spLocks noGrp="1"/>
          </p:cNvSpPr>
          <p:nvPr>
            <p:ph idx="4294967295"/>
          </p:nvPr>
        </p:nvSpPr>
        <p:spPr>
          <a:xfrm>
            <a:off x="415925" y="1412875"/>
            <a:ext cx="9066213" cy="4686300"/>
          </a:xfrm>
        </p:spPr>
        <p:txBody>
          <a:bodyPr/>
          <a:lstStyle/>
          <a:p>
            <a:pPr>
              <a:lnSpc>
                <a:spcPct val="120000"/>
              </a:lnSpc>
              <a:spcBef>
                <a:spcPct val="0"/>
              </a:spcBef>
            </a:pPr>
            <a:r>
              <a:rPr lang="zh-CN" altLang="en-US" sz="2400" dirty="0" smtClean="0">
                <a:latin typeface="Times New Roman" panose="02020603050405020304" pitchFamily="18" charset="0"/>
                <a:cs typeface="Times New Roman" panose="02020603050405020304" pitchFamily="18" charset="0"/>
              </a:rPr>
              <a:t>编译型语言</a:t>
            </a:r>
          </a:p>
          <a:p>
            <a:pPr lvl="1">
              <a:lnSpc>
                <a:spcPct val="120000"/>
              </a:lnSpc>
              <a:spcBef>
                <a:spcPct val="0"/>
              </a:spcBef>
            </a:pPr>
            <a:r>
              <a:rPr lang="zh-CN" altLang="en-US" sz="2000" dirty="0" smtClean="0">
                <a:latin typeface="Arial" panose="020B0604020202020204" pitchFamily="34" charset="0"/>
                <a:cs typeface="Arial" panose="020B0604020202020204" pitchFamily="34" charset="0"/>
              </a:rPr>
              <a:t>通过编译器（</a:t>
            </a:r>
            <a:r>
              <a:rPr lang="zh-CN" altLang="zh-CN" sz="2000" dirty="0" smtClean="0">
                <a:latin typeface="Arial" panose="020B0604020202020204" pitchFamily="34" charset="0"/>
                <a:cs typeface="Arial" panose="020B0604020202020204" pitchFamily="34" charset="0"/>
              </a:rPr>
              <a:t>Compiler</a:t>
            </a:r>
            <a:r>
              <a:rPr lang="zh-CN" altLang="en-US" sz="2000" dirty="0" smtClean="0">
                <a:latin typeface="Arial" panose="020B0604020202020204" pitchFamily="34" charset="0"/>
                <a:cs typeface="Arial" panose="020B0604020202020204" pitchFamily="34" charset="0"/>
              </a:rPr>
              <a:t>）把源程序全部翻译成逻辑上与之等价的机器语言表示的目标代码（</a:t>
            </a:r>
            <a:r>
              <a:rPr lang="en-US" altLang="zh-CN" sz="2000" dirty="0" smtClean="0">
                <a:latin typeface="Arial" panose="020B0604020202020204" pitchFamily="34" charset="0"/>
                <a:cs typeface="Arial" panose="020B0604020202020204" pitchFamily="34" charset="0"/>
              </a:rPr>
              <a:t>Object Code</a:t>
            </a:r>
            <a:r>
              <a:rPr lang="zh-CN" altLang="en-US" sz="2000" dirty="0" smtClean="0">
                <a:latin typeface="Arial" panose="020B0604020202020204" pitchFamily="34" charset="0"/>
                <a:cs typeface="Arial" panose="020B0604020202020204" pitchFamily="34" charset="0"/>
              </a:rPr>
              <a:t>），才能被计算机识别和执行</a:t>
            </a:r>
          </a:p>
          <a:p>
            <a:pPr lvl="1">
              <a:lnSpc>
                <a:spcPct val="120000"/>
              </a:lnSpc>
              <a:spcBef>
                <a:spcPct val="0"/>
              </a:spcBef>
            </a:pPr>
            <a:endParaRPr lang="en-US" altLang="zh-CN" sz="2000" dirty="0" smtClean="0">
              <a:latin typeface="Arial" panose="020B0604020202020204" pitchFamily="34" charset="0"/>
              <a:cs typeface="Arial" panose="020B0604020202020204" pitchFamily="34" charset="0"/>
            </a:endParaRPr>
          </a:p>
          <a:p>
            <a:pPr>
              <a:lnSpc>
                <a:spcPct val="120000"/>
              </a:lnSpc>
              <a:spcBef>
                <a:spcPct val="0"/>
              </a:spcBef>
            </a:pPr>
            <a:endParaRPr lang="en-US" altLang="zh-CN" sz="2400" dirty="0" smtClean="0">
              <a:latin typeface="Arial" panose="020B0604020202020204" pitchFamily="34" charset="0"/>
              <a:cs typeface="Arial" panose="020B0604020202020204" pitchFamily="34" charset="0"/>
            </a:endParaRPr>
          </a:p>
          <a:p>
            <a:pPr>
              <a:lnSpc>
                <a:spcPct val="120000"/>
              </a:lnSpc>
              <a:spcBef>
                <a:spcPct val="0"/>
              </a:spcBef>
            </a:pPr>
            <a:endParaRPr lang="en-US" altLang="zh-CN" sz="2400" dirty="0" smtClean="0">
              <a:latin typeface="Times New Roman" panose="02020603050405020304" pitchFamily="18" charset="0"/>
              <a:cs typeface="Times New Roman" panose="02020603050405020304" pitchFamily="18" charset="0"/>
            </a:endParaRPr>
          </a:p>
          <a:p>
            <a:pPr>
              <a:lnSpc>
                <a:spcPct val="120000"/>
              </a:lnSpc>
              <a:spcBef>
                <a:spcPct val="0"/>
              </a:spcBef>
            </a:pPr>
            <a:r>
              <a:rPr lang="zh-CN" altLang="en-US" sz="2400" dirty="0" smtClean="0">
                <a:latin typeface="Times New Roman" panose="02020603050405020304" pitchFamily="18" charset="0"/>
                <a:cs typeface="Times New Roman" panose="02020603050405020304" pitchFamily="18" charset="0"/>
              </a:rPr>
              <a:t>解释型语言</a:t>
            </a:r>
          </a:p>
          <a:p>
            <a:pPr lvl="1">
              <a:lnSpc>
                <a:spcPct val="120000"/>
              </a:lnSpc>
              <a:spcBef>
                <a:spcPct val="0"/>
              </a:spcBef>
            </a:pPr>
            <a:r>
              <a:rPr lang="zh-CN" altLang="en-US" sz="2000" dirty="0" smtClean="0"/>
              <a:t>解释程序</a:t>
            </a:r>
            <a:r>
              <a:rPr lang="zh-CN" altLang="en-US" sz="2000" dirty="0" smtClean="0">
                <a:latin typeface="Arial" panose="020B0604020202020204" pitchFamily="34" charset="0"/>
              </a:rPr>
              <a:t>（</a:t>
            </a:r>
            <a:r>
              <a:rPr lang="en-US" altLang="zh-CN" sz="2000" dirty="0" smtClean="0">
                <a:latin typeface="Arial" panose="020B0604020202020204" pitchFamily="34" charset="0"/>
              </a:rPr>
              <a:t>Interpreter</a:t>
            </a:r>
            <a:r>
              <a:rPr lang="zh-CN" altLang="en-US" sz="2000" dirty="0" smtClean="0">
                <a:latin typeface="Arial" panose="020B0604020202020204" pitchFamily="34" charset="0"/>
              </a:rPr>
              <a:t>）</a:t>
            </a:r>
            <a:r>
              <a:rPr lang="zh-CN" altLang="en-US" sz="2000" dirty="0" smtClean="0"/>
              <a:t>边扫描边解释，</a:t>
            </a:r>
            <a:r>
              <a:rPr lang="zh-CN" altLang="zh-CN" sz="2000" dirty="0" smtClean="0"/>
              <a:t>语句</a:t>
            </a:r>
            <a:r>
              <a:rPr lang="zh-CN" altLang="en-US" sz="2000" dirty="0" smtClean="0"/>
              <a:t>被逐条</a:t>
            </a:r>
            <a:r>
              <a:rPr lang="zh-CN" altLang="zh-CN" sz="2000" dirty="0" smtClean="0"/>
              <a:t>地解释成可执行的机器指令</a:t>
            </a:r>
            <a:r>
              <a:rPr lang="zh-CN" altLang="en-US" sz="2000" dirty="0" smtClean="0"/>
              <a:t>，不产生目标程序</a:t>
            </a:r>
            <a:r>
              <a:rPr lang="en-US" altLang="zh-CN" sz="2000" dirty="0" smtClean="0"/>
              <a:t>——“</a:t>
            </a:r>
            <a:r>
              <a:rPr lang="zh-CN" altLang="en-US" sz="2000" dirty="0" smtClean="0"/>
              <a:t>同声传译”</a:t>
            </a:r>
          </a:p>
          <a:p>
            <a:pPr lvl="1">
              <a:lnSpc>
                <a:spcPct val="120000"/>
              </a:lnSpc>
              <a:spcBef>
                <a:spcPct val="0"/>
              </a:spcBef>
            </a:pPr>
            <a:r>
              <a:rPr lang="zh-CN" altLang="en-US" sz="2000" dirty="0" smtClean="0"/>
              <a:t>有些解释语言（如</a:t>
            </a:r>
            <a:r>
              <a:rPr lang="en-US" altLang="zh-CN" sz="2000" dirty="0" smtClean="0">
                <a:latin typeface="Arial" panose="020B0604020202020204" pitchFamily="34" charset="0"/>
              </a:rPr>
              <a:t>Java</a:t>
            </a:r>
            <a:r>
              <a:rPr lang="zh-CN" altLang="en-US" sz="2000" dirty="0" smtClean="0">
                <a:latin typeface="Arial" panose="020B0604020202020204" pitchFamily="34" charset="0"/>
              </a:rPr>
              <a:t>和</a:t>
            </a:r>
            <a:r>
              <a:rPr lang="en-US" altLang="zh-CN" sz="2000" dirty="0" smtClean="0">
                <a:latin typeface="Arial" panose="020B0604020202020204" pitchFamily="34" charset="0"/>
              </a:rPr>
              <a:t>C#</a:t>
            </a:r>
            <a:r>
              <a:rPr lang="zh-CN" altLang="en-US" sz="2000" dirty="0" smtClean="0">
                <a:latin typeface="Arial" panose="020B0604020202020204" pitchFamily="34" charset="0"/>
              </a:rPr>
              <a:t>）采</a:t>
            </a:r>
            <a:r>
              <a:rPr lang="zh-CN" altLang="en-US" sz="2000" dirty="0" smtClean="0"/>
              <a:t>用了“先编译、后解释”的方法来提速</a:t>
            </a:r>
            <a:endParaRPr lang="en-US" altLang="zh-CN" sz="2000" dirty="0" smtClean="0"/>
          </a:p>
        </p:txBody>
      </p:sp>
      <p:pic>
        <p:nvPicPr>
          <p:cNvPr id="29704"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49538" y="5516563"/>
            <a:ext cx="4665662"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9888" y="2781300"/>
            <a:ext cx="71723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灯片编号占位符 7"/>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BF9CA9D4-3EAD-4BA0-A312-F3B6AD2BC08B}"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12</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9" name="Rectangle 3"/>
          <p:cNvSpPr>
            <a:spLocks noChangeArrowheads="1"/>
          </p:cNvSpPr>
          <p:nvPr/>
        </p:nvSpPr>
        <p:spPr bwMode="auto">
          <a:xfrm>
            <a:off x="1136576" y="3119714"/>
            <a:ext cx="2176462"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266616" rIns="266616" anchor="ctr">
            <a:spAutoFit/>
          </a:bodyPr>
          <a:lstStyle>
            <a:lvl1pPr>
              <a:spcBef>
                <a:spcPct val="20000"/>
              </a:spcBef>
              <a:buClr>
                <a:schemeClr val="tx2"/>
              </a:buClr>
              <a:buSzPct val="50000"/>
              <a:buFont typeface="Wingdings" panose="05000000000000000000" pitchFamily="2" charset="2"/>
              <a:buChar char="n"/>
              <a:tabLst>
                <a:tab pos="528638" algn="l"/>
                <a:tab pos="792163" algn="l"/>
                <a:tab pos="1057275" algn="l"/>
              </a:tabLst>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tabLst>
                <a:tab pos="528638" algn="l"/>
                <a:tab pos="792163" algn="l"/>
                <a:tab pos="1057275"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Font typeface="Wingdings" panose="05000000000000000000" pitchFamily="2" charset="2"/>
              <a:buNone/>
            </a:pPr>
            <a:r>
              <a:rPr lang="en-US" altLang="zh-CN" sz="2400" b="1">
                <a:latin typeface="Courier New" panose="02070309020205020404" pitchFamily="49" charset="0"/>
              </a:rPr>
              <a:t>PRINT 1+1</a:t>
            </a:r>
          </a:p>
        </p:txBody>
      </p:sp>
      <p:sp>
        <p:nvSpPr>
          <p:cNvPr id="101383" name="Rectangle 7"/>
          <p:cNvSpPr>
            <a:spLocks noGrp="1" noChangeArrowheads="1"/>
          </p:cNvSpPr>
          <p:nvPr>
            <p:ph type="body" idx="1"/>
          </p:nvPr>
        </p:nvSpPr>
        <p:spPr>
          <a:xfrm>
            <a:off x="-9683" y="1985157"/>
            <a:ext cx="4897438" cy="720725"/>
          </a:xfrm>
        </p:spPr>
        <p:txBody>
          <a:bodyPr anchor="t"/>
          <a:lstStyle/>
          <a:p>
            <a:pPr eaLnBrk="1" hangingPunct="1">
              <a:lnSpc>
                <a:spcPct val="105000"/>
              </a:lnSpc>
            </a:pPr>
            <a:r>
              <a:rPr lang="en-US" altLang="zh-CN" dirty="0" smtClean="0">
                <a:latin typeface="Arial" panose="020B0604020202020204" pitchFamily="34" charset="0"/>
                <a:cs typeface="Arial" panose="020B0604020202020204" pitchFamily="34" charset="0"/>
              </a:rPr>
              <a:t>BASIC</a:t>
            </a:r>
            <a:r>
              <a:rPr lang="zh-CN" altLang="en-US" dirty="0" smtClean="0">
                <a:latin typeface="Arial" panose="020B0604020202020204" pitchFamily="34" charset="0"/>
                <a:cs typeface="Arial" panose="020B0604020202020204" pitchFamily="34" charset="0"/>
              </a:rPr>
              <a:t>语言编写的</a:t>
            </a:r>
            <a:r>
              <a:rPr lang="en-US" altLang="zh-CN" dirty="0" smtClean="0">
                <a:latin typeface="Arial" panose="020B0604020202020204" pitchFamily="34" charset="0"/>
                <a:cs typeface="Arial" panose="020B0604020202020204" pitchFamily="34" charset="0"/>
              </a:rPr>
              <a:t>1+1</a:t>
            </a:r>
            <a:r>
              <a:rPr lang="zh-CN" altLang="en-US" dirty="0" smtClean="0">
                <a:latin typeface="Arial" panose="020B0604020202020204" pitchFamily="34" charset="0"/>
                <a:cs typeface="Arial" panose="020B0604020202020204" pitchFamily="34" charset="0"/>
              </a:rPr>
              <a:t>程序</a:t>
            </a:r>
            <a:endParaRPr lang="en-US" altLang="zh-CN" dirty="0">
              <a:latin typeface="Arial" panose="020B0604020202020204" pitchFamily="34" charset="0"/>
              <a:cs typeface="Arial" panose="020B0604020202020204" pitchFamily="34" charset="0"/>
            </a:endParaRPr>
          </a:p>
          <a:p>
            <a:pPr eaLnBrk="1" hangingPunct="1">
              <a:lnSpc>
                <a:spcPct val="105000"/>
              </a:lnSpc>
            </a:pPr>
            <a:endParaRPr lang="zh-CN" altLang="en-US" dirty="0" smtClean="0">
              <a:latin typeface="Arial" panose="020B0604020202020204" pitchFamily="34" charset="0"/>
              <a:cs typeface="Arial" panose="020B0604020202020204" pitchFamily="34" charset="0"/>
            </a:endParaRPr>
          </a:p>
          <a:p>
            <a:pPr lvl="1" eaLnBrk="1" hangingPunct="1">
              <a:lnSpc>
                <a:spcPct val="105000"/>
              </a:lnSpc>
            </a:pPr>
            <a:endParaRPr lang="en-US" altLang="zh-CN" sz="2000" dirty="0" smtClean="0">
              <a:cs typeface="Arial" panose="020B0604020202020204" pitchFamily="34" charset="0"/>
            </a:endParaRPr>
          </a:p>
          <a:p>
            <a:pPr lvl="1" eaLnBrk="1" hangingPunct="1">
              <a:lnSpc>
                <a:spcPct val="105000"/>
              </a:lnSpc>
            </a:pPr>
            <a:endParaRPr lang="zh-CN" altLang="en-US" sz="2000" dirty="0" smtClean="0">
              <a:cs typeface="Arial" panose="020B0604020202020204" pitchFamily="34" charset="0"/>
            </a:endParaRPr>
          </a:p>
        </p:txBody>
      </p:sp>
      <p:sp>
        <p:nvSpPr>
          <p:cNvPr id="43012" name="Rectangle 9"/>
          <p:cNvSpPr>
            <a:spLocks noGrp="1" noChangeArrowheads="1"/>
          </p:cNvSpPr>
          <p:nvPr>
            <p:ph type="title"/>
          </p:nvPr>
        </p:nvSpPr>
        <p:spPr>
          <a:xfrm>
            <a:off x="738188" y="476250"/>
            <a:ext cx="8447087" cy="839788"/>
          </a:xfrm>
        </p:spPr>
        <p:txBody>
          <a:bodyPr/>
          <a:lstStyle/>
          <a:p>
            <a:pPr eaLnBrk="1" hangingPunct="1"/>
            <a:r>
              <a:rPr lang="zh-CN" altLang="en-US" sz="4000" dirty="0" smtClean="0"/>
              <a:t>高级语言的特点</a:t>
            </a:r>
            <a:r>
              <a:rPr lang="en-US" altLang="zh-CN" dirty="0" smtClean="0"/>
              <a:t> </a:t>
            </a:r>
          </a:p>
        </p:txBody>
      </p:sp>
      <p:sp>
        <p:nvSpPr>
          <p:cNvPr id="2" name="Rectangle 7"/>
          <p:cNvSpPr>
            <a:spLocks noChangeArrowheads="1"/>
          </p:cNvSpPr>
          <p:nvPr/>
        </p:nvSpPr>
        <p:spPr bwMode="auto">
          <a:xfrm>
            <a:off x="4887755" y="1985157"/>
            <a:ext cx="5011737" cy="728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marL="342900" indent="-3429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lnSpc>
                <a:spcPct val="105000"/>
              </a:lnSpc>
              <a:spcBef>
                <a:spcPts val="600"/>
              </a:spcBef>
              <a:spcAft>
                <a:spcPts val="600"/>
              </a:spcAft>
            </a:pPr>
            <a:r>
              <a:rPr lang="en-US" altLang="zh-CN" sz="2800" dirty="0" smtClean="0">
                <a:latin typeface="Arial" panose="020B0604020202020204" pitchFamily="34" charset="0"/>
                <a:ea typeface="黑体" panose="02010609060101010101" pitchFamily="49" charset="-122"/>
                <a:cs typeface="Arial" panose="020B0604020202020204" pitchFamily="34" charset="0"/>
              </a:rPr>
              <a:t>Python</a:t>
            </a:r>
            <a:r>
              <a:rPr lang="zh-CN" altLang="en-US" sz="2800" dirty="0" smtClean="0">
                <a:latin typeface="Arial" panose="020B0604020202020204" pitchFamily="34" charset="0"/>
                <a:ea typeface="黑体" panose="02010609060101010101" pitchFamily="49" charset="-122"/>
                <a:cs typeface="Arial" panose="020B0604020202020204" pitchFamily="34" charset="0"/>
              </a:rPr>
              <a:t>语言</a:t>
            </a:r>
            <a:r>
              <a:rPr lang="zh-CN" altLang="en-US" sz="2800" dirty="0">
                <a:latin typeface="Arial" panose="020B0604020202020204" pitchFamily="34" charset="0"/>
                <a:ea typeface="黑体" panose="02010609060101010101" pitchFamily="49" charset="-122"/>
                <a:cs typeface="Arial" panose="020B0604020202020204" pitchFamily="34" charset="0"/>
              </a:rPr>
              <a:t>编写的</a:t>
            </a:r>
            <a:r>
              <a:rPr lang="en-US" altLang="zh-CN" sz="2800" dirty="0">
                <a:latin typeface="Arial" panose="020B0604020202020204" pitchFamily="34" charset="0"/>
                <a:ea typeface="黑体" panose="02010609060101010101" pitchFamily="49" charset="-122"/>
                <a:cs typeface="Arial" panose="020B0604020202020204" pitchFamily="34" charset="0"/>
              </a:rPr>
              <a:t>1+1</a:t>
            </a:r>
            <a:r>
              <a:rPr lang="zh-CN" altLang="en-US" sz="2800" dirty="0" smtClean="0">
                <a:latin typeface="Arial" panose="020B0604020202020204" pitchFamily="34" charset="0"/>
                <a:ea typeface="黑体" panose="02010609060101010101" pitchFamily="49" charset="-122"/>
                <a:cs typeface="Arial" panose="020B0604020202020204" pitchFamily="34" charset="0"/>
              </a:rPr>
              <a:t>程序</a:t>
            </a:r>
            <a:endParaRPr lang="zh-CN" altLang="en-US" sz="2800" dirty="0">
              <a:latin typeface="Arial" panose="020B0604020202020204" pitchFamily="34" charset="0"/>
              <a:ea typeface="黑体" panose="02010609060101010101" pitchFamily="49" charset="-122"/>
              <a:cs typeface="Arial" panose="020B0604020202020204" pitchFamily="34" charset="0"/>
            </a:endParaRPr>
          </a:p>
        </p:txBody>
      </p:sp>
      <p:sp>
        <p:nvSpPr>
          <p:cNvPr id="6" name="Rectangle 5"/>
          <p:cNvSpPr>
            <a:spLocks noChangeArrowheads="1"/>
          </p:cNvSpPr>
          <p:nvPr/>
        </p:nvSpPr>
        <p:spPr bwMode="auto">
          <a:xfrm>
            <a:off x="5817096" y="3113117"/>
            <a:ext cx="4522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266616" rIns="266616" anchor="ctr">
            <a:spAutoFit/>
          </a:bodyPr>
          <a:lstStyle>
            <a:lvl1pPr>
              <a:spcBef>
                <a:spcPct val="20000"/>
              </a:spcBef>
              <a:buClr>
                <a:schemeClr val="tx2"/>
              </a:buClr>
              <a:buSzPct val="50000"/>
              <a:buFont typeface="Wingdings" panose="05000000000000000000" pitchFamily="2" charset="2"/>
              <a:buChar char="n"/>
              <a:tabLst>
                <a:tab pos="528638" algn="l"/>
                <a:tab pos="792163" algn="l"/>
                <a:tab pos="1057275" algn="l"/>
              </a:tabLst>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tabLst>
                <a:tab pos="528638" algn="l"/>
                <a:tab pos="792163" algn="l"/>
                <a:tab pos="1057275" algn="l"/>
              </a:tabLst>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tabLst>
                <a:tab pos="528638" algn="l"/>
                <a:tab pos="792163" algn="l"/>
                <a:tab pos="1057275" algn="l"/>
              </a:tabLst>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SzPct val="80000"/>
              <a:buFont typeface="Wingdings" panose="05000000000000000000" pitchFamily="2" charset="2"/>
              <a:buNone/>
            </a:pPr>
            <a:r>
              <a:rPr lang="en-US" altLang="zh-CN" sz="2000" b="1" dirty="0">
                <a:latin typeface="Courier New" panose="02070309020205020404" pitchFamily="49" charset="0"/>
              </a:rPr>
              <a:t>p</a:t>
            </a:r>
            <a:r>
              <a:rPr lang="en-US" altLang="zh-CN" sz="2000" b="1" dirty="0" smtClean="0">
                <a:latin typeface="Courier New" panose="02070309020205020404" pitchFamily="49" charset="0"/>
              </a:rPr>
              <a:t>rint(1+1)</a:t>
            </a:r>
            <a:endParaRPr lang="en-US" altLang="zh-CN" sz="2000" b="1" dirty="0">
              <a:latin typeface="Courier New" panose="02070309020205020404" pitchFamily="49" charset="0"/>
            </a:endParaRPr>
          </a:p>
        </p:txBody>
      </p:sp>
      <p:sp>
        <p:nvSpPr>
          <p:cNvPr id="3" name="Rectangle 7"/>
          <p:cNvSpPr txBox="1">
            <a:spLocks noChangeArrowheads="1"/>
          </p:cNvSpPr>
          <p:nvPr/>
        </p:nvSpPr>
        <p:spPr bwMode="auto">
          <a:xfrm>
            <a:off x="273050" y="4221163"/>
            <a:ext cx="9072563"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lstStyle>
            <a:lvl1pPr marL="374650" indent="-37465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Bef>
                <a:spcPct val="0"/>
              </a:spcBef>
              <a:buClr>
                <a:schemeClr val="tx1"/>
              </a:buClr>
              <a:buSzPct val="80000"/>
            </a:pPr>
            <a:r>
              <a:rPr lang="zh-CN" altLang="en-US" sz="2400" dirty="0">
                <a:solidFill>
                  <a:srgbClr val="333399"/>
                </a:solidFill>
                <a:latin typeface="黑体" panose="02010609060101010101" pitchFamily="49" charset="-122"/>
                <a:ea typeface="黑体" panose="02010609060101010101" pitchFamily="49" charset="-122"/>
              </a:rPr>
              <a:t>既非英语，也非机器语言，但更像英语</a:t>
            </a:r>
          </a:p>
          <a:p>
            <a:pPr>
              <a:lnSpc>
                <a:spcPct val="120000"/>
              </a:lnSpc>
              <a:spcBef>
                <a:spcPct val="0"/>
              </a:spcBef>
              <a:buClr>
                <a:schemeClr val="tx1"/>
              </a:buClr>
              <a:buSzPct val="80000"/>
            </a:pPr>
            <a:r>
              <a:rPr lang="zh-CN" altLang="en-US" sz="2400" dirty="0">
                <a:solidFill>
                  <a:srgbClr val="333399"/>
                </a:solidFill>
                <a:latin typeface="黑体" panose="02010609060101010101" pitchFamily="49" charset="-122"/>
                <a:ea typeface="黑体" panose="02010609060101010101" pitchFamily="49" charset="-122"/>
              </a:rPr>
              <a:t>高级语言程序必须通过编译器或解释器翻译成机器语言形式的目标代码，才能被计算机识别和执行</a:t>
            </a:r>
          </a:p>
          <a:p>
            <a:pPr>
              <a:lnSpc>
                <a:spcPct val="120000"/>
              </a:lnSpc>
              <a:spcBef>
                <a:spcPct val="0"/>
              </a:spcBef>
              <a:buClr>
                <a:schemeClr val="tx1"/>
              </a:buClr>
              <a:buSzPct val="80000"/>
            </a:pPr>
            <a:r>
              <a:rPr lang="zh-CN" altLang="en-US" sz="2400" dirty="0">
                <a:solidFill>
                  <a:srgbClr val="333399"/>
                </a:solidFill>
                <a:latin typeface="黑体" panose="02010609060101010101" pitchFamily="49" charset="-122"/>
                <a:ea typeface="黑体" panose="02010609060101010101" pitchFamily="49" charset="-122"/>
              </a:rPr>
              <a:t>易学、易用、易读、易懂、强大、可移植</a:t>
            </a:r>
          </a:p>
        </p:txBody>
      </p:sp>
      <p:sp>
        <p:nvSpPr>
          <p:cNvPr id="43016" name="灯片编号占位符 9"/>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495CBCD8-BADF-41A7-BF62-6C6884B0F1EC}"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13</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31775" y="188913"/>
            <a:ext cx="4683125" cy="1143000"/>
          </a:xfrm>
        </p:spPr>
        <p:txBody>
          <a:bodyPr/>
          <a:lstStyle/>
          <a:p>
            <a:pPr eaLnBrk="1" hangingPunct="1"/>
            <a:r>
              <a:rPr lang="zh-CN" altLang="en-US" sz="4000" smtClean="0"/>
              <a:t>高级语言的</a:t>
            </a:r>
            <a:br>
              <a:rPr lang="zh-CN" altLang="en-US" sz="4000" smtClean="0"/>
            </a:br>
            <a:r>
              <a:rPr lang="zh-CN" altLang="en-US" sz="4000" smtClean="0"/>
              <a:t>发展历程</a:t>
            </a:r>
          </a:p>
        </p:txBody>
      </p:sp>
      <p:sp>
        <p:nvSpPr>
          <p:cNvPr id="6" name="Rectangle 3"/>
          <p:cNvSpPr txBox="1">
            <a:spLocks noChangeArrowheads="1"/>
          </p:cNvSpPr>
          <p:nvPr/>
        </p:nvSpPr>
        <p:spPr bwMode="auto">
          <a:xfrm>
            <a:off x="57149" y="2216150"/>
            <a:ext cx="4105275" cy="4010025"/>
          </a:xfrm>
          <a:prstGeom prst="rect">
            <a:avLst/>
          </a:prstGeom>
          <a:noFill/>
          <a:ln w="9525">
            <a:noFill/>
            <a:miter lim="800000"/>
            <a:headEnd/>
            <a:tailEnd/>
          </a:ln>
          <a:effectLst/>
        </p:spPr>
        <p:txBody>
          <a:bodyPr lIns="92075" tIns="46037" rIns="92075" bIns="46037"/>
          <a:lstStyle/>
          <a:p>
            <a:pPr marL="374650" indent="-374650">
              <a:lnSpc>
                <a:spcPct val="120000"/>
              </a:lnSpc>
              <a:spcBef>
                <a:spcPts val="600"/>
              </a:spcBef>
              <a:spcAft>
                <a:spcPts val="600"/>
              </a:spcAft>
              <a:buClr>
                <a:schemeClr val="tx1"/>
              </a:buClr>
              <a:buSzPct val="80000"/>
              <a:buFont typeface="Monotype Sorts"/>
              <a:buChar char=""/>
              <a:defRPr/>
            </a:pPr>
            <a:r>
              <a:rPr lang="en-US" altLang="zh-CN" sz="2400" dirty="0">
                <a:ea typeface="黑体" pitchFamily="49" charset="-122"/>
                <a:cs typeface="Times New Roman" pitchFamily="18" charset="0"/>
              </a:rPr>
              <a:t>1954</a:t>
            </a:r>
            <a:r>
              <a:rPr lang="zh-CN" altLang="en-US" sz="2400" dirty="0">
                <a:ea typeface="黑体" pitchFamily="49" charset="-122"/>
                <a:cs typeface="Times New Roman" pitchFamily="18" charset="0"/>
              </a:rPr>
              <a:t>年约翰</a:t>
            </a:r>
            <a:r>
              <a:rPr lang="en-US" altLang="zh-CN" sz="2400" dirty="0">
                <a:ea typeface="黑体" pitchFamily="49" charset="-122"/>
                <a:cs typeface="Times New Roman" pitchFamily="18" charset="0"/>
              </a:rPr>
              <a:t>.</a:t>
            </a:r>
            <a:r>
              <a:rPr lang="zh-CN" altLang="en-US" sz="2400" dirty="0">
                <a:ea typeface="黑体" pitchFamily="49" charset="-122"/>
                <a:cs typeface="Times New Roman" pitchFamily="18" charset="0"/>
              </a:rPr>
              <a:t>巴克斯发明第一个高级语言</a:t>
            </a:r>
            <a:r>
              <a:rPr lang="en-US" altLang="zh-CN" sz="2400" dirty="0">
                <a:ea typeface="黑体" pitchFamily="49" charset="-122"/>
                <a:cs typeface="Times New Roman" pitchFamily="18" charset="0"/>
              </a:rPr>
              <a:t>FORTRAN</a:t>
            </a:r>
            <a:endParaRPr lang="zh-CN" altLang="en-US" sz="2400" dirty="0">
              <a:ea typeface="黑体" pitchFamily="49" charset="-122"/>
              <a:cs typeface="Times New Roman" pitchFamily="18" charset="0"/>
            </a:endParaRPr>
          </a:p>
          <a:p>
            <a:pPr marL="374650" indent="-374650">
              <a:lnSpc>
                <a:spcPct val="120000"/>
              </a:lnSpc>
              <a:spcBef>
                <a:spcPts val="600"/>
              </a:spcBef>
              <a:spcAft>
                <a:spcPts val="600"/>
              </a:spcAft>
              <a:buClr>
                <a:schemeClr val="tx1"/>
              </a:buClr>
              <a:buSzPct val="80000"/>
              <a:buFont typeface="Monotype Sorts"/>
              <a:buChar char=""/>
              <a:defRPr/>
            </a:pPr>
            <a:r>
              <a:rPr lang="zh-CN" altLang="en-US" sz="2400" dirty="0">
                <a:ea typeface="黑体" pitchFamily="49" charset="-122"/>
                <a:cs typeface="Times New Roman" pitchFamily="18" charset="0"/>
              </a:rPr>
              <a:t>百家争鸣，据不完全统计</a:t>
            </a:r>
            <a:r>
              <a:rPr lang="en-US" altLang="zh-CN" sz="2400" dirty="0">
                <a:ea typeface="黑体" pitchFamily="49" charset="-122"/>
                <a:cs typeface="Times New Roman" pitchFamily="18" charset="0"/>
              </a:rPr>
              <a:t>2500</a:t>
            </a:r>
            <a:r>
              <a:rPr lang="zh-CN" altLang="en-US" sz="2400" dirty="0">
                <a:ea typeface="黑体" pitchFamily="49" charset="-122"/>
                <a:cs typeface="Times New Roman" pitchFamily="18" charset="0"/>
              </a:rPr>
              <a:t>种</a:t>
            </a:r>
          </a:p>
          <a:p>
            <a:pPr marL="374650" indent="-374650">
              <a:lnSpc>
                <a:spcPct val="120000"/>
              </a:lnSpc>
              <a:spcBef>
                <a:spcPts val="600"/>
              </a:spcBef>
              <a:spcAft>
                <a:spcPts val="600"/>
              </a:spcAft>
              <a:buClr>
                <a:schemeClr val="tx1"/>
              </a:buClr>
              <a:buSzPct val="80000"/>
              <a:buFont typeface="Wingdings" panose="05000000000000000000" pitchFamily="2" charset="2"/>
              <a:buChar char="n"/>
              <a:defRPr/>
            </a:pPr>
            <a:r>
              <a:rPr lang="zh-CN" altLang="en-US" sz="2400" dirty="0" smtClean="0">
                <a:solidFill>
                  <a:srgbClr val="A50021"/>
                </a:solidFill>
                <a:ea typeface="黑体" pitchFamily="49" charset="-122"/>
                <a:cs typeface="Times New Roman" pitchFamily="18" charset="0"/>
              </a:rPr>
              <a:t>影响</a:t>
            </a:r>
            <a:r>
              <a:rPr lang="zh-CN" altLang="en-US" sz="2400" dirty="0">
                <a:solidFill>
                  <a:srgbClr val="A50021"/>
                </a:solidFill>
                <a:ea typeface="黑体" pitchFamily="49" charset="-122"/>
                <a:cs typeface="Times New Roman" pitchFamily="18" charset="0"/>
              </a:rPr>
              <a:t>最大、寿命最长</a:t>
            </a:r>
            <a:r>
              <a:rPr lang="zh-CN" altLang="en-US" sz="2400" dirty="0">
                <a:ea typeface="黑体" pitchFamily="49" charset="-122"/>
                <a:cs typeface="Times New Roman" pitchFamily="18" charset="0"/>
              </a:rPr>
              <a:t>的非</a:t>
            </a:r>
            <a:r>
              <a:rPr lang="en-US" altLang="zh-CN" sz="2400" dirty="0">
                <a:ea typeface="黑体" pitchFamily="49" charset="-122"/>
                <a:cs typeface="Times New Roman" pitchFamily="18" charset="0"/>
              </a:rPr>
              <a:t>C</a:t>
            </a:r>
            <a:r>
              <a:rPr lang="zh-CN" altLang="en-US" sz="2400" dirty="0">
                <a:ea typeface="黑体" pitchFamily="49" charset="-122"/>
                <a:cs typeface="Times New Roman" pitchFamily="18" charset="0"/>
              </a:rPr>
              <a:t>语言莫属</a:t>
            </a:r>
            <a:endParaRPr lang="zh-CN" altLang="en-US" sz="2800" dirty="0">
              <a:ea typeface="黑体" pitchFamily="49" charset="-122"/>
              <a:cs typeface="Times New Roman" pitchFamily="18" charset="0"/>
            </a:endParaRPr>
          </a:p>
          <a:p>
            <a:pPr marL="374650" indent="-374650">
              <a:lnSpc>
                <a:spcPct val="110000"/>
              </a:lnSpc>
              <a:spcBef>
                <a:spcPct val="20000"/>
              </a:spcBef>
              <a:spcAft>
                <a:spcPts val="588"/>
              </a:spcAft>
              <a:buClr>
                <a:srgbClr val="FFCC66"/>
              </a:buClr>
              <a:buSzPct val="80000"/>
              <a:buFont typeface="Monotype Sorts"/>
              <a:buChar char=""/>
              <a:defRPr/>
            </a:pPr>
            <a:endParaRPr lang="zh-CN" altLang="en-US" sz="3200" b="1" dirty="0">
              <a:solidFill>
                <a:srgbClr val="000099"/>
              </a:solidFill>
              <a:effectLst>
                <a:outerShdw blurRad="38100" dist="38100" dir="2700000" algn="tl">
                  <a:srgbClr val="C0C0C0"/>
                </a:outerShdw>
              </a:effectLst>
              <a:ea typeface="黑体" pitchFamily="49" charset="-122"/>
              <a:cs typeface="Times New Roman" pitchFamily="18" charset="0"/>
            </a:endParaRPr>
          </a:p>
        </p:txBody>
      </p:sp>
      <p:pic>
        <p:nvPicPr>
          <p:cNvPr id="45060"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76738" y="404813"/>
            <a:ext cx="4140200" cy="626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4" name="Oval 8"/>
          <p:cNvSpPr>
            <a:spLocks noChangeArrowheads="1"/>
          </p:cNvSpPr>
          <p:nvPr/>
        </p:nvSpPr>
        <p:spPr bwMode="auto">
          <a:xfrm>
            <a:off x="7905750" y="2636838"/>
            <a:ext cx="746125" cy="433387"/>
          </a:xfrm>
          <a:prstGeom prst="ellipse">
            <a:avLst/>
          </a:prstGeom>
          <a:noFill/>
          <a:ln w="381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Font typeface="Wingdings" panose="05000000000000000000" pitchFamily="2" charset="2"/>
              <a:buNone/>
            </a:pPr>
            <a:endParaRPr lang="zh-CN" altLang="en-US" sz="1800">
              <a:latin typeface="Arial" panose="020B0604020202020204" pitchFamily="34" charset="0"/>
            </a:endParaRPr>
          </a:p>
        </p:txBody>
      </p:sp>
      <p:sp>
        <p:nvSpPr>
          <p:cNvPr id="8" name="矩形 7"/>
          <p:cNvSpPr/>
          <p:nvPr/>
        </p:nvSpPr>
        <p:spPr bwMode="auto">
          <a:xfrm>
            <a:off x="8769350" y="1628775"/>
            <a:ext cx="1079500" cy="431800"/>
          </a:xfrm>
          <a:prstGeom prst="rect">
            <a:avLst/>
          </a:prstGeom>
          <a:solidFill>
            <a:schemeClr val="bg2">
              <a:lumMod val="90000"/>
            </a:schemeClr>
          </a:solidFill>
          <a:ln>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zh-CN" altLang="en-US" sz="1600" dirty="0">
                <a:solidFill>
                  <a:schemeClr val="tx1"/>
                </a:solidFill>
                <a:latin typeface="微软雅黑" pitchFamily="34" charset="-122"/>
                <a:ea typeface="微软雅黑" pitchFamily="34" charset="-122"/>
              </a:rPr>
              <a:t>百花齐放</a:t>
            </a:r>
            <a:endParaRPr lang="zh-CN" altLang="en-US" sz="1400" dirty="0">
              <a:solidFill>
                <a:schemeClr val="tx1"/>
              </a:solidFill>
              <a:latin typeface="微软雅黑" pitchFamily="34" charset="-122"/>
              <a:ea typeface="微软雅黑" pitchFamily="34" charset="-122"/>
            </a:endParaRPr>
          </a:p>
        </p:txBody>
      </p:sp>
      <p:sp>
        <p:nvSpPr>
          <p:cNvPr id="9" name="矩形 8"/>
          <p:cNvSpPr/>
          <p:nvPr/>
        </p:nvSpPr>
        <p:spPr bwMode="auto">
          <a:xfrm>
            <a:off x="8769350" y="2997200"/>
            <a:ext cx="1079500" cy="431800"/>
          </a:xfrm>
          <a:prstGeom prst="rect">
            <a:avLst/>
          </a:prstGeom>
          <a:solidFill>
            <a:schemeClr val="bg2">
              <a:lumMod val="90000"/>
            </a:schemeClr>
          </a:solidFill>
          <a:ln>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zh-CN" altLang="en-US" sz="1600" dirty="0">
                <a:solidFill>
                  <a:schemeClr val="tx1"/>
                </a:solidFill>
                <a:latin typeface="微软雅黑" pitchFamily="34" charset="-122"/>
                <a:ea typeface="微软雅黑" pitchFamily="34" charset="-122"/>
              </a:rPr>
              <a:t>开宗立派</a:t>
            </a:r>
          </a:p>
        </p:txBody>
      </p:sp>
      <p:sp>
        <p:nvSpPr>
          <p:cNvPr id="10" name="矩形 9"/>
          <p:cNvSpPr/>
          <p:nvPr/>
        </p:nvSpPr>
        <p:spPr bwMode="auto">
          <a:xfrm>
            <a:off x="8769350" y="4005263"/>
            <a:ext cx="1079500" cy="431800"/>
          </a:xfrm>
          <a:prstGeom prst="rect">
            <a:avLst/>
          </a:prstGeom>
          <a:solidFill>
            <a:schemeClr val="bg2">
              <a:lumMod val="90000"/>
            </a:schemeClr>
          </a:solidFill>
          <a:ln>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zh-CN" altLang="en-US" sz="1600" dirty="0">
                <a:solidFill>
                  <a:schemeClr val="tx1"/>
                </a:solidFill>
                <a:latin typeface="微软雅黑" pitchFamily="34" charset="-122"/>
                <a:ea typeface="微软雅黑" pitchFamily="34" charset="-122"/>
              </a:rPr>
              <a:t>内外兼修</a:t>
            </a:r>
          </a:p>
        </p:txBody>
      </p:sp>
      <p:sp>
        <p:nvSpPr>
          <p:cNvPr id="11" name="矩形 10"/>
          <p:cNvSpPr/>
          <p:nvPr/>
        </p:nvSpPr>
        <p:spPr bwMode="auto">
          <a:xfrm>
            <a:off x="8769350" y="5084763"/>
            <a:ext cx="1079500" cy="431800"/>
          </a:xfrm>
          <a:prstGeom prst="rect">
            <a:avLst/>
          </a:prstGeom>
          <a:solidFill>
            <a:schemeClr val="bg2">
              <a:lumMod val="90000"/>
            </a:schemeClr>
          </a:solidFill>
          <a:ln>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zh-CN" altLang="en-US" sz="1600">
                <a:solidFill>
                  <a:schemeClr val="tx1"/>
                </a:solidFill>
                <a:latin typeface="微软雅黑" pitchFamily="34" charset="-122"/>
                <a:ea typeface="微软雅黑" pitchFamily="34" charset="-122"/>
              </a:rPr>
              <a:t>互联网 时代</a:t>
            </a:r>
          </a:p>
        </p:txBody>
      </p:sp>
      <p:sp>
        <p:nvSpPr>
          <p:cNvPr id="12" name="矩形 11"/>
          <p:cNvSpPr/>
          <p:nvPr/>
        </p:nvSpPr>
        <p:spPr bwMode="auto">
          <a:xfrm>
            <a:off x="8797925" y="476250"/>
            <a:ext cx="1079500" cy="431800"/>
          </a:xfrm>
          <a:prstGeom prst="rect">
            <a:avLst/>
          </a:prstGeom>
          <a:solidFill>
            <a:schemeClr val="bg2">
              <a:lumMod val="90000"/>
            </a:schemeClr>
          </a:solidFill>
          <a:ln>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dirty="0">
                <a:solidFill>
                  <a:schemeClr val="tx1"/>
                </a:solidFill>
                <a:latin typeface="微软雅黑" pitchFamily="34" charset="-122"/>
                <a:ea typeface="微软雅黑" pitchFamily="34" charset="-122"/>
              </a:rPr>
              <a:t>初露锋芒</a:t>
            </a:r>
          </a:p>
        </p:txBody>
      </p:sp>
      <p:sp>
        <p:nvSpPr>
          <p:cNvPr id="13" name="下箭头 12"/>
          <p:cNvSpPr/>
          <p:nvPr/>
        </p:nvSpPr>
        <p:spPr>
          <a:xfrm>
            <a:off x="9201150" y="1125538"/>
            <a:ext cx="288925" cy="358775"/>
          </a:xfrm>
          <a:prstGeom prst="down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14" name="下箭头 13"/>
          <p:cNvSpPr/>
          <p:nvPr/>
        </p:nvSpPr>
        <p:spPr>
          <a:xfrm>
            <a:off x="9201150" y="2349500"/>
            <a:ext cx="288925" cy="358775"/>
          </a:xfrm>
          <a:prstGeom prst="down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15" name="下箭头 14"/>
          <p:cNvSpPr/>
          <p:nvPr/>
        </p:nvSpPr>
        <p:spPr>
          <a:xfrm>
            <a:off x="9201150" y="3573463"/>
            <a:ext cx="288925" cy="360362"/>
          </a:xfrm>
          <a:prstGeom prst="down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16" name="下箭头 15"/>
          <p:cNvSpPr/>
          <p:nvPr/>
        </p:nvSpPr>
        <p:spPr>
          <a:xfrm>
            <a:off x="9201150" y="4581525"/>
            <a:ext cx="288925" cy="360363"/>
          </a:xfrm>
          <a:prstGeom prst="down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45071" name="灯片编号占位符 18"/>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9DEBB5CE-2E92-4285-9EED-24123ED2AE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14</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86024"/>
                                        </p:tgtEl>
                                        <p:attrNameLst>
                                          <p:attrName>style.visibility</p:attrName>
                                        </p:attrNameLst>
                                      </p:cBhvr>
                                      <p:to>
                                        <p:strVal val="visible"/>
                                      </p:to>
                                    </p:set>
                                    <p:anim calcmode="lin" valueType="num">
                                      <p:cBhvr additive="base">
                                        <p:cTn id="7" dur="500" fill="hold"/>
                                        <p:tgtEl>
                                          <p:spTgt spid="86024"/>
                                        </p:tgtEl>
                                        <p:attrNameLst>
                                          <p:attrName>ppt_x</p:attrName>
                                        </p:attrNameLst>
                                      </p:cBhvr>
                                      <p:tavLst>
                                        <p:tav tm="0">
                                          <p:val>
                                            <p:strVal val="0-#ppt_w/2"/>
                                          </p:val>
                                        </p:tav>
                                        <p:tav tm="100000">
                                          <p:val>
                                            <p:strVal val="#ppt_x"/>
                                          </p:val>
                                        </p:tav>
                                      </p:tavLst>
                                    </p:anim>
                                    <p:anim calcmode="lin" valueType="num">
                                      <p:cBhvr additive="base">
                                        <p:cTn id="8" dur="500" fill="hold"/>
                                        <p:tgtEl>
                                          <p:spTgt spid="86024"/>
                                        </p:tgtEl>
                                        <p:attrNameLst>
                                          <p:attrName>ppt_y</p:attrName>
                                        </p:attrNameLst>
                                      </p:cBhvr>
                                      <p:tavLst>
                                        <p:tav tm="0">
                                          <p:val>
                                            <p:strVal val="1+#ppt_h/2"/>
                                          </p:val>
                                        </p:tav>
                                        <p:tav tm="100000">
                                          <p:val>
                                            <p:strVal val="#ppt_y"/>
                                          </p:val>
                                        </p:tav>
                                      </p:tavLst>
                                    </p:anim>
                                  </p:childTnLst>
                                </p:cTn>
                              </p:par>
                              <p:par>
                                <p:cTn id="9" presetID="23" presetClass="entr" presetSubtype="16"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p:cTn id="11"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6">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95300" y="115888"/>
            <a:ext cx="8915400" cy="1143000"/>
          </a:xfrm>
        </p:spPr>
        <p:txBody>
          <a:bodyPr/>
          <a:lstStyle/>
          <a:p>
            <a:pPr eaLnBrk="1" hangingPunct="1"/>
            <a:r>
              <a:rPr lang="zh-CN" altLang="en-US" sz="4000" smtClean="0"/>
              <a:t>编程语言受欢迎程度排行</a:t>
            </a:r>
          </a:p>
        </p:txBody>
      </p:sp>
      <p:sp>
        <p:nvSpPr>
          <p:cNvPr id="46084" name="Rectangle 5"/>
          <p:cNvSpPr>
            <a:spLocks noChangeArrowheads="1"/>
          </p:cNvSpPr>
          <p:nvPr/>
        </p:nvSpPr>
        <p:spPr bwMode="auto">
          <a:xfrm>
            <a:off x="1416050" y="6237288"/>
            <a:ext cx="62738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85090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lvl="1" algn="ctr">
              <a:lnSpc>
                <a:spcPct val="95000"/>
              </a:lnSpc>
              <a:buClr>
                <a:srgbClr val="FFCC66"/>
              </a:buClr>
              <a:buSzPct val="115000"/>
              <a:buFont typeface="Wingdings" panose="05000000000000000000" pitchFamily="2" charset="2"/>
              <a:buNone/>
            </a:pPr>
            <a:r>
              <a:rPr lang="en-US" altLang="zh-CN" sz="2000" b="1" dirty="0">
                <a:solidFill>
                  <a:schemeClr val="tx1"/>
                </a:solidFill>
                <a:latin typeface="Franklin Gothic Book" panose="020B0503020102020204" pitchFamily="34" charset="0"/>
              </a:rPr>
              <a:t>http://</a:t>
            </a:r>
            <a:r>
              <a:rPr lang="en-US" altLang="zh-CN" sz="2000" b="1" dirty="0" smtClean="0">
                <a:solidFill>
                  <a:schemeClr val="tx1"/>
                </a:solidFill>
                <a:latin typeface="Franklin Gothic Book" panose="020B0503020102020204" pitchFamily="34" charset="0"/>
              </a:rPr>
              <a:t>www.tiobe.com</a:t>
            </a:r>
            <a:r>
              <a:rPr lang="en-US" altLang="zh-CN" sz="2000" b="1" dirty="0" smtClean="0">
                <a:solidFill>
                  <a:srgbClr val="CC00CC"/>
                </a:solidFill>
                <a:latin typeface="Franklin Gothic Book" panose="020B0503020102020204" pitchFamily="34" charset="0"/>
              </a:rPr>
              <a:t>  </a:t>
            </a:r>
            <a:endParaRPr lang="en-US" altLang="zh-CN" sz="2000" b="1" dirty="0">
              <a:solidFill>
                <a:srgbClr val="CC00CC"/>
              </a:solidFill>
              <a:latin typeface="Franklin Gothic Book" panose="020B0503020102020204" pitchFamily="34" charset="0"/>
            </a:endParaRPr>
          </a:p>
        </p:txBody>
      </p:sp>
      <p:sp>
        <p:nvSpPr>
          <p:cNvPr id="46086" name="灯片编号占位符 7"/>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8914F4F1-B1E3-4755-868E-BB85877F3A6D}"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15</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pic>
        <p:nvPicPr>
          <p:cNvPr id="2" name="图片 1"/>
          <p:cNvPicPr>
            <a:picLocks noChangeAspect="1"/>
          </p:cNvPicPr>
          <p:nvPr/>
        </p:nvPicPr>
        <p:blipFill>
          <a:blip r:embed="rId3"/>
          <a:stretch>
            <a:fillRect/>
          </a:stretch>
        </p:blipFill>
        <p:spPr>
          <a:xfrm>
            <a:off x="268180" y="1556792"/>
            <a:ext cx="9458813" cy="44585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9"/>
          <p:cNvSpPr>
            <a:spLocks noGrp="1" noChangeArrowheads="1"/>
          </p:cNvSpPr>
          <p:nvPr>
            <p:ph type="title" idx="4294967295"/>
          </p:nvPr>
        </p:nvSpPr>
        <p:spPr>
          <a:xfrm>
            <a:off x="738188" y="44450"/>
            <a:ext cx="8447087" cy="839788"/>
          </a:xfrm>
        </p:spPr>
        <p:txBody>
          <a:bodyPr/>
          <a:lstStyle/>
          <a:p>
            <a:pPr eaLnBrk="1" hangingPunct="1"/>
            <a:r>
              <a:rPr lang="zh-CN" altLang="en-US" sz="4000" smtClean="0">
                <a:latin typeface="黑体" panose="02010609060101010101" pitchFamily="49" charset="-122"/>
              </a:rPr>
              <a:t>高级语言的分类</a:t>
            </a:r>
            <a:r>
              <a:rPr lang="en-US" altLang="zh-CN" smtClean="0">
                <a:latin typeface="黑体" panose="02010609060101010101" pitchFamily="49" charset="-122"/>
              </a:rPr>
              <a:t> </a:t>
            </a:r>
          </a:p>
        </p:txBody>
      </p:sp>
      <p:graphicFrame>
        <p:nvGraphicFramePr>
          <p:cNvPr id="33829" name="Group 37"/>
          <p:cNvGraphicFramePr>
            <a:graphicFrameLocks noGrp="1"/>
          </p:cNvGraphicFramePr>
          <p:nvPr/>
        </p:nvGraphicFramePr>
        <p:xfrm>
          <a:off x="200025" y="981075"/>
          <a:ext cx="9432925" cy="5456442"/>
        </p:xfrm>
        <a:graphic>
          <a:graphicData uri="http://schemas.openxmlformats.org/drawingml/2006/table">
            <a:tbl>
              <a:tblPr/>
              <a:tblGrid>
                <a:gridCol w="2160588">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gridCol w="5759450">
                  <a:extLst>
                    <a:ext uri="{9D8B030D-6E8A-4147-A177-3AD203B41FA5}">
                      <a16:colId xmlns:a16="http://schemas.microsoft.com/office/drawing/2014/main" val="20002"/>
                    </a:ext>
                  </a:extLst>
                </a:gridCol>
              </a:tblGrid>
              <a:tr h="70160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FFFFFF"/>
                          </a:solidFill>
                          <a:effectLst/>
                          <a:latin typeface="Franklin Gothic Book" pitchFamily="34" charset="0"/>
                          <a:ea typeface="黑体" pitchFamily="49" charset="-122"/>
                          <a:cs typeface="Arial" pitchFamily="34" charset="0"/>
                        </a:rPr>
                        <a:t>语言</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FFFFFF"/>
                          </a:solidFill>
                          <a:effectLst/>
                          <a:latin typeface="Franklin Gothic Book" pitchFamily="34" charset="0"/>
                          <a:ea typeface="黑体" pitchFamily="49" charset="-122"/>
                          <a:cs typeface="Arial" pitchFamily="34" charset="0"/>
                        </a:rPr>
                        <a:t>典型代表</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FFFFFF"/>
                          </a:solidFill>
                          <a:effectLst/>
                          <a:latin typeface="Franklin Gothic Book" pitchFamily="34" charset="0"/>
                          <a:ea typeface="黑体" pitchFamily="49" charset="-122"/>
                          <a:cs typeface="Arial" pitchFamily="34" charset="0"/>
                        </a:rPr>
                        <a:t>特点</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88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过程式语言（</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Procedural</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C</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A50021"/>
                          </a:solidFill>
                          <a:effectLst/>
                          <a:latin typeface="Franklin Gothic Book" pitchFamily="34" charset="0"/>
                          <a:ea typeface="黑体" pitchFamily="49" charset="-122"/>
                          <a:cs typeface="Arial" pitchFamily="34" charset="0"/>
                        </a:rPr>
                        <a:t>命令驱动，面向动作（语句），</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即将计算看作是动作（语句）的序列，程序由一系列的语句组成</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extLst>
                  <a:ext uri="{0D108BD9-81ED-4DB2-BD59-A6C34878D82A}">
                    <a16:rowId xmlns:a16="http://schemas.microsoft.com/office/drawing/2014/main" val="10001"/>
                  </a:ext>
                </a:extLst>
              </a:tr>
              <a:tr h="11886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函数式语言（</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Functional</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LISP</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注重程序实现的功能，程序的编写过程是</a:t>
                      </a:r>
                      <a:r>
                        <a:rPr kumimoji="0" lang="zh-CN" altLang="en-US" sz="2400" b="0" i="0" u="none" strike="noStrike" cap="none" normalizeH="0" baseline="0" smtClean="0">
                          <a:ln>
                            <a:noFill/>
                          </a:ln>
                          <a:solidFill>
                            <a:srgbClr val="A50021"/>
                          </a:solidFill>
                          <a:effectLst/>
                          <a:latin typeface="Franklin Gothic Book" pitchFamily="34" charset="0"/>
                          <a:ea typeface="黑体" pitchFamily="49" charset="-122"/>
                          <a:cs typeface="Arial" pitchFamily="34" charset="0"/>
                        </a:rPr>
                        <a:t>从已有函数出发构造出更复杂的函数</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，应用这些函数直至计算求得最终结果</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extLst>
                  <a:ext uri="{0D108BD9-81ED-4DB2-BD59-A6C34878D82A}">
                    <a16:rowId xmlns:a16="http://schemas.microsoft.com/office/drawing/2014/main" val="10002"/>
                  </a:ext>
                </a:extLst>
              </a:tr>
              <a:tr h="15544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面向对象语言（</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Object-Oriented</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SmallTalk</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C++</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Java</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程序的编写过程是直接从问题本身出发分析问题，并</a:t>
                      </a:r>
                      <a:r>
                        <a:rPr kumimoji="0" lang="zh-CN" altLang="en-US" sz="2400" b="0" i="0" u="none" strike="noStrike" cap="none" normalizeH="0" baseline="0" smtClean="0">
                          <a:ln>
                            <a:noFill/>
                          </a:ln>
                          <a:solidFill>
                            <a:srgbClr val="A50021"/>
                          </a:solidFill>
                          <a:effectLst/>
                          <a:latin typeface="Franklin Gothic Book" pitchFamily="34" charset="0"/>
                          <a:ea typeface="黑体" pitchFamily="49" charset="-122"/>
                          <a:cs typeface="Arial" pitchFamily="34" charset="0"/>
                        </a:rPr>
                        <a:t>把数据和操作封装在一起构成对象</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，用数据描述对象属性，用对数据的操作描述对象行为</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CD9CC"/>
                    </a:solidFill>
                  </a:tcPr>
                </a:tc>
                <a:extLst>
                  <a:ext uri="{0D108BD9-81ED-4DB2-BD59-A6C34878D82A}">
                    <a16:rowId xmlns:a16="http://schemas.microsoft.com/office/drawing/2014/main" val="10003"/>
                  </a:ext>
                </a:extLst>
              </a:tr>
              <a:tr h="8229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逻辑式语言（</a:t>
                      </a: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Logical</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PROLOG</a:t>
                      </a:r>
                      <a:endPar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endParaRP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A50021"/>
                          </a:solidFill>
                          <a:effectLst/>
                          <a:latin typeface="Franklin Gothic Book" pitchFamily="34" charset="0"/>
                          <a:ea typeface="黑体" pitchFamily="49" charset="-122"/>
                          <a:cs typeface="Arial" pitchFamily="34" charset="0"/>
                        </a:rPr>
                        <a:t>基于规则</a:t>
                      </a:r>
                      <a:r>
                        <a:rPr kumimoji="0" lang="zh-CN" altLang="en-US" sz="2400" b="0" i="0" u="none" strike="noStrike" cap="none" normalizeH="0" baseline="0" smtClean="0">
                          <a:ln>
                            <a:noFill/>
                          </a:ln>
                          <a:solidFill>
                            <a:srgbClr val="000000"/>
                          </a:solidFill>
                          <a:effectLst/>
                          <a:latin typeface="Franklin Gothic Book" pitchFamily="34" charset="0"/>
                          <a:ea typeface="黑体" pitchFamily="49" charset="-122"/>
                          <a:cs typeface="Arial" pitchFamily="34" charset="0"/>
                        </a:rPr>
                        <a:t>的具有推理功能的语言</a:t>
                      </a:r>
                    </a:p>
                  </a:txBody>
                  <a:tcPr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EEDE7"/>
                    </a:solidFill>
                  </a:tcPr>
                </a:tc>
                <a:extLst>
                  <a:ext uri="{0D108BD9-81ED-4DB2-BD59-A6C34878D82A}">
                    <a16:rowId xmlns:a16="http://schemas.microsoft.com/office/drawing/2014/main" val="10004"/>
                  </a:ext>
                </a:extLst>
              </a:tr>
            </a:tbl>
          </a:graphicData>
        </a:graphic>
      </p:graphicFrame>
      <p:sp>
        <p:nvSpPr>
          <p:cNvPr id="47133" name="灯片编号占位符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E74E4B0-AAF9-4E10-A7D4-056703CCAA1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16</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学习内容</a:t>
            </a:r>
          </a:p>
        </p:txBody>
      </p:sp>
      <p:sp>
        <p:nvSpPr>
          <p:cNvPr id="11267" name="Rectangle 3"/>
          <p:cNvSpPr>
            <a:spLocks noGrp="1" noChangeArrowheads="1"/>
          </p:cNvSpPr>
          <p:nvPr>
            <p:ph type="body" idx="1"/>
          </p:nvPr>
        </p:nvSpPr>
        <p:spPr>
          <a:xfrm>
            <a:off x="1424608" y="1627981"/>
            <a:ext cx="7986092" cy="4772819"/>
          </a:xfrm>
        </p:spPr>
        <p:txBody>
          <a:bodyPr/>
          <a:lstStyle/>
          <a:p>
            <a:pPr marL="533400" indent="-533400" eaLnBrk="1" hangingPunct="1"/>
            <a:r>
              <a:rPr lang="zh-CN" altLang="en-US" dirty="0" smtClean="0">
                <a:latin typeface="Arial" panose="020B0604020202020204" pitchFamily="34" charset="0"/>
                <a:cs typeface="Arial" panose="020B0604020202020204" pitchFamily="34" charset="0"/>
              </a:rPr>
              <a:t>程序和程序设计语言</a:t>
            </a:r>
            <a:endParaRPr lang="en-US" altLang="zh-CN" dirty="0" smtClean="0">
              <a:latin typeface="Arial" panose="020B0604020202020204" pitchFamily="34" charset="0"/>
              <a:cs typeface="Arial" panose="020B0604020202020204" pitchFamily="34" charset="0"/>
            </a:endParaRPr>
          </a:p>
          <a:p>
            <a:pPr marL="533400" indent="-533400" eaLnBrk="1" hangingPunct="1"/>
            <a:r>
              <a:rPr lang="en-US" altLang="zh-CN" dirty="0" smtClean="0">
                <a:solidFill>
                  <a:srgbClr val="FF0000"/>
                </a:solidFill>
                <a:latin typeface="Arial" panose="020B0604020202020204" pitchFamily="34" charset="0"/>
                <a:cs typeface="Arial" panose="020B0604020202020204" pitchFamily="34" charset="0"/>
              </a:rPr>
              <a:t>C</a:t>
            </a:r>
            <a:r>
              <a:rPr lang="zh-CN" altLang="en-US" dirty="0" smtClean="0">
                <a:solidFill>
                  <a:srgbClr val="FF0000"/>
                </a:solidFill>
                <a:latin typeface="Arial" panose="020B0604020202020204" pitchFamily="34" charset="0"/>
                <a:cs typeface="Arial" panose="020B0604020202020204" pitchFamily="34" charset="0"/>
              </a:rPr>
              <a:t>语言简介</a:t>
            </a:r>
            <a:endParaRPr lang="en-US" altLang="zh-CN" dirty="0" smtClean="0">
              <a:solidFill>
                <a:srgbClr val="FF0000"/>
              </a:solidFill>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发展历史</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特点</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基本结构</a:t>
            </a:r>
            <a:endParaRPr lang="en-US" altLang="zh-CN" dirty="0">
              <a:latin typeface="Arial" panose="020B0604020202020204" pitchFamily="34" charset="0"/>
              <a:cs typeface="Arial" panose="020B0604020202020204" pitchFamily="34" charset="0"/>
            </a:endParaRPr>
          </a:p>
          <a:p>
            <a:pPr marL="533400" indent="-533400" eaLnBrk="1" hangingPunct="1"/>
            <a:r>
              <a:rPr lang="en-US" altLang="zh-CN" dirty="0">
                <a:latin typeface="Arial" panose="020B0604020202020204" pitchFamily="34" charset="0"/>
                <a:cs typeface="Arial" panose="020B0604020202020204" pitchFamily="34" charset="0"/>
              </a:rPr>
              <a:t>C</a:t>
            </a:r>
            <a:r>
              <a:rPr lang="zh-CN" altLang="en-US" dirty="0">
                <a:latin typeface="Arial" panose="020B0604020202020204" pitchFamily="34" charset="0"/>
                <a:cs typeface="Arial" panose="020B0604020202020204" pitchFamily="34" charset="0"/>
              </a:rPr>
              <a:t>语言集成开发环境</a:t>
            </a:r>
            <a:endParaRPr lang="en-US" altLang="zh-CN" dirty="0">
              <a:latin typeface="Arial" panose="020B0604020202020204" pitchFamily="34" charset="0"/>
              <a:cs typeface="Arial" panose="020B0604020202020204" pitchFamily="34" charset="0"/>
            </a:endParaRPr>
          </a:p>
          <a:p>
            <a:pPr marL="533400" indent="-533400" eaLnBrk="1" hangingPunct="1"/>
            <a:r>
              <a:rPr lang="zh-CN" altLang="en-US" dirty="0">
                <a:latin typeface="Arial" panose="020B0604020202020204" pitchFamily="34" charset="0"/>
                <a:cs typeface="Arial" panose="020B0604020202020204" pitchFamily="34" charset="0"/>
              </a:rPr>
              <a:t>问题求解过程</a:t>
            </a:r>
            <a:endParaRPr lang="en-US" altLang="zh-CN" dirty="0">
              <a:latin typeface="Arial" panose="020B0604020202020204" pitchFamily="34" charset="0"/>
              <a:cs typeface="Arial" panose="020B0604020202020204" pitchFamily="34" charset="0"/>
            </a:endParaRPr>
          </a:p>
          <a:p>
            <a:pPr marL="533400" indent="-533400" eaLnBrk="1" hangingPunct="1"/>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17</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2514965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95300" y="269875"/>
            <a:ext cx="8915400" cy="1143000"/>
          </a:xfrm>
        </p:spPr>
        <p:txBody>
          <a:bodyPr/>
          <a:lstStyle/>
          <a:p>
            <a:pPr eaLnBrk="1" hangingPunct="1"/>
            <a:r>
              <a:rPr lang="en-US" altLang="zh-CN" smtClean="0"/>
              <a:t>C</a:t>
            </a:r>
            <a:r>
              <a:rPr lang="zh-CN" altLang="en-US" smtClean="0"/>
              <a:t>语言的设计者</a:t>
            </a:r>
          </a:p>
        </p:txBody>
      </p:sp>
      <p:pic>
        <p:nvPicPr>
          <p:cNvPr id="49156" name="Picture 5" descr="thomp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1714500"/>
            <a:ext cx="2476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7" descr="ritchi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0138" y="1714500"/>
            <a:ext cx="2476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Text Box 8"/>
          <p:cNvSpPr txBox="1">
            <a:spLocks noChangeArrowheads="1"/>
          </p:cNvSpPr>
          <p:nvPr/>
        </p:nvSpPr>
        <p:spPr bwMode="auto">
          <a:xfrm>
            <a:off x="1384300" y="4943475"/>
            <a:ext cx="20542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7" rIns="92075" bIns="46037">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Font typeface="Wingdings" panose="05000000000000000000" pitchFamily="2" charset="2"/>
              <a:buNone/>
            </a:pPr>
            <a:r>
              <a:rPr lang="en-US" altLang="zh-CN" sz="2000" b="1">
                <a:latin typeface="Arial" panose="020B0604020202020204" pitchFamily="34" charset="0"/>
              </a:rPr>
              <a:t>Ken Thompson</a:t>
            </a:r>
          </a:p>
          <a:p>
            <a:pPr>
              <a:lnSpc>
                <a:spcPct val="90000"/>
              </a:lnSpc>
              <a:spcBef>
                <a:spcPts val="588"/>
              </a:spcBef>
              <a:spcAft>
                <a:spcPts val="588"/>
              </a:spcAft>
              <a:buSzPct val="80000"/>
              <a:buFont typeface="Wingdings" panose="05000000000000000000" pitchFamily="2" charset="2"/>
              <a:buNone/>
            </a:pPr>
            <a:r>
              <a:rPr lang="zh-CN" altLang="en-US" sz="2000" b="1">
                <a:latin typeface="Arial" panose="020B0604020202020204" pitchFamily="34" charset="0"/>
              </a:rPr>
              <a:t>江湖人称 </a:t>
            </a:r>
            <a:r>
              <a:rPr lang="en-US" altLang="zh-CN" sz="2000" b="1">
                <a:latin typeface="Arial" panose="020B0604020202020204" pitchFamily="34" charset="0"/>
              </a:rPr>
              <a:t>ken</a:t>
            </a:r>
          </a:p>
        </p:txBody>
      </p:sp>
      <p:sp>
        <p:nvSpPr>
          <p:cNvPr id="11" name="Text Box 9"/>
          <p:cNvSpPr txBox="1">
            <a:spLocks noChangeArrowheads="1"/>
          </p:cNvSpPr>
          <p:nvPr/>
        </p:nvSpPr>
        <p:spPr bwMode="auto">
          <a:xfrm>
            <a:off x="4781550" y="4886325"/>
            <a:ext cx="2320925" cy="800100"/>
          </a:xfrm>
          <a:prstGeom prst="rect">
            <a:avLst/>
          </a:prstGeom>
          <a:noFill/>
          <a:ln w="9525" algn="ctr">
            <a:noFill/>
            <a:miter lim="800000"/>
            <a:headEnd/>
            <a:tailEnd/>
          </a:ln>
          <a:effectLst/>
        </p:spPr>
        <p:txBody>
          <a:bodyPr wrap="none" lIns="92075" tIns="46037" rIns="92075" bIns="46037">
            <a:spAutoFit/>
          </a:bodyPr>
          <a:lstStyle/>
          <a:p>
            <a:pPr>
              <a:lnSpc>
                <a:spcPct val="90000"/>
              </a:lnSpc>
              <a:spcBef>
                <a:spcPts val="588"/>
              </a:spcBef>
              <a:spcAft>
                <a:spcPts val="588"/>
              </a:spcAft>
              <a:buClr>
                <a:schemeClr val="tx2"/>
              </a:buClr>
              <a:buSzPct val="80000"/>
              <a:buFont typeface="Wingdings" panose="05000000000000000000" pitchFamily="2" charset="2"/>
              <a:buNone/>
              <a:defRPr/>
            </a:pPr>
            <a:r>
              <a:rPr lang="en-US" altLang="zh-CN" b="1">
                <a:effectLst>
                  <a:outerShdw blurRad="38100" dist="38100" dir="2700000" algn="tl">
                    <a:srgbClr val="C0C0C0"/>
                  </a:outerShdw>
                </a:effectLst>
                <a:ea typeface="宋体" charset="-122"/>
              </a:rPr>
              <a:t>Dennis M. Ritchie</a:t>
            </a:r>
          </a:p>
          <a:p>
            <a:pPr>
              <a:lnSpc>
                <a:spcPct val="90000"/>
              </a:lnSpc>
              <a:spcBef>
                <a:spcPts val="588"/>
              </a:spcBef>
              <a:spcAft>
                <a:spcPts val="588"/>
              </a:spcAft>
              <a:buClr>
                <a:schemeClr val="tx2"/>
              </a:buClr>
              <a:buSzPct val="80000"/>
              <a:buFont typeface="Wingdings" panose="05000000000000000000" pitchFamily="2" charset="2"/>
              <a:buNone/>
              <a:defRPr/>
            </a:pPr>
            <a:r>
              <a:rPr lang="zh-CN" altLang="en-US" b="1">
                <a:effectLst>
                  <a:outerShdw blurRad="38100" dist="38100" dir="2700000" algn="tl">
                    <a:srgbClr val="C0C0C0"/>
                  </a:outerShdw>
                </a:effectLst>
                <a:ea typeface="宋体" charset="-122"/>
              </a:rPr>
              <a:t>江湖人称 </a:t>
            </a:r>
            <a:r>
              <a:rPr lang="en-US" altLang="zh-CN" b="1">
                <a:effectLst>
                  <a:outerShdw blurRad="38100" dist="38100" dir="2700000" algn="tl">
                    <a:srgbClr val="C0C0C0"/>
                  </a:outerShdw>
                </a:effectLst>
                <a:ea typeface="宋体" charset="-122"/>
              </a:rPr>
              <a:t>dmr</a:t>
            </a:r>
          </a:p>
        </p:txBody>
      </p:sp>
      <p:sp>
        <p:nvSpPr>
          <p:cNvPr id="49160" name="矩形 12"/>
          <p:cNvSpPr>
            <a:spLocks noChangeArrowheads="1"/>
          </p:cNvSpPr>
          <p:nvPr/>
        </p:nvSpPr>
        <p:spPr bwMode="auto">
          <a:xfrm>
            <a:off x="2792413" y="5929313"/>
            <a:ext cx="343058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Font typeface="Wingdings" panose="05000000000000000000" pitchFamily="2" charset="2"/>
              <a:buNone/>
            </a:pPr>
            <a:r>
              <a:rPr lang="zh-CN" altLang="en-US" sz="2800" b="1">
                <a:solidFill>
                  <a:srgbClr val="333399"/>
                </a:solidFill>
                <a:latin typeface="黑体" panose="02010609060101010101" pitchFamily="49" charset="-122"/>
                <a:ea typeface="黑体" panose="02010609060101010101" pitchFamily="49" charset="-122"/>
              </a:rPr>
              <a:t>两个骨灰级游戏玩家</a:t>
            </a:r>
          </a:p>
        </p:txBody>
      </p:sp>
      <p:pic>
        <p:nvPicPr>
          <p:cNvPr id="49161" name="Picture 4" descr="DennisRitchi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96213" y="2565400"/>
            <a:ext cx="1508125"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5"/>
          <p:cNvSpPr>
            <a:spLocks noChangeArrowheads="1"/>
          </p:cNvSpPr>
          <p:nvPr/>
        </p:nvSpPr>
        <p:spPr bwMode="auto">
          <a:xfrm>
            <a:off x="7507288" y="4652963"/>
            <a:ext cx="2351087" cy="360362"/>
          </a:xfrm>
          <a:prstGeom prst="rect">
            <a:avLst/>
          </a:prstGeom>
          <a:noFill/>
          <a:ln w="9525">
            <a:noFill/>
            <a:miter lim="800000"/>
            <a:headEnd/>
            <a:tailEnd/>
          </a:ln>
        </p:spPr>
        <p:txBody>
          <a:bodyPr anchor="b"/>
          <a:lstStyle/>
          <a:p>
            <a:pPr algn="ctr">
              <a:lnSpc>
                <a:spcPct val="85000"/>
              </a:lnSpc>
              <a:spcBef>
                <a:spcPts val="588"/>
              </a:spcBef>
              <a:spcAft>
                <a:spcPts val="588"/>
              </a:spcAft>
              <a:buClr>
                <a:schemeClr val="tx2"/>
              </a:buClr>
              <a:buSzPct val="80000"/>
              <a:buFont typeface="Wingdings" panose="05000000000000000000" pitchFamily="2" charset="2"/>
              <a:buNone/>
              <a:defRPr/>
            </a:pPr>
            <a:r>
              <a:rPr lang="en-US" altLang="zh-CN" sz="1800" b="1" i="1" dirty="0">
                <a:solidFill>
                  <a:srgbClr val="000066"/>
                </a:solidFill>
                <a:effectLst>
                  <a:outerShdw blurRad="38100" dist="38100" dir="2700000" algn="tl">
                    <a:srgbClr val="C0C0C0"/>
                  </a:outerShdw>
                </a:effectLst>
                <a:ea typeface="黑体" pitchFamily="2" charset="-122"/>
              </a:rPr>
              <a:t>Ritchie</a:t>
            </a:r>
            <a:r>
              <a:rPr lang="zh-CN" altLang="en-US" sz="1800" b="1" i="1" dirty="0">
                <a:solidFill>
                  <a:srgbClr val="000066"/>
                </a:solidFill>
                <a:effectLst>
                  <a:outerShdw blurRad="38100" dist="38100" dir="2700000" algn="tl">
                    <a:srgbClr val="C0C0C0"/>
                  </a:outerShdw>
                </a:effectLst>
                <a:ea typeface="黑体" pitchFamily="2" charset="-122"/>
              </a:rPr>
              <a:t>漫画像</a:t>
            </a:r>
          </a:p>
        </p:txBody>
      </p:sp>
      <p:sp>
        <p:nvSpPr>
          <p:cNvPr id="49163" name="灯片编号占位符 1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F7C45151-C3C6-412B-99BE-A241816A1030}"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18</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95300" y="269875"/>
            <a:ext cx="8915400" cy="1143000"/>
          </a:xfrm>
        </p:spPr>
        <p:txBody>
          <a:bodyPr/>
          <a:lstStyle/>
          <a:p>
            <a:pPr eaLnBrk="1" hangingPunct="1"/>
            <a:r>
              <a:rPr lang="en-US" altLang="zh-CN" sz="4000" smtClean="0"/>
              <a:t>C</a:t>
            </a:r>
            <a:r>
              <a:rPr lang="zh-CN" altLang="en-US" sz="4000" smtClean="0"/>
              <a:t>语言的诞生始末</a:t>
            </a:r>
            <a:endParaRPr lang="en-US" altLang="zh-CN" sz="4000" smtClean="0"/>
          </a:p>
        </p:txBody>
      </p:sp>
      <p:sp>
        <p:nvSpPr>
          <p:cNvPr id="492547" name="Rectangle 3"/>
          <p:cNvSpPr>
            <a:spLocks noGrp="1" noChangeArrowheads="1"/>
          </p:cNvSpPr>
          <p:nvPr>
            <p:ph type="body" idx="1"/>
          </p:nvPr>
        </p:nvSpPr>
        <p:spPr>
          <a:xfrm>
            <a:off x="128588" y="1485900"/>
            <a:ext cx="5184775" cy="4248150"/>
          </a:xfrm>
        </p:spPr>
        <p:txBody>
          <a:bodyPr/>
          <a:lstStyle/>
          <a:p>
            <a:pPr indent="-395288" eaLnBrk="1" hangingPunct="1">
              <a:lnSpc>
                <a:spcPct val="130000"/>
              </a:lnSpc>
              <a:spcBef>
                <a:spcPct val="10000"/>
              </a:spcBef>
              <a:spcAft>
                <a:spcPct val="0"/>
              </a:spcAft>
            </a:pPr>
            <a:r>
              <a:rPr lang="en-US" altLang="zh-CN" sz="2400" dirty="0" smtClean="0">
                <a:latin typeface="Arial" panose="020B0604020202020204" pitchFamily="34" charset="0"/>
                <a:cs typeface="Arial" panose="020B0604020202020204" pitchFamily="34" charset="0"/>
              </a:rPr>
              <a:t>1969</a:t>
            </a:r>
            <a:r>
              <a:rPr lang="zh-CN" altLang="en-US" sz="2400" dirty="0" smtClean="0">
                <a:latin typeface="Arial" panose="020B0604020202020204" pitchFamily="34" charset="0"/>
                <a:cs typeface="Arial" panose="020B0604020202020204" pitchFamily="34" charset="0"/>
              </a:rPr>
              <a:t>年，</a:t>
            </a:r>
            <a:r>
              <a:rPr lang="en-US" altLang="zh-CN" sz="2400" dirty="0" smtClean="0">
                <a:latin typeface="Arial" panose="020B0604020202020204" pitchFamily="34" charset="0"/>
                <a:cs typeface="Arial" panose="020B0604020202020204" pitchFamily="34" charset="0"/>
              </a:rPr>
              <a:t>ken</a:t>
            </a:r>
            <a:r>
              <a:rPr lang="zh-CN" altLang="en-US" sz="2400" dirty="0" smtClean="0">
                <a:latin typeface="Arial" panose="020B0604020202020204" pitchFamily="34" charset="0"/>
                <a:cs typeface="Arial" panose="020B0604020202020204" pitchFamily="34" charset="0"/>
              </a:rPr>
              <a:t>梦想能遨游宇宙，设计了一款模拟在太阳系航行的</a:t>
            </a:r>
            <a:r>
              <a:rPr lang="zh-CN" altLang="en-US" sz="2400" dirty="0" smtClean="0">
                <a:solidFill>
                  <a:srgbClr val="333399"/>
                </a:solidFill>
                <a:latin typeface="Arial" panose="020B0604020202020204" pitchFamily="34" charset="0"/>
                <a:cs typeface="Arial" panose="020B0604020202020204" pitchFamily="34" charset="0"/>
              </a:rPr>
              <a:t>电子游戏</a:t>
            </a:r>
            <a:r>
              <a:rPr lang="en-US" altLang="zh-CN" sz="2400" dirty="0" smtClean="0">
                <a:latin typeface="Arial" panose="020B0604020202020204" pitchFamily="34" charset="0"/>
                <a:cs typeface="Arial" panose="020B0604020202020204" pitchFamily="34" charset="0"/>
              </a:rPr>
              <a:t>——</a:t>
            </a:r>
            <a:r>
              <a:rPr lang="zh-CN" altLang="en-US" sz="2400" dirty="0" smtClean="0">
                <a:latin typeface="Arial" panose="020B0604020202020204" pitchFamily="34" charset="0"/>
                <a:cs typeface="Arial" panose="020B0604020202020204" pitchFamily="34" charset="0"/>
              </a:rPr>
              <a:t>“</a:t>
            </a:r>
            <a:r>
              <a:rPr lang="en-US" altLang="zh-CN" sz="2400" dirty="0" smtClean="0">
                <a:latin typeface="Arial" panose="020B0604020202020204" pitchFamily="34" charset="0"/>
                <a:cs typeface="Arial" panose="020B0604020202020204" pitchFamily="34" charset="0"/>
              </a:rPr>
              <a:t>Space Travel</a:t>
            </a:r>
            <a:r>
              <a:rPr lang="zh-CN" altLang="en-US" sz="2400" dirty="0" smtClean="0">
                <a:latin typeface="Arial" panose="020B0604020202020204" pitchFamily="34" charset="0"/>
                <a:cs typeface="Arial" panose="020B0604020202020204" pitchFamily="34" charset="0"/>
              </a:rPr>
              <a:t>”，</a:t>
            </a:r>
            <a:r>
              <a:rPr lang="en-US" altLang="zh-CN" sz="2400" dirty="0" smtClean="0">
                <a:latin typeface="Arial" panose="020B0604020202020204" pitchFamily="34" charset="0"/>
                <a:cs typeface="Arial" panose="020B0604020202020204" pitchFamily="34" charset="0"/>
              </a:rPr>
              <a:t>1971</a:t>
            </a:r>
            <a:r>
              <a:rPr lang="zh-CN" altLang="en-US" sz="2400" dirty="0" smtClean="0">
                <a:latin typeface="Arial" panose="020B0604020202020204" pitchFamily="34" charset="0"/>
                <a:cs typeface="Arial" panose="020B0604020202020204" pitchFamily="34" charset="0"/>
              </a:rPr>
              <a:t>年</a:t>
            </a:r>
            <a:r>
              <a:rPr lang="en-US" altLang="zh-CN" sz="2400" dirty="0" err="1" smtClean="0">
                <a:latin typeface="Arial" panose="020B0604020202020204" pitchFamily="34" charset="0"/>
                <a:cs typeface="Arial" panose="020B0604020202020204" pitchFamily="34" charset="0"/>
              </a:rPr>
              <a:t>dmr</a:t>
            </a:r>
            <a:r>
              <a:rPr lang="zh-CN" altLang="en-US" sz="2400" dirty="0" smtClean="0">
                <a:latin typeface="Arial" panose="020B0604020202020204" pitchFamily="34" charset="0"/>
                <a:cs typeface="Arial" panose="020B0604020202020204" pitchFamily="34" charset="0"/>
              </a:rPr>
              <a:t>加入</a:t>
            </a:r>
            <a:endParaRPr lang="en-US" altLang="zh-CN" sz="2400" dirty="0" smtClean="0">
              <a:latin typeface="Arial" panose="020B0604020202020204" pitchFamily="34" charset="0"/>
              <a:cs typeface="Arial" panose="020B0604020202020204" pitchFamily="34" charset="0"/>
            </a:endParaRPr>
          </a:p>
          <a:p>
            <a:pPr indent="-395288" eaLnBrk="1" hangingPunct="1">
              <a:lnSpc>
                <a:spcPct val="130000"/>
              </a:lnSpc>
              <a:spcBef>
                <a:spcPct val="10000"/>
              </a:spcBef>
              <a:spcAft>
                <a:spcPct val="0"/>
              </a:spcAft>
            </a:pPr>
            <a:r>
              <a:rPr lang="zh-CN" altLang="en-US" sz="2400" dirty="0" smtClean="0">
                <a:latin typeface="Arial" panose="020B0604020202020204" pitchFamily="34" charset="0"/>
                <a:cs typeface="Arial" panose="020B0604020202020204" pitchFamily="34" charset="0"/>
              </a:rPr>
              <a:t>游戏在</a:t>
            </a:r>
            <a:r>
              <a:rPr lang="en-US" altLang="zh-CN" sz="2400" dirty="0" smtClean="0">
                <a:solidFill>
                  <a:srgbClr val="333399"/>
                </a:solidFill>
                <a:latin typeface="Arial" panose="020B0604020202020204" pitchFamily="34" charset="0"/>
                <a:cs typeface="Arial" panose="020B0604020202020204" pitchFamily="34" charset="0"/>
              </a:rPr>
              <a:t>PDP-7</a:t>
            </a:r>
            <a:r>
              <a:rPr lang="zh-CN" altLang="en-US" sz="2400" dirty="0" smtClean="0">
                <a:solidFill>
                  <a:srgbClr val="333399"/>
                </a:solidFill>
                <a:latin typeface="Arial" panose="020B0604020202020204" pitchFamily="34" charset="0"/>
                <a:cs typeface="Arial" panose="020B0604020202020204" pitchFamily="34" charset="0"/>
              </a:rPr>
              <a:t>小型机</a:t>
            </a:r>
            <a:r>
              <a:rPr lang="zh-CN" altLang="en-US" sz="2400" dirty="0" smtClean="0">
                <a:latin typeface="Arial" panose="020B0604020202020204" pitchFamily="34" charset="0"/>
                <a:cs typeface="Arial" panose="020B0604020202020204" pitchFamily="34" charset="0"/>
              </a:rPr>
              <a:t>上开发，因为这台机器免费，但免费的机器没有操作系统</a:t>
            </a:r>
          </a:p>
          <a:p>
            <a:pPr indent="-395288" eaLnBrk="1" hangingPunct="1">
              <a:lnSpc>
                <a:spcPct val="130000"/>
              </a:lnSpc>
              <a:spcBef>
                <a:spcPct val="10000"/>
              </a:spcBef>
              <a:spcAft>
                <a:spcPct val="0"/>
              </a:spcAft>
            </a:pPr>
            <a:r>
              <a:rPr lang="zh-CN" altLang="en-US" sz="2400" dirty="0" smtClean="0">
                <a:latin typeface="Arial" panose="020B0604020202020204" pitchFamily="34" charset="0"/>
                <a:cs typeface="Arial" panose="020B0604020202020204" pitchFamily="34" charset="0"/>
              </a:rPr>
              <a:t>玩游戏前，先给</a:t>
            </a:r>
            <a:r>
              <a:rPr lang="en-US" altLang="zh-CN" sz="2400" dirty="0" smtClean="0">
                <a:latin typeface="Arial" panose="020B0604020202020204" pitchFamily="34" charset="0"/>
                <a:cs typeface="Arial" panose="020B0604020202020204" pitchFamily="34" charset="0"/>
              </a:rPr>
              <a:t>PDP-7</a:t>
            </a:r>
            <a:r>
              <a:rPr lang="zh-CN" altLang="en-US" sz="2400" dirty="0" smtClean="0">
                <a:latin typeface="Arial" panose="020B0604020202020204" pitchFamily="34" charset="0"/>
                <a:cs typeface="Arial" panose="020B0604020202020204" pitchFamily="34" charset="0"/>
              </a:rPr>
              <a:t>做个</a:t>
            </a:r>
            <a:r>
              <a:rPr lang="zh-CN" altLang="en-US" sz="2400" dirty="0" smtClean="0">
                <a:solidFill>
                  <a:srgbClr val="333399"/>
                </a:solidFill>
                <a:latin typeface="Arial" panose="020B0604020202020204" pitchFamily="34" charset="0"/>
                <a:cs typeface="Arial" panose="020B0604020202020204" pitchFamily="34" charset="0"/>
              </a:rPr>
              <a:t>操作系统，命名为</a:t>
            </a:r>
            <a:r>
              <a:rPr lang="en-US" altLang="zh-CN" sz="2400" dirty="0" smtClean="0">
                <a:solidFill>
                  <a:srgbClr val="333399"/>
                </a:solidFill>
                <a:latin typeface="Arial" panose="020B0604020202020204" pitchFamily="34" charset="0"/>
                <a:cs typeface="Arial" panose="020B0604020202020204" pitchFamily="34" charset="0"/>
              </a:rPr>
              <a:t>UNIX</a:t>
            </a:r>
          </a:p>
        </p:txBody>
      </p:sp>
      <p:pic>
        <p:nvPicPr>
          <p:cNvPr id="5" name="Picture 3" descr="9786_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0" y="1844675"/>
            <a:ext cx="3983038"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p:cNvSpPr>
            <a:spLocks noChangeArrowheads="1"/>
          </p:cNvSpPr>
          <p:nvPr/>
        </p:nvSpPr>
        <p:spPr bwMode="auto">
          <a:xfrm>
            <a:off x="5384800" y="5043488"/>
            <a:ext cx="4498975" cy="1192212"/>
          </a:xfrm>
          <a:prstGeom prst="rect">
            <a:avLst/>
          </a:prstGeom>
          <a:noFill/>
          <a:ln w="12700">
            <a:noFill/>
            <a:miter lim="800000"/>
            <a:headEnd type="none" w="sm" len="sm"/>
            <a:tailEnd type="none" w="sm" len="sm"/>
          </a:ln>
          <a:effectLst/>
        </p:spPr>
        <p:txBody>
          <a:bodyPr>
            <a:spAutoFit/>
          </a:bodyPr>
          <a:lstStyle/>
          <a:p>
            <a:pPr>
              <a:lnSpc>
                <a:spcPct val="115000"/>
              </a:lnSpc>
              <a:spcBef>
                <a:spcPts val="600"/>
              </a:spcBef>
              <a:spcAft>
                <a:spcPts val="600"/>
              </a:spcAft>
              <a:buClr>
                <a:schemeClr val="tx2"/>
              </a:buClr>
              <a:buSzPct val="80000"/>
              <a:buFont typeface="Wingdings" panose="05000000000000000000" pitchFamily="2" charset="2"/>
              <a:buNone/>
              <a:defRPr/>
            </a:pPr>
            <a:r>
              <a:rPr lang="en-US" altLang="zh-CN" dirty="0">
                <a:solidFill>
                  <a:schemeClr val="tx2"/>
                </a:solidFill>
                <a:ea typeface="黑体" pitchFamily="49" charset="-122"/>
                <a:cs typeface="Arial" pitchFamily="34" charset="0"/>
              </a:rPr>
              <a:t>20</a:t>
            </a:r>
            <a:r>
              <a:rPr lang="zh-CN" altLang="en-US" dirty="0">
                <a:solidFill>
                  <a:schemeClr val="tx2"/>
                </a:solidFill>
                <a:ea typeface="黑体" pitchFamily="49" charset="-122"/>
                <a:cs typeface="Arial" pitchFamily="34" charset="0"/>
              </a:rPr>
              <a:t>世纪</a:t>
            </a:r>
            <a:r>
              <a:rPr lang="en-US" altLang="zh-CN" dirty="0">
                <a:solidFill>
                  <a:schemeClr val="tx2"/>
                </a:solidFill>
                <a:ea typeface="黑体" pitchFamily="49" charset="-122"/>
                <a:cs typeface="Arial" pitchFamily="34" charset="0"/>
              </a:rPr>
              <a:t>60</a:t>
            </a:r>
            <a:r>
              <a:rPr lang="zh-CN" altLang="en-US" dirty="0">
                <a:solidFill>
                  <a:schemeClr val="tx2"/>
                </a:solidFill>
                <a:ea typeface="黑体" pitchFamily="49" charset="-122"/>
                <a:cs typeface="Arial" pitchFamily="34" charset="0"/>
              </a:rPr>
              <a:t>年代，</a:t>
            </a:r>
            <a:r>
              <a:rPr lang="en-US" altLang="zh-CN" dirty="0">
                <a:solidFill>
                  <a:schemeClr val="tx2"/>
                </a:solidFill>
                <a:ea typeface="黑体" pitchFamily="49" charset="-122"/>
                <a:cs typeface="Arial" pitchFamily="34" charset="0"/>
              </a:rPr>
              <a:t>Ritchie </a:t>
            </a:r>
            <a:r>
              <a:rPr lang="zh-CN" altLang="en-US" dirty="0">
                <a:solidFill>
                  <a:schemeClr val="tx2"/>
                </a:solidFill>
                <a:ea typeface="黑体" pitchFamily="49" charset="-122"/>
                <a:cs typeface="Arial" pitchFamily="34" charset="0"/>
              </a:rPr>
              <a:t>和</a:t>
            </a:r>
            <a:r>
              <a:rPr lang="en-US" altLang="zh-CN" dirty="0">
                <a:solidFill>
                  <a:schemeClr val="tx2"/>
                </a:solidFill>
                <a:ea typeface="黑体" pitchFamily="49" charset="-122"/>
                <a:cs typeface="Arial" pitchFamily="34" charset="0"/>
              </a:rPr>
              <a:t>Thompson </a:t>
            </a:r>
            <a:r>
              <a:rPr lang="zh-CN" altLang="en-US" dirty="0">
                <a:solidFill>
                  <a:schemeClr val="tx2"/>
                </a:solidFill>
                <a:ea typeface="黑体" pitchFamily="49" charset="-122"/>
                <a:cs typeface="Arial" pitchFamily="34" charset="0"/>
              </a:rPr>
              <a:t>在贝尔实验室开发</a:t>
            </a:r>
            <a:r>
              <a:rPr lang="en-US" altLang="zh-CN" dirty="0">
                <a:solidFill>
                  <a:schemeClr val="tx2"/>
                </a:solidFill>
                <a:ea typeface="黑体" pitchFamily="49" charset="-122"/>
                <a:cs typeface="Arial" pitchFamily="34" charset="0"/>
              </a:rPr>
              <a:t>UNIX</a:t>
            </a:r>
            <a:r>
              <a:rPr lang="zh-CN" altLang="en-US" dirty="0">
                <a:solidFill>
                  <a:schemeClr val="tx2"/>
                </a:solidFill>
                <a:ea typeface="黑体" pitchFamily="49" charset="-122"/>
                <a:cs typeface="Arial" pitchFamily="34" charset="0"/>
              </a:rPr>
              <a:t>操作系统</a:t>
            </a:r>
          </a:p>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sz="1800" dirty="0">
              <a:solidFill>
                <a:schemeClr val="tx2"/>
              </a:solidFill>
              <a:effectLst>
                <a:outerShdw blurRad="38100" dist="38100" dir="2700000" algn="tl">
                  <a:srgbClr val="C0C0C0"/>
                </a:outerShdw>
              </a:effectLst>
              <a:ea typeface="黑体" pitchFamily="49" charset="-122"/>
              <a:cs typeface="Arial" pitchFamily="34" charset="0"/>
            </a:endParaRPr>
          </a:p>
        </p:txBody>
      </p:sp>
      <p:sp>
        <p:nvSpPr>
          <p:cNvPr id="50182" name="灯片编号占位符 8"/>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1B600BEA-EDA5-4C0A-8547-BE795EE122A2}"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19</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95300" y="269875"/>
            <a:ext cx="8915400" cy="1143000"/>
          </a:xfrm>
        </p:spPr>
        <p:txBody>
          <a:bodyPr/>
          <a:lstStyle/>
          <a:p>
            <a:pPr eaLnBrk="1" hangingPunct="1"/>
            <a:r>
              <a:rPr lang="en-US" altLang="zh-CN" sz="4000" smtClean="0"/>
              <a:t>C</a:t>
            </a:r>
            <a:r>
              <a:rPr lang="zh-CN" altLang="en-US" sz="4000" smtClean="0"/>
              <a:t>语言的诞生始末</a:t>
            </a:r>
          </a:p>
        </p:txBody>
      </p:sp>
      <p:sp>
        <p:nvSpPr>
          <p:cNvPr id="492547" name="Rectangle 3"/>
          <p:cNvSpPr>
            <a:spLocks noGrp="1" noChangeArrowheads="1"/>
          </p:cNvSpPr>
          <p:nvPr>
            <p:ph type="body" idx="1"/>
          </p:nvPr>
        </p:nvSpPr>
        <p:spPr>
          <a:xfrm>
            <a:off x="71438" y="1412875"/>
            <a:ext cx="6034087" cy="4752975"/>
          </a:xfrm>
        </p:spPr>
        <p:txBody>
          <a:bodyPr/>
          <a:lstStyle/>
          <a:p>
            <a:pPr indent="-395288" eaLnBrk="1" hangingPunct="1">
              <a:lnSpc>
                <a:spcPct val="140000"/>
              </a:lnSpc>
              <a:spcBef>
                <a:spcPct val="10000"/>
              </a:spcBef>
              <a:spcAft>
                <a:spcPct val="0"/>
              </a:spcAft>
            </a:pPr>
            <a:r>
              <a:rPr lang="zh-CN" altLang="en-US" sz="2400" dirty="0" smtClean="0">
                <a:latin typeface="Arial" panose="020B0604020202020204" pitchFamily="34" charset="0"/>
                <a:cs typeface="Arial" panose="020B0604020202020204" pitchFamily="34" charset="0"/>
              </a:rPr>
              <a:t>汇编编写</a:t>
            </a:r>
            <a:r>
              <a:rPr lang="en-US" altLang="zh-CN" sz="2400" dirty="0" smtClean="0">
                <a:latin typeface="Arial" panose="020B0604020202020204" pitchFamily="34" charset="0"/>
                <a:cs typeface="Arial" panose="020B0604020202020204" pitchFamily="34" charset="0"/>
              </a:rPr>
              <a:t>UNIX</a:t>
            </a:r>
            <a:r>
              <a:rPr lang="zh-CN" altLang="en-US" sz="2400" dirty="0" smtClean="0">
                <a:latin typeface="Arial" panose="020B0604020202020204" pitchFamily="34" charset="0"/>
                <a:cs typeface="Arial" panose="020B0604020202020204" pitchFamily="34" charset="0"/>
              </a:rPr>
              <a:t>太慢，而一般的高级语言难以实现汇编语言的某些功能，怎么办？</a:t>
            </a:r>
          </a:p>
          <a:p>
            <a:pPr indent="-395288" eaLnBrk="1" hangingPunct="1">
              <a:lnSpc>
                <a:spcPct val="140000"/>
              </a:lnSpc>
              <a:spcBef>
                <a:spcPct val="10000"/>
              </a:spcBef>
              <a:spcAft>
                <a:spcPct val="0"/>
              </a:spcAft>
            </a:pPr>
            <a:r>
              <a:rPr lang="en-US" altLang="zh-CN" sz="2400" dirty="0" err="1" smtClean="0">
                <a:latin typeface="Arial" panose="020B0604020202020204" pitchFamily="34" charset="0"/>
                <a:cs typeface="Arial" panose="020B0604020202020204" pitchFamily="34" charset="0"/>
              </a:rPr>
              <a:t>dmr</a:t>
            </a:r>
            <a:r>
              <a:rPr lang="zh-CN" altLang="en-US" sz="2400" dirty="0" smtClean="0">
                <a:solidFill>
                  <a:srgbClr val="333399"/>
                </a:solidFill>
                <a:latin typeface="Arial" panose="020B0604020202020204" pitchFamily="34" charset="0"/>
                <a:cs typeface="Arial" panose="020B0604020202020204" pitchFamily="34" charset="0"/>
              </a:rPr>
              <a:t>改造</a:t>
            </a:r>
            <a:r>
              <a:rPr lang="en-US" altLang="zh-CN" sz="2400" dirty="0" smtClean="0">
                <a:solidFill>
                  <a:srgbClr val="333399"/>
                </a:solidFill>
                <a:latin typeface="Arial" panose="020B0604020202020204" pitchFamily="34" charset="0"/>
                <a:cs typeface="Arial" panose="020B0604020202020204" pitchFamily="34" charset="0"/>
              </a:rPr>
              <a:t>B</a:t>
            </a:r>
            <a:r>
              <a:rPr lang="zh-CN" altLang="en-US" sz="2400" dirty="0" smtClean="0">
                <a:solidFill>
                  <a:srgbClr val="333399"/>
                </a:solidFill>
                <a:latin typeface="Arial" panose="020B0604020202020204" pitchFamily="34" charset="0"/>
                <a:cs typeface="Arial" panose="020B0604020202020204" pitchFamily="34" charset="0"/>
              </a:rPr>
              <a:t>语言</a:t>
            </a:r>
            <a:r>
              <a:rPr lang="zh-CN" altLang="en-US" sz="2400" dirty="0" smtClean="0">
                <a:latin typeface="Arial" panose="020B0604020202020204" pitchFamily="34" charset="0"/>
                <a:cs typeface="Arial" panose="020B0604020202020204" pitchFamily="34" charset="0"/>
              </a:rPr>
              <a:t>，设计了一种新的高级语言，命名为“</a:t>
            </a:r>
            <a:r>
              <a:rPr lang="en-US" altLang="zh-CN" sz="2400" dirty="0" smtClean="0">
                <a:solidFill>
                  <a:srgbClr val="333399"/>
                </a:solidFill>
                <a:latin typeface="Arial" panose="020B0604020202020204" pitchFamily="34" charset="0"/>
                <a:cs typeface="Arial" panose="020B0604020202020204" pitchFamily="34" charset="0"/>
              </a:rPr>
              <a:t>C</a:t>
            </a:r>
            <a:r>
              <a:rPr lang="zh-CN" altLang="en-US" sz="2400" dirty="0" smtClean="0">
                <a:solidFill>
                  <a:srgbClr val="333399"/>
                </a:solidFill>
                <a:latin typeface="Arial" panose="020B0604020202020204" pitchFamily="34" charset="0"/>
                <a:cs typeface="Arial" panose="020B0604020202020204" pitchFamily="34" charset="0"/>
              </a:rPr>
              <a:t>语言</a:t>
            </a:r>
            <a:r>
              <a:rPr lang="zh-CN" altLang="en-US" sz="2400" dirty="0" smtClean="0">
                <a:latin typeface="Arial" panose="020B0604020202020204" pitchFamily="34" charset="0"/>
                <a:cs typeface="Arial" panose="020B0604020202020204" pitchFamily="34" charset="0"/>
              </a:rPr>
              <a:t>”，把</a:t>
            </a:r>
            <a:r>
              <a:rPr lang="en-US" altLang="zh-CN" sz="2400" dirty="0" smtClean="0">
                <a:solidFill>
                  <a:srgbClr val="333399"/>
                </a:solidFill>
                <a:latin typeface="Arial" panose="020B0604020202020204" pitchFamily="34" charset="0"/>
                <a:cs typeface="Arial" panose="020B0604020202020204" pitchFamily="34" charset="0"/>
              </a:rPr>
              <a:t>UNIX</a:t>
            </a:r>
            <a:r>
              <a:rPr lang="zh-CN" altLang="en-US" sz="2400" dirty="0" smtClean="0">
                <a:solidFill>
                  <a:srgbClr val="333399"/>
                </a:solidFill>
                <a:latin typeface="Arial" panose="020B0604020202020204" pitchFamily="34" charset="0"/>
                <a:cs typeface="Arial" panose="020B0604020202020204" pitchFamily="34" charset="0"/>
              </a:rPr>
              <a:t>的</a:t>
            </a:r>
            <a:r>
              <a:rPr lang="en-US" altLang="zh-CN" sz="2400" dirty="0" smtClean="0">
                <a:solidFill>
                  <a:srgbClr val="333399"/>
                </a:solidFill>
                <a:latin typeface="Arial" panose="020B0604020202020204" pitchFamily="34" charset="0"/>
                <a:cs typeface="Arial" panose="020B0604020202020204" pitchFamily="34" charset="0"/>
              </a:rPr>
              <a:t>90%</a:t>
            </a:r>
            <a:r>
              <a:rPr lang="zh-CN" altLang="en-US" sz="2400" dirty="0" smtClean="0">
                <a:solidFill>
                  <a:srgbClr val="333399"/>
                </a:solidFill>
                <a:latin typeface="Arial" panose="020B0604020202020204" pitchFamily="34" charset="0"/>
                <a:cs typeface="Arial" panose="020B0604020202020204" pitchFamily="34" charset="0"/>
              </a:rPr>
              <a:t>以上代码用</a:t>
            </a:r>
            <a:r>
              <a:rPr lang="en-US" altLang="zh-CN" sz="2400" dirty="0" smtClean="0">
                <a:solidFill>
                  <a:srgbClr val="333399"/>
                </a:solidFill>
                <a:latin typeface="Arial" panose="020B0604020202020204" pitchFamily="34" charset="0"/>
                <a:cs typeface="Arial" panose="020B0604020202020204" pitchFamily="34" charset="0"/>
              </a:rPr>
              <a:t>C</a:t>
            </a:r>
            <a:r>
              <a:rPr lang="zh-CN" altLang="en-US" sz="2400" dirty="0" smtClean="0">
                <a:solidFill>
                  <a:srgbClr val="333399"/>
                </a:solidFill>
                <a:latin typeface="Arial" panose="020B0604020202020204" pitchFamily="34" charset="0"/>
                <a:cs typeface="Arial" panose="020B0604020202020204" pitchFamily="34" charset="0"/>
              </a:rPr>
              <a:t>改写</a:t>
            </a:r>
          </a:p>
          <a:p>
            <a:pPr indent="-395288" eaLnBrk="1" hangingPunct="1">
              <a:lnSpc>
                <a:spcPct val="140000"/>
              </a:lnSpc>
              <a:spcBef>
                <a:spcPct val="10000"/>
              </a:spcBef>
              <a:spcAft>
                <a:spcPct val="0"/>
              </a:spcAft>
            </a:pPr>
            <a:r>
              <a:rPr lang="en-US" altLang="zh-CN" sz="2400" dirty="0" smtClean="0">
                <a:latin typeface="Arial" panose="020B0604020202020204" pitchFamily="34" charset="0"/>
                <a:cs typeface="Arial" panose="020B0604020202020204" pitchFamily="34" charset="0"/>
              </a:rPr>
              <a:t>1983</a:t>
            </a:r>
            <a:r>
              <a:rPr lang="zh-CN" altLang="en-US" sz="2400" dirty="0" smtClean="0">
                <a:latin typeface="Arial" panose="020B0604020202020204" pitchFamily="34" charset="0"/>
                <a:cs typeface="Arial" panose="020B0604020202020204" pitchFamily="34" charset="0"/>
              </a:rPr>
              <a:t>年，因为</a:t>
            </a:r>
            <a:r>
              <a:rPr lang="en-US" altLang="zh-CN" sz="2400" dirty="0" smtClean="0">
                <a:latin typeface="Arial" panose="020B0604020202020204" pitchFamily="34" charset="0"/>
                <a:cs typeface="Arial" panose="020B0604020202020204" pitchFamily="34" charset="0"/>
              </a:rPr>
              <a:t>UNIX</a:t>
            </a:r>
            <a:r>
              <a:rPr lang="zh-CN" altLang="en-US" sz="2400" dirty="0" smtClean="0">
                <a:latin typeface="Arial" panose="020B0604020202020204" pitchFamily="34" charset="0"/>
                <a:cs typeface="Arial" panose="020B0604020202020204" pitchFamily="34" charset="0"/>
              </a:rPr>
              <a:t>和</a:t>
            </a:r>
            <a:r>
              <a:rPr lang="en-US" altLang="zh-CN" sz="2400" dirty="0" smtClean="0">
                <a:latin typeface="Arial" panose="020B0604020202020204" pitchFamily="34" charset="0"/>
                <a:cs typeface="Arial" panose="020B0604020202020204" pitchFamily="34" charset="0"/>
              </a:rPr>
              <a:t>C</a:t>
            </a:r>
            <a:r>
              <a:rPr lang="zh-CN" altLang="en-US" sz="2400" dirty="0" smtClean="0">
                <a:latin typeface="Arial" panose="020B0604020202020204" pitchFamily="34" charset="0"/>
                <a:cs typeface="Arial" panose="020B0604020202020204" pitchFamily="34" charset="0"/>
              </a:rPr>
              <a:t>语言的巨大成功， </a:t>
            </a:r>
            <a:r>
              <a:rPr lang="en-US" altLang="zh-CN" sz="2400" dirty="0" smtClean="0">
                <a:latin typeface="Arial" panose="020B0604020202020204" pitchFamily="34" charset="0"/>
                <a:cs typeface="Arial" panose="020B0604020202020204" pitchFamily="34" charset="0"/>
              </a:rPr>
              <a:t>ken</a:t>
            </a:r>
            <a:r>
              <a:rPr lang="zh-CN" altLang="en-US" sz="2400" dirty="0" smtClean="0">
                <a:latin typeface="Arial" panose="020B0604020202020204" pitchFamily="34" charset="0"/>
                <a:cs typeface="Arial" panose="020B0604020202020204" pitchFamily="34" charset="0"/>
              </a:rPr>
              <a:t>和</a:t>
            </a:r>
            <a:r>
              <a:rPr lang="en-US" altLang="zh-CN" sz="2400" dirty="0" err="1" smtClean="0">
                <a:latin typeface="Arial" panose="020B0604020202020204" pitchFamily="34" charset="0"/>
                <a:cs typeface="Arial" panose="020B0604020202020204" pitchFamily="34" charset="0"/>
              </a:rPr>
              <a:t>dmr</a:t>
            </a:r>
            <a:r>
              <a:rPr lang="zh-CN" altLang="en-US" sz="2400" dirty="0" smtClean="0">
                <a:latin typeface="Arial" panose="020B0604020202020204" pitchFamily="34" charset="0"/>
                <a:cs typeface="Arial" panose="020B0604020202020204" pitchFamily="34" charset="0"/>
              </a:rPr>
              <a:t>共同获得当年度的计算机界最高奖</a:t>
            </a:r>
            <a:r>
              <a:rPr lang="en-US" altLang="zh-CN" sz="2400" dirty="0" smtClean="0">
                <a:latin typeface="Arial" panose="020B0604020202020204" pitchFamily="34" charset="0"/>
                <a:cs typeface="Arial" panose="020B0604020202020204" pitchFamily="34" charset="0"/>
              </a:rPr>
              <a:t>——</a:t>
            </a:r>
            <a:r>
              <a:rPr lang="zh-CN" altLang="en-US" sz="2400" dirty="0" smtClean="0">
                <a:solidFill>
                  <a:srgbClr val="A50021"/>
                </a:solidFill>
                <a:latin typeface="Arial" panose="020B0604020202020204" pitchFamily="34" charset="0"/>
                <a:cs typeface="Arial" panose="020B0604020202020204" pitchFamily="34" charset="0"/>
              </a:rPr>
              <a:t>图灵奖</a:t>
            </a:r>
          </a:p>
        </p:txBody>
      </p:sp>
      <p:pic>
        <p:nvPicPr>
          <p:cNvPr id="5" name="Picture 8" descr="medal_l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525" y="2559050"/>
            <a:ext cx="36464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9"/>
          <p:cNvSpPr>
            <a:spLocks noChangeArrowheads="1"/>
          </p:cNvSpPr>
          <p:nvPr/>
        </p:nvSpPr>
        <p:spPr bwMode="auto">
          <a:xfrm>
            <a:off x="6048375" y="5300663"/>
            <a:ext cx="3543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Font typeface="Wingdings" panose="05000000000000000000" pitchFamily="2" charset="2"/>
              <a:buNone/>
            </a:pPr>
            <a:r>
              <a:rPr lang="en-US" altLang="zh-CN" sz="2000">
                <a:latin typeface="Arial" panose="020B0604020202020204" pitchFamily="34" charset="0"/>
                <a:ea typeface="黑体" panose="02010609060101010101" pitchFamily="49" charset="-122"/>
                <a:cs typeface="Arial" panose="020B0604020202020204" pitchFamily="34" charset="0"/>
              </a:rPr>
              <a:t>1999</a:t>
            </a:r>
            <a:r>
              <a:rPr lang="zh-CN" altLang="en-US" sz="2000">
                <a:latin typeface="Arial" panose="020B0604020202020204" pitchFamily="34" charset="0"/>
                <a:ea typeface="黑体" panose="02010609060101010101" pitchFamily="49" charset="-122"/>
                <a:cs typeface="Arial" panose="020B0604020202020204" pitchFamily="34" charset="0"/>
              </a:rPr>
              <a:t>年接受美国国家技术勋章</a:t>
            </a:r>
          </a:p>
        </p:txBody>
      </p:sp>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0400" y="928688"/>
            <a:ext cx="1393825"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灯片编号占位符 10"/>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95FE63B5-72C5-4B31-B40F-A41137882DCB}"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20</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95300" y="269875"/>
            <a:ext cx="8915400" cy="1143000"/>
          </a:xfrm>
        </p:spPr>
        <p:txBody>
          <a:bodyPr/>
          <a:lstStyle/>
          <a:p>
            <a:pPr eaLnBrk="1" hangingPunct="1"/>
            <a:r>
              <a:rPr lang="en-US" altLang="zh-CN" smtClean="0"/>
              <a:t>C</a:t>
            </a:r>
            <a:r>
              <a:rPr lang="zh-CN" altLang="en-US" smtClean="0"/>
              <a:t>语言标准</a:t>
            </a:r>
            <a:endParaRPr lang="en-US" altLang="zh-CN" smtClean="0"/>
          </a:p>
        </p:txBody>
      </p:sp>
      <p:sp>
        <p:nvSpPr>
          <p:cNvPr id="122886" name="Rectangle 6"/>
          <p:cNvSpPr>
            <a:spLocks noChangeArrowheads="1"/>
          </p:cNvSpPr>
          <p:nvPr/>
        </p:nvSpPr>
        <p:spPr bwMode="auto">
          <a:xfrm>
            <a:off x="128588" y="1637506"/>
            <a:ext cx="9777412" cy="4895850"/>
          </a:xfrm>
          <a:prstGeom prst="rect">
            <a:avLst/>
          </a:prstGeom>
          <a:noFill/>
          <a:ln w="9525">
            <a:noFill/>
            <a:miter lim="800000"/>
            <a:headEnd/>
            <a:tailEnd/>
          </a:ln>
          <a:effectLst/>
        </p:spPr>
        <p:txBody>
          <a:bodyPr/>
          <a:lstStyle/>
          <a:p>
            <a:pPr marL="457200" indent="-457200">
              <a:lnSpc>
                <a:spcPct val="120000"/>
              </a:lnSpc>
              <a:spcBef>
                <a:spcPts val="600"/>
              </a:spcBef>
              <a:spcAft>
                <a:spcPts val="600"/>
              </a:spcAft>
              <a:buClr>
                <a:schemeClr val="tx1"/>
              </a:buClr>
              <a:buSzPct val="80000"/>
              <a:buFont typeface="Wingdings" panose="05000000000000000000" pitchFamily="2" charset="2"/>
              <a:buChar char="n"/>
              <a:defRPr/>
            </a:pPr>
            <a:r>
              <a:rPr lang="en-US" altLang="zh-CN" sz="2800" dirty="0" smtClean="0">
                <a:ea typeface="黑体" pitchFamily="49" charset="-122"/>
                <a:cs typeface="Times New Roman" pitchFamily="18" charset="0"/>
              </a:rPr>
              <a:t>1982</a:t>
            </a:r>
            <a:r>
              <a:rPr lang="zh-CN" altLang="en-US" sz="2800" dirty="0">
                <a:ea typeface="黑体" pitchFamily="49" charset="-122"/>
                <a:cs typeface="Times New Roman" pitchFamily="18" charset="0"/>
              </a:rPr>
              <a:t>年，美国国家标准化协会（</a:t>
            </a:r>
            <a:r>
              <a:rPr lang="en-US" altLang="zh-CN" sz="2800" dirty="0">
                <a:ea typeface="黑体" pitchFamily="49" charset="-122"/>
                <a:cs typeface="Times New Roman" pitchFamily="18" charset="0"/>
              </a:rPr>
              <a:t> American National Standards Institute</a:t>
            </a:r>
            <a:r>
              <a:rPr lang="zh-CN" altLang="en-US" sz="2800" dirty="0">
                <a:ea typeface="黑体" pitchFamily="49" charset="-122"/>
                <a:cs typeface="Times New Roman" pitchFamily="18" charset="0"/>
              </a:rPr>
              <a:t>，</a:t>
            </a:r>
            <a:r>
              <a:rPr lang="en-US" altLang="zh-CN" sz="2800" dirty="0">
                <a:ea typeface="黑体" pitchFamily="49" charset="-122"/>
                <a:cs typeface="Times New Roman" pitchFamily="18" charset="0"/>
              </a:rPr>
              <a:t>ANSI</a:t>
            </a:r>
            <a:r>
              <a:rPr lang="zh-CN" altLang="en-US" sz="2800" dirty="0">
                <a:ea typeface="黑体" pitchFamily="49" charset="-122"/>
                <a:cs typeface="Times New Roman" pitchFamily="18" charset="0"/>
              </a:rPr>
              <a:t>）成立</a:t>
            </a:r>
            <a:r>
              <a:rPr lang="en-US" altLang="zh-CN" sz="2800" dirty="0">
                <a:ea typeface="黑体" pitchFamily="49" charset="-122"/>
                <a:cs typeface="Times New Roman" pitchFamily="18" charset="0"/>
              </a:rPr>
              <a:t>C</a:t>
            </a:r>
            <a:r>
              <a:rPr lang="zh-CN" altLang="en-US" sz="2800" dirty="0">
                <a:ea typeface="黑体" pitchFamily="49" charset="-122"/>
                <a:cs typeface="Times New Roman" pitchFamily="18" charset="0"/>
              </a:rPr>
              <a:t>标准委员会</a:t>
            </a:r>
            <a:endParaRPr lang="en-US" altLang="zh-CN" sz="2800" dirty="0">
              <a:ea typeface="黑体" pitchFamily="49" charset="-122"/>
              <a:cs typeface="Times New Roman" pitchFamily="18" charset="0"/>
            </a:endParaRPr>
          </a:p>
          <a:p>
            <a:pPr marL="457200" indent="-457200">
              <a:lnSpc>
                <a:spcPct val="120000"/>
              </a:lnSpc>
              <a:spcBef>
                <a:spcPts val="600"/>
              </a:spcBef>
              <a:spcAft>
                <a:spcPts val="600"/>
              </a:spcAft>
              <a:buClr>
                <a:schemeClr val="tx1"/>
              </a:buClr>
              <a:buSzPct val="80000"/>
              <a:buFont typeface="Wingdings" panose="05000000000000000000" pitchFamily="2" charset="2"/>
              <a:buChar char="n"/>
              <a:defRPr/>
            </a:pPr>
            <a:r>
              <a:rPr lang="en-US" altLang="zh-CN" sz="2800" dirty="0">
                <a:ea typeface="黑体" pitchFamily="49" charset="-122"/>
                <a:cs typeface="Times New Roman" pitchFamily="18" charset="0"/>
              </a:rPr>
              <a:t>1989</a:t>
            </a:r>
            <a:r>
              <a:rPr lang="zh-CN" altLang="en-US" sz="2800" dirty="0">
                <a:ea typeface="黑体" pitchFamily="49" charset="-122"/>
                <a:cs typeface="Times New Roman" pitchFamily="18" charset="0"/>
              </a:rPr>
              <a:t>年，发布第一个完整的</a:t>
            </a:r>
            <a:r>
              <a:rPr lang="en-US" altLang="zh-CN" sz="2800" dirty="0">
                <a:ea typeface="黑体" pitchFamily="49" charset="-122"/>
                <a:cs typeface="Times New Roman" pitchFamily="18" charset="0"/>
              </a:rPr>
              <a:t>C</a:t>
            </a:r>
            <a:r>
              <a:rPr lang="zh-CN" altLang="en-US" sz="2800" dirty="0">
                <a:ea typeface="黑体" pitchFamily="49" charset="-122"/>
                <a:cs typeface="Times New Roman" pitchFamily="18" charset="0"/>
              </a:rPr>
              <a:t>语言标准，简称</a:t>
            </a:r>
            <a:r>
              <a:rPr lang="en-US" altLang="zh-CN" sz="2800" dirty="0">
                <a:solidFill>
                  <a:srgbClr val="A50021"/>
                </a:solidFill>
                <a:ea typeface="黑体" pitchFamily="49" charset="-122"/>
                <a:cs typeface="Times New Roman" pitchFamily="18" charset="0"/>
              </a:rPr>
              <a:t>C89</a:t>
            </a:r>
          </a:p>
          <a:p>
            <a:pPr marL="908050" lvl="1" indent="-342900">
              <a:lnSpc>
                <a:spcPct val="120000"/>
              </a:lnSpc>
              <a:spcBef>
                <a:spcPts val="600"/>
              </a:spcBef>
              <a:spcAft>
                <a:spcPts val="600"/>
              </a:spcAft>
              <a:buClr>
                <a:schemeClr val="tx1"/>
              </a:buClr>
              <a:buSzPct val="115000"/>
              <a:buFont typeface="Arial" pitchFamily="34" charset="0"/>
              <a:buChar char="–"/>
              <a:defRPr/>
            </a:pPr>
            <a:r>
              <a:rPr lang="zh-CN" altLang="en-US" sz="2400" dirty="0">
                <a:solidFill>
                  <a:srgbClr val="333399"/>
                </a:solidFill>
                <a:ea typeface="黑体" pitchFamily="49" charset="-122"/>
                <a:cs typeface="Times New Roman" pitchFamily="18" charset="0"/>
              </a:rPr>
              <a:t>习惯上也称为</a:t>
            </a:r>
            <a:r>
              <a:rPr lang="en-US" altLang="zh-CN" sz="2400" dirty="0">
                <a:solidFill>
                  <a:srgbClr val="A50021"/>
                </a:solidFill>
                <a:ea typeface="黑体" pitchFamily="49" charset="-122"/>
                <a:cs typeface="Times New Roman" pitchFamily="18" charset="0"/>
              </a:rPr>
              <a:t>ANSI C</a:t>
            </a:r>
            <a:r>
              <a:rPr lang="zh-CN" altLang="en-US" sz="2400" dirty="0">
                <a:solidFill>
                  <a:srgbClr val="A50021"/>
                </a:solidFill>
                <a:ea typeface="黑体" pitchFamily="49" charset="-122"/>
                <a:cs typeface="Times New Roman" pitchFamily="18" charset="0"/>
              </a:rPr>
              <a:t>（标准</a:t>
            </a:r>
            <a:r>
              <a:rPr lang="en-US" altLang="zh-CN" sz="2400" dirty="0">
                <a:solidFill>
                  <a:srgbClr val="A50021"/>
                </a:solidFill>
                <a:ea typeface="黑体" pitchFamily="49" charset="-122"/>
                <a:cs typeface="Times New Roman" pitchFamily="18" charset="0"/>
              </a:rPr>
              <a:t>C</a:t>
            </a:r>
            <a:r>
              <a:rPr lang="zh-CN" altLang="en-US" sz="2400" dirty="0">
                <a:solidFill>
                  <a:srgbClr val="A50021"/>
                </a:solidFill>
                <a:ea typeface="黑体" pitchFamily="49" charset="-122"/>
                <a:cs typeface="Times New Roman" pitchFamily="18" charset="0"/>
              </a:rPr>
              <a:t>）</a:t>
            </a:r>
            <a:endParaRPr lang="en-US" altLang="zh-CN" sz="2400" dirty="0">
              <a:solidFill>
                <a:srgbClr val="A50021"/>
              </a:solidFill>
              <a:ea typeface="黑体" pitchFamily="49" charset="-122"/>
              <a:cs typeface="Times New Roman" pitchFamily="18" charset="0"/>
            </a:endParaRPr>
          </a:p>
          <a:p>
            <a:pPr marL="908050" lvl="1" indent="-342900">
              <a:lnSpc>
                <a:spcPct val="120000"/>
              </a:lnSpc>
              <a:spcBef>
                <a:spcPts val="600"/>
              </a:spcBef>
              <a:spcAft>
                <a:spcPts val="600"/>
              </a:spcAft>
              <a:buClr>
                <a:schemeClr val="tx1"/>
              </a:buClr>
              <a:buSzPct val="115000"/>
              <a:buFont typeface="Arial" pitchFamily="34" charset="0"/>
              <a:buChar char="–"/>
              <a:defRPr/>
            </a:pPr>
            <a:r>
              <a:rPr lang="en-US" altLang="zh-CN" sz="2400" dirty="0">
                <a:solidFill>
                  <a:srgbClr val="333399"/>
                </a:solidFill>
                <a:ea typeface="黑体" pitchFamily="49" charset="-122"/>
                <a:cs typeface="Times New Roman" pitchFamily="18" charset="0"/>
              </a:rPr>
              <a:t>1990</a:t>
            </a:r>
            <a:r>
              <a:rPr lang="zh-CN" altLang="en-US" sz="2400" dirty="0">
                <a:solidFill>
                  <a:srgbClr val="333399"/>
                </a:solidFill>
                <a:ea typeface="黑体" pitchFamily="49" charset="-122"/>
                <a:cs typeface="Times New Roman" pitchFamily="18" charset="0"/>
              </a:rPr>
              <a:t>年被国际标准化组织</a:t>
            </a:r>
            <a:r>
              <a:rPr lang="en-US" altLang="zh-CN" sz="2400" dirty="0">
                <a:solidFill>
                  <a:srgbClr val="333399"/>
                </a:solidFill>
                <a:ea typeface="黑体" pitchFamily="49" charset="-122"/>
                <a:cs typeface="Times New Roman" pitchFamily="18" charset="0"/>
              </a:rPr>
              <a:t>ISO</a:t>
            </a:r>
            <a:r>
              <a:rPr lang="zh-CN" altLang="en-US" sz="2400" dirty="0">
                <a:solidFill>
                  <a:srgbClr val="333399"/>
                </a:solidFill>
                <a:ea typeface="黑体" pitchFamily="49" charset="-122"/>
                <a:cs typeface="Times New Roman" pitchFamily="18" charset="0"/>
              </a:rPr>
              <a:t>采纳，也称为</a:t>
            </a:r>
            <a:r>
              <a:rPr lang="en-US" altLang="zh-CN" sz="2400" dirty="0">
                <a:solidFill>
                  <a:srgbClr val="333399"/>
                </a:solidFill>
                <a:ea typeface="黑体" pitchFamily="49" charset="-122"/>
                <a:cs typeface="Times New Roman" pitchFamily="18" charset="0"/>
              </a:rPr>
              <a:t>C90</a:t>
            </a:r>
          </a:p>
          <a:p>
            <a:pPr marL="908050" lvl="1" indent="-342900">
              <a:lnSpc>
                <a:spcPct val="120000"/>
              </a:lnSpc>
              <a:spcBef>
                <a:spcPts val="600"/>
              </a:spcBef>
              <a:spcAft>
                <a:spcPts val="600"/>
              </a:spcAft>
              <a:buClr>
                <a:schemeClr val="tx1"/>
              </a:buClr>
              <a:buSzPct val="115000"/>
              <a:buFont typeface="Arial" pitchFamily="34" charset="0"/>
              <a:buChar char="–"/>
              <a:defRPr/>
            </a:pPr>
            <a:r>
              <a:rPr lang="en-US" altLang="zh-CN" sz="2400" dirty="0">
                <a:solidFill>
                  <a:srgbClr val="333399"/>
                </a:solidFill>
                <a:ea typeface="黑体" pitchFamily="49" charset="-122"/>
                <a:cs typeface="Times New Roman" pitchFamily="18" charset="0"/>
              </a:rPr>
              <a:t>1999</a:t>
            </a:r>
            <a:r>
              <a:rPr lang="zh-CN" altLang="en-US" sz="2400" dirty="0">
                <a:solidFill>
                  <a:srgbClr val="333399"/>
                </a:solidFill>
                <a:ea typeface="黑体" pitchFamily="49" charset="-122"/>
                <a:cs typeface="Times New Roman" pitchFamily="18" charset="0"/>
              </a:rPr>
              <a:t>年修正和完善之后，</a:t>
            </a:r>
            <a:r>
              <a:rPr lang="en-US" altLang="zh-CN" sz="2400" dirty="0">
                <a:solidFill>
                  <a:srgbClr val="333399"/>
                </a:solidFill>
                <a:ea typeface="黑体" pitchFamily="49" charset="-122"/>
                <a:cs typeface="Times New Roman" pitchFamily="18" charset="0"/>
              </a:rPr>
              <a:t>ISO</a:t>
            </a:r>
            <a:r>
              <a:rPr lang="zh-CN" altLang="en-US" sz="2400" dirty="0">
                <a:solidFill>
                  <a:srgbClr val="333399"/>
                </a:solidFill>
                <a:ea typeface="黑体" pitchFamily="49" charset="-122"/>
                <a:cs typeface="Times New Roman" pitchFamily="18" charset="0"/>
              </a:rPr>
              <a:t>发布了</a:t>
            </a:r>
            <a:r>
              <a:rPr lang="en-US" altLang="zh-CN" sz="2400" dirty="0" smtClean="0">
                <a:solidFill>
                  <a:srgbClr val="A50021"/>
                </a:solidFill>
                <a:ea typeface="黑体" pitchFamily="49" charset="-122"/>
                <a:cs typeface="Times New Roman" pitchFamily="18" charset="0"/>
              </a:rPr>
              <a:t>C99</a:t>
            </a:r>
          </a:p>
          <a:p>
            <a:pPr marL="908050" lvl="1" indent="-342900">
              <a:lnSpc>
                <a:spcPct val="120000"/>
              </a:lnSpc>
              <a:spcBef>
                <a:spcPts val="600"/>
              </a:spcBef>
              <a:spcAft>
                <a:spcPts val="600"/>
              </a:spcAft>
              <a:buClr>
                <a:schemeClr val="tx1"/>
              </a:buClr>
              <a:buSzPct val="115000"/>
              <a:buFont typeface="Arial" pitchFamily="34" charset="0"/>
              <a:buChar char="–"/>
              <a:defRPr/>
            </a:pPr>
            <a:r>
              <a:rPr lang="en-US" altLang="zh-CN" sz="2400" dirty="0">
                <a:solidFill>
                  <a:srgbClr val="333399"/>
                </a:solidFill>
                <a:ea typeface="黑体" pitchFamily="49" charset="-122"/>
                <a:cs typeface="Times New Roman" pitchFamily="18" charset="0"/>
              </a:rPr>
              <a:t>2011</a:t>
            </a:r>
            <a:r>
              <a:rPr lang="zh-CN" altLang="en-US" sz="2400" dirty="0">
                <a:solidFill>
                  <a:srgbClr val="333399"/>
                </a:solidFill>
                <a:ea typeface="黑体" pitchFamily="49" charset="-122"/>
                <a:cs typeface="Times New Roman" pitchFamily="18" charset="0"/>
              </a:rPr>
              <a:t>年</a:t>
            </a:r>
            <a:r>
              <a:rPr lang="zh-CN" altLang="en-US" sz="2400" dirty="0" smtClean="0">
                <a:solidFill>
                  <a:srgbClr val="333399"/>
                </a:solidFill>
                <a:ea typeface="黑体" pitchFamily="49" charset="-122"/>
                <a:cs typeface="Times New Roman" pitchFamily="18" charset="0"/>
              </a:rPr>
              <a:t>，</a:t>
            </a:r>
            <a:r>
              <a:rPr lang="en-US" altLang="zh-CN" sz="2400" dirty="0" smtClean="0">
                <a:solidFill>
                  <a:srgbClr val="333399"/>
                </a:solidFill>
                <a:ea typeface="黑体" pitchFamily="49" charset="-122"/>
                <a:cs typeface="Times New Roman" pitchFamily="18" charset="0"/>
              </a:rPr>
              <a:t>ISO</a:t>
            </a:r>
            <a:r>
              <a:rPr lang="zh-CN" altLang="en-US" sz="2400" dirty="0" smtClean="0">
                <a:solidFill>
                  <a:srgbClr val="333399"/>
                </a:solidFill>
                <a:ea typeface="黑体" pitchFamily="49" charset="-122"/>
                <a:cs typeface="Times New Roman" pitchFamily="18" charset="0"/>
              </a:rPr>
              <a:t>和</a:t>
            </a:r>
            <a:r>
              <a:rPr lang="en-US" altLang="zh-CN" sz="2400" dirty="0" smtClean="0">
                <a:solidFill>
                  <a:srgbClr val="333399"/>
                </a:solidFill>
                <a:ea typeface="黑体" pitchFamily="49" charset="-122"/>
                <a:cs typeface="Times New Roman" pitchFamily="18" charset="0"/>
              </a:rPr>
              <a:t>IEC</a:t>
            </a:r>
            <a:r>
              <a:rPr lang="zh-CN" altLang="en-US" sz="2400" dirty="0" smtClean="0">
                <a:solidFill>
                  <a:srgbClr val="333399"/>
                </a:solidFill>
                <a:ea typeface="黑体" pitchFamily="49" charset="-122"/>
                <a:cs typeface="Times New Roman" pitchFamily="18" charset="0"/>
              </a:rPr>
              <a:t>又</a:t>
            </a:r>
            <a:r>
              <a:rPr lang="zh-CN" altLang="en-US" sz="2400" dirty="0">
                <a:solidFill>
                  <a:srgbClr val="333399"/>
                </a:solidFill>
                <a:ea typeface="黑体" pitchFamily="49" charset="-122"/>
                <a:cs typeface="Times New Roman" pitchFamily="18" charset="0"/>
              </a:rPr>
              <a:t>发布了</a:t>
            </a:r>
            <a:r>
              <a:rPr lang="en-US" altLang="zh-CN" sz="2400" dirty="0">
                <a:solidFill>
                  <a:srgbClr val="333399"/>
                </a:solidFill>
                <a:ea typeface="黑体" pitchFamily="49" charset="-122"/>
                <a:cs typeface="Times New Roman" pitchFamily="18" charset="0"/>
              </a:rPr>
              <a:t>C11</a:t>
            </a:r>
          </a:p>
          <a:p>
            <a:pPr marL="908050" lvl="1" indent="-342900">
              <a:lnSpc>
                <a:spcPct val="110000"/>
              </a:lnSpc>
              <a:spcBef>
                <a:spcPts val="600"/>
              </a:spcBef>
              <a:spcAft>
                <a:spcPts val="600"/>
              </a:spcAft>
              <a:buClr>
                <a:schemeClr val="accent1"/>
              </a:buClr>
              <a:buSzPct val="150000"/>
              <a:buFontTx/>
              <a:buChar char="–"/>
              <a:defRPr/>
            </a:pPr>
            <a:endParaRPr lang="zh-CN" altLang="en-US" sz="2400" b="1" dirty="0">
              <a:solidFill>
                <a:srgbClr val="A50021"/>
              </a:solidFill>
              <a:effectLst>
                <a:outerShdw blurRad="38100" dist="38100" dir="2700000" algn="tl">
                  <a:srgbClr val="C0C0C0"/>
                </a:outerShdw>
              </a:effectLst>
              <a:ea typeface="黑体" pitchFamily="49" charset="-122"/>
              <a:cs typeface="Times New Roman" pitchFamily="18" charset="0"/>
            </a:endParaRPr>
          </a:p>
        </p:txBody>
      </p:sp>
      <p:sp>
        <p:nvSpPr>
          <p:cNvPr id="54276" name="灯片编号占位符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D8777AD4-844F-4945-ADB2-E5BB7A573984}"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21</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95300" y="269875"/>
            <a:ext cx="8915400" cy="1143000"/>
          </a:xfrm>
        </p:spPr>
        <p:txBody>
          <a:bodyPr/>
          <a:lstStyle/>
          <a:p>
            <a:pPr eaLnBrk="1" hangingPunct="1"/>
            <a:r>
              <a:rPr lang="en-US" altLang="zh-CN" sz="4000" dirty="0" smtClean="0"/>
              <a:t>C</a:t>
            </a:r>
            <a:r>
              <a:rPr lang="zh-CN" altLang="en-US" sz="4000" dirty="0" smtClean="0"/>
              <a:t>语言特点</a:t>
            </a:r>
          </a:p>
        </p:txBody>
      </p:sp>
      <p:sp>
        <p:nvSpPr>
          <p:cNvPr id="124931" name="Rectangle 3"/>
          <p:cNvSpPr>
            <a:spLocks noGrp="1" noChangeArrowheads="1"/>
          </p:cNvSpPr>
          <p:nvPr>
            <p:ph type="body" idx="1"/>
          </p:nvPr>
        </p:nvSpPr>
        <p:spPr>
          <a:xfrm>
            <a:off x="200025" y="1428750"/>
            <a:ext cx="9520238" cy="4879975"/>
          </a:xfrm>
        </p:spPr>
        <p:txBody>
          <a:bodyPr/>
          <a:lstStyle/>
          <a:p>
            <a:pPr eaLnBrk="1" hangingPunct="1"/>
            <a:r>
              <a:rPr lang="zh-CN" altLang="en-US" dirty="0" smtClean="0">
                <a:latin typeface="Arial" panose="020B0604020202020204" pitchFamily="34" charset="0"/>
                <a:cs typeface="Arial" panose="020B0604020202020204" pitchFamily="34" charset="0"/>
              </a:rPr>
              <a:t>语言简洁、紧凑，使用方便、灵活</a:t>
            </a:r>
            <a:endParaRPr lang="en-US" altLang="zh-CN" dirty="0" smtClean="0">
              <a:latin typeface="Arial" panose="020B0604020202020204" pitchFamily="34" charset="0"/>
              <a:cs typeface="Arial" panose="020B0604020202020204" pitchFamily="34" charset="0"/>
            </a:endParaRPr>
          </a:p>
          <a:p>
            <a:pPr lvl="1" eaLnBrk="1" hangingPunct="1"/>
            <a:r>
              <a:rPr lang="zh-CN" altLang="en-US" dirty="0" smtClean="0">
                <a:latin typeface="Arial" panose="020B0604020202020204" pitchFamily="34" charset="0"/>
                <a:cs typeface="Arial" panose="020B0604020202020204" pitchFamily="34" charset="0"/>
              </a:rPr>
              <a:t>一共只有</a:t>
            </a:r>
            <a:r>
              <a:rPr lang="en-US" altLang="zh-CN" dirty="0" smtClean="0">
                <a:latin typeface="Arial" panose="020B0604020202020204" pitchFamily="34" charset="0"/>
                <a:cs typeface="Arial" panose="020B0604020202020204" pitchFamily="34" charset="0"/>
              </a:rPr>
              <a:t>32</a:t>
            </a:r>
            <a:r>
              <a:rPr lang="zh-CN" altLang="en-US" dirty="0" smtClean="0">
                <a:latin typeface="Arial" panose="020B0604020202020204" pitchFamily="34" charset="0"/>
                <a:cs typeface="Arial" panose="020B0604020202020204" pitchFamily="34" charset="0"/>
              </a:rPr>
              <a:t>个关键字，</a:t>
            </a:r>
            <a:r>
              <a:rPr lang="en-US" altLang="zh-CN" dirty="0" smtClean="0">
                <a:latin typeface="Arial" panose="020B0604020202020204" pitchFamily="34" charset="0"/>
                <a:cs typeface="Arial" panose="020B0604020202020204" pitchFamily="34" charset="0"/>
              </a:rPr>
              <a:t>9</a:t>
            </a:r>
            <a:r>
              <a:rPr lang="zh-CN" altLang="en-US" dirty="0" smtClean="0">
                <a:latin typeface="Arial" panose="020B0604020202020204" pitchFamily="34" charset="0"/>
                <a:cs typeface="Arial" panose="020B0604020202020204" pitchFamily="34" charset="0"/>
              </a:rPr>
              <a:t>种控制语句</a:t>
            </a:r>
            <a:endParaRPr lang="en-US" altLang="zh-CN" dirty="0">
              <a:latin typeface="Arial" panose="020B0604020202020204" pitchFamily="34" charset="0"/>
              <a:cs typeface="Arial" panose="020B0604020202020204" pitchFamily="34" charset="0"/>
            </a:endParaRPr>
          </a:p>
          <a:p>
            <a:pPr eaLnBrk="1" hangingPunct="1"/>
            <a:r>
              <a:rPr lang="zh-CN" altLang="en-US" dirty="0" smtClean="0">
                <a:latin typeface="Arial" panose="020B0604020202020204" pitchFamily="34" charset="0"/>
                <a:cs typeface="Arial" panose="020B0604020202020204" pitchFamily="34" charset="0"/>
              </a:rPr>
              <a:t>运算符丰富</a:t>
            </a:r>
            <a:endParaRPr lang="en-US" altLang="zh-CN" dirty="0" smtClean="0">
              <a:latin typeface="Arial" panose="020B0604020202020204" pitchFamily="34" charset="0"/>
              <a:cs typeface="Arial" panose="020B0604020202020204" pitchFamily="34" charset="0"/>
            </a:endParaRPr>
          </a:p>
          <a:p>
            <a:pPr eaLnBrk="1" hangingPunct="1"/>
            <a:r>
              <a:rPr lang="zh-CN" altLang="en-US" dirty="0" smtClean="0">
                <a:latin typeface="Arial" panose="020B0604020202020204" pitchFamily="34" charset="0"/>
                <a:cs typeface="Arial" panose="020B0604020202020204" pitchFamily="34" charset="0"/>
              </a:rPr>
              <a:t>数据类型、结构丰富</a:t>
            </a:r>
            <a:endParaRPr lang="en-US" altLang="zh-CN" dirty="0" smtClean="0">
              <a:latin typeface="Arial" panose="020B0604020202020204" pitchFamily="34" charset="0"/>
              <a:cs typeface="Arial" panose="020B0604020202020204" pitchFamily="34" charset="0"/>
            </a:endParaRPr>
          </a:p>
          <a:p>
            <a:pPr lvl="1" eaLnBrk="1" hangingPunct="1"/>
            <a:r>
              <a:rPr lang="zh-CN" altLang="en-US" dirty="0" smtClean="0">
                <a:latin typeface="Arial" panose="020B0604020202020204" pitchFamily="34" charset="0"/>
                <a:cs typeface="Arial" panose="020B0604020202020204" pitchFamily="34" charset="0"/>
              </a:rPr>
              <a:t>整型、实型、字符型、数组类型、指针类型、结构体、共用体</a:t>
            </a:r>
            <a:endParaRPr lang="en-US" altLang="zh-CN" dirty="0" smtClean="0">
              <a:latin typeface="Arial" panose="020B0604020202020204" pitchFamily="34" charset="0"/>
              <a:cs typeface="Arial" panose="020B0604020202020204" pitchFamily="34" charset="0"/>
            </a:endParaRPr>
          </a:p>
          <a:p>
            <a:pPr eaLnBrk="1" hangingPunct="1"/>
            <a:r>
              <a:rPr lang="zh-CN" altLang="en-US" dirty="0" smtClean="0">
                <a:latin typeface="Arial" panose="020B0604020202020204" pitchFamily="34" charset="0"/>
                <a:cs typeface="Arial" panose="020B0604020202020204" pitchFamily="34" charset="0"/>
              </a:rPr>
              <a:t>允许直接访问物理地址</a:t>
            </a:r>
            <a:endParaRPr lang="en-US" altLang="zh-CN" dirty="0" smtClean="0">
              <a:latin typeface="Arial" panose="020B0604020202020204" pitchFamily="34" charset="0"/>
              <a:cs typeface="Arial" panose="020B0604020202020204" pitchFamily="34" charset="0"/>
            </a:endParaRPr>
          </a:p>
          <a:p>
            <a:pPr lvl="1" eaLnBrk="1" hangingPunct="1"/>
            <a:r>
              <a:rPr lang="zh-CN" altLang="en-US" dirty="0" smtClean="0">
                <a:latin typeface="Arial" panose="020B0604020202020204" pitchFamily="34" charset="0"/>
                <a:cs typeface="Arial" panose="020B0604020202020204" pitchFamily="34" charset="0"/>
              </a:rPr>
              <a:t>能进行位操作</a:t>
            </a:r>
            <a:endParaRPr lang="en-US" altLang="zh-CN" dirty="0" smtClean="0">
              <a:latin typeface="Arial" panose="020B0604020202020204" pitchFamily="34" charset="0"/>
              <a:cs typeface="Arial" panose="020B0604020202020204" pitchFamily="34" charset="0"/>
            </a:endParaRPr>
          </a:p>
          <a:p>
            <a:pPr lvl="1" eaLnBrk="1" hangingPunct="1"/>
            <a:r>
              <a:rPr lang="zh-CN" altLang="en-US" dirty="0" smtClean="0">
                <a:latin typeface="Arial" panose="020B0604020202020204" pitchFamily="34" charset="0"/>
                <a:cs typeface="Arial" panose="020B0604020202020204" pitchFamily="34" charset="0"/>
              </a:rPr>
              <a:t>能实现汇编语言的大部分功能，可以直接对硬件进行操作</a:t>
            </a:r>
            <a:endParaRPr lang="en-US" altLang="zh-CN" dirty="0" smtClean="0">
              <a:latin typeface="Arial" panose="020B0604020202020204" pitchFamily="34" charset="0"/>
              <a:cs typeface="Arial" panose="020B0604020202020204" pitchFamily="34" charset="0"/>
            </a:endParaRPr>
          </a:p>
        </p:txBody>
      </p:sp>
      <p:sp>
        <p:nvSpPr>
          <p:cNvPr id="56324" name="灯片编号占位符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58A05F0B-B8E6-40CE-A58C-07B6FD6FC8A0}"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22</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73344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学习内容</a:t>
            </a:r>
          </a:p>
        </p:txBody>
      </p:sp>
      <p:sp>
        <p:nvSpPr>
          <p:cNvPr id="11267" name="Rectangle 3"/>
          <p:cNvSpPr>
            <a:spLocks noGrp="1" noChangeArrowheads="1"/>
          </p:cNvSpPr>
          <p:nvPr>
            <p:ph type="body" idx="1"/>
          </p:nvPr>
        </p:nvSpPr>
        <p:spPr>
          <a:xfrm>
            <a:off x="1407096" y="1507307"/>
            <a:ext cx="7986092" cy="4609331"/>
          </a:xfrm>
        </p:spPr>
        <p:txBody>
          <a:bodyPr/>
          <a:lstStyle/>
          <a:p>
            <a:pPr marL="533400" indent="-533400" eaLnBrk="1" hangingPunct="1"/>
            <a:r>
              <a:rPr lang="zh-CN" altLang="en-US" dirty="0" smtClean="0">
                <a:latin typeface="Arial" panose="020B0604020202020204" pitchFamily="34" charset="0"/>
                <a:cs typeface="Arial" panose="020B0604020202020204" pitchFamily="34" charset="0"/>
              </a:rPr>
              <a:t>程序和程序设计语言</a:t>
            </a:r>
            <a:endParaRPr lang="en-US" altLang="zh-CN" dirty="0" smtClean="0">
              <a:latin typeface="Arial" panose="020B0604020202020204" pitchFamily="34" charset="0"/>
              <a:cs typeface="Arial" panose="020B0604020202020204" pitchFamily="34" charset="0"/>
            </a:endParaRPr>
          </a:p>
          <a:p>
            <a:pPr marL="533400" indent="-533400" eaLnBrk="1" hangingPunct="1"/>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语言简介</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发展历史</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特点</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基本结构</a:t>
            </a:r>
            <a:endParaRPr lang="en-US" altLang="zh-CN" dirty="0">
              <a:latin typeface="Arial" panose="020B0604020202020204" pitchFamily="34" charset="0"/>
              <a:cs typeface="Arial" panose="020B0604020202020204" pitchFamily="34" charset="0"/>
            </a:endParaRPr>
          </a:p>
          <a:p>
            <a:pPr marL="533400" indent="-533400" eaLnBrk="1" hangingPunct="1"/>
            <a:r>
              <a:rPr lang="en-US" altLang="zh-CN" dirty="0">
                <a:solidFill>
                  <a:srgbClr val="FF0000"/>
                </a:solidFill>
                <a:latin typeface="Arial" panose="020B0604020202020204" pitchFamily="34" charset="0"/>
                <a:cs typeface="Arial" panose="020B0604020202020204" pitchFamily="34" charset="0"/>
              </a:rPr>
              <a:t>C</a:t>
            </a:r>
            <a:r>
              <a:rPr lang="zh-CN" altLang="en-US" dirty="0">
                <a:solidFill>
                  <a:srgbClr val="FF0000"/>
                </a:solidFill>
                <a:latin typeface="Arial" panose="020B0604020202020204" pitchFamily="34" charset="0"/>
                <a:cs typeface="Arial" panose="020B0604020202020204" pitchFamily="34" charset="0"/>
              </a:rPr>
              <a:t>语言集成开发环境</a:t>
            </a:r>
            <a:endParaRPr lang="en-US" altLang="zh-CN" dirty="0">
              <a:solidFill>
                <a:srgbClr val="FF0000"/>
              </a:solidFill>
              <a:latin typeface="Arial" panose="020B0604020202020204" pitchFamily="34" charset="0"/>
              <a:cs typeface="Arial" panose="020B0604020202020204" pitchFamily="34" charset="0"/>
            </a:endParaRPr>
          </a:p>
          <a:p>
            <a:pPr marL="533400" indent="-533400" eaLnBrk="1" hangingPunct="1"/>
            <a:r>
              <a:rPr lang="zh-CN" altLang="en-US" dirty="0">
                <a:latin typeface="Arial" panose="020B0604020202020204" pitchFamily="34" charset="0"/>
                <a:cs typeface="Arial" panose="020B0604020202020204" pitchFamily="34" charset="0"/>
              </a:rPr>
              <a:t>问题求解过程</a:t>
            </a:r>
            <a:endParaRPr lang="en-US" altLang="zh-CN" dirty="0">
              <a:latin typeface="Arial" panose="020B0604020202020204" pitchFamily="34" charset="0"/>
              <a:cs typeface="Arial" panose="020B0604020202020204" pitchFamily="34" charset="0"/>
            </a:endParaRPr>
          </a:p>
          <a:p>
            <a:pPr marL="533400" indent="-533400" eaLnBrk="1" hangingPunct="1"/>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23</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4077043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集成开发环境搭建</a:t>
            </a:r>
            <a:endParaRPr lang="zh-CN" altLang="en-US" dirty="0"/>
          </a:p>
        </p:txBody>
      </p:sp>
      <p:sp>
        <p:nvSpPr>
          <p:cNvPr id="3" name="内容占位符 2"/>
          <p:cNvSpPr>
            <a:spLocks noGrp="1"/>
          </p:cNvSpPr>
          <p:nvPr>
            <p:ph idx="1"/>
          </p:nvPr>
        </p:nvSpPr>
        <p:spPr>
          <a:xfrm>
            <a:off x="0" y="1600200"/>
            <a:ext cx="9906000" cy="1972816"/>
          </a:xfrm>
        </p:spPr>
        <p:txBody>
          <a:bodyPr/>
          <a:lstStyle/>
          <a:p>
            <a:r>
              <a:rPr lang="zh-CN" altLang="en-US" dirty="0" smtClean="0"/>
              <a:t>下载页面</a:t>
            </a:r>
            <a:endParaRPr lang="en-US" altLang="zh-CN" dirty="0" smtClean="0">
              <a:hlinkClick r:id="rId3"/>
            </a:endParaRPr>
          </a:p>
          <a:p>
            <a:pPr lvl="1"/>
            <a:r>
              <a:rPr lang="en-US" altLang="zh-CN" dirty="0" smtClean="0">
                <a:hlinkClick r:id="rId3"/>
              </a:rPr>
              <a:t>https</a:t>
            </a:r>
            <a:r>
              <a:rPr lang="en-US" altLang="zh-CN" dirty="0">
                <a:hlinkClick r:id="rId3"/>
              </a:rPr>
              <a:t>://my.visualstudio.com/Downloads?q=visual%20studio%202017</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24</a:t>
            </a:fld>
            <a:r>
              <a:rPr lang="en-US" altLang="zh-CN" smtClean="0"/>
              <a:t>/37</a:t>
            </a:r>
            <a:endParaRPr lang="zh-CN" altLang="en-US"/>
          </a:p>
        </p:txBody>
      </p:sp>
      <p:pic>
        <p:nvPicPr>
          <p:cNvPr id="5" name="图片 4"/>
          <p:cNvPicPr>
            <a:picLocks noChangeAspect="1"/>
          </p:cNvPicPr>
          <p:nvPr/>
        </p:nvPicPr>
        <p:blipFill>
          <a:blip r:embed="rId4"/>
          <a:stretch>
            <a:fillRect/>
          </a:stretch>
        </p:blipFill>
        <p:spPr>
          <a:xfrm>
            <a:off x="1424608" y="2996952"/>
            <a:ext cx="6726201" cy="3201451"/>
          </a:xfrm>
          <a:prstGeom prst="rect">
            <a:avLst/>
          </a:prstGeom>
        </p:spPr>
      </p:pic>
    </p:spTree>
    <p:extLst>
      <p:ext uri="{BB962C8B-B14F-4D97-AF65-F5344CB8AC3E}">
        <p14:creationId xmlns:p14="http://schemas.microsoft.com/office/powerpoint/2010/main" val="11625275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集成开发环境搭建</a:t>
            </a:r>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25</a:t>
            </a:fld>
            <a:r>
              <a:rPr lang="en-US" altLang="zh-CN" smtClean="0"/>
              <a:t>/37</a:t>
            </a:r>
            <a:endParaRPr lang="zh-CN" altLang="en-US"/>
          </a:p>
        </p:txBody>
      </p:sp>
      <p:pic>
        <p:nvPicPr>
          <p:cNvPr id="3" name="图片 2"/>
          <p:cNvPicPr>
            <a:picLocks noChangeAspect="1"/>
          </p:cNvPicPr>
          <p:nvPr/>
        </p:nvPicPr>
        <p:blipFill>
          <a:blip r:embed="rId3"/>
          <a:stretch>
            <a:fillRect/>
          </a:stretch>
        </p:blipFill>
        <p:spPr>
          <a:xfrm>
            <a:off x="540630" y="1399323"/>
            <a:ext cx="8824739" cy="4925436"/>
          </a:xfrm>
          <a:prstGeom prst="rect">
            <a:avLst/>
          </a:prstGeom>
        </p:spPr>
      </p:pic>
    </p:spTree>
    <p:extLst>
      <p:ext uri="{BB962C8B-B14F-4D97-AF65-F5344CB8AC3E}">
        <p14:creationId xmlns:p14="http://schemas.microsoft.com/office/powerpoint/2010/main" val="19886835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集成开发环境搭建</a:t>
            </a:r>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26</a:t>
            </a:fld>
            <a:r>
              <a:rPr lang="en-US" altLang="zh-CN" smtClean="0"/>
              <a:t>/37</a:t>
            </a:r>
            <a:endParaRPr lang="zh-CN" altLang="en-US"/>
          </a:p>
        </p:txBody>
      </p:sp>
      <p:pic>
        <p:nvPicPr>
          <p:cNvPr id="6" name="图片 5"/>
          <p:cNvPicPr>
            <a:picLocks noChangeAspect="1"/>
          </p:cNvPicPr>
          <p:nvPr/>
        </p:nvPicPr>
        <p:blipFill>
          <a:blip r:embed="rId3"/>
          <a:stretch>
            <a:fillRect/>
          </a:stretch>
        </p:blipFill>
        <p:spPr>
          <a:xfrm>
            <a:off x="4676224" y="1672952"/>
            <a:ext cx="4734476" cy="4352138"/>
          </a:xfrm>
          <a:prstGeom prst="rect">
            <a:avLst/>
          </a:prstGeom>
        </p:spPr>
      </p:pic>
      <p:pic>
        <p:nvPicPr>
          <p:cNvPr id="3" name="图片 2"/>
          <p:cNvPicPr>
            <a:picLocks noChangeAspect="1"/>
          </p:cNvPicPr>
          <p:nvPr/>
        </p:nvPicPr>
        <p:blipFill>
          <a:blip r:embed="rId4"/>
          <a:stretch>
            <a:fillRect/>
          </a:stretch>
        </p:blipFill>
        <p:spPr>
          <a:xfrm>
            <a:off x="992560" y="1412776"/>
            <a:ext cx="2463407" cy="4843947"/>
          </a:xfrm>
          <a:prstGeom prst="rect">
            <a:avLst/>
          </a:prstGeom>
        </p:spPr>
      </p:pic>
    </p:spTree>
    <p:extLst>
      <p:ext uri="{BB962C8B-B14F-4D97-AF65-F5344CB8AC3E}">
        <p14:creationId xmlns:p14="http://schemas.microsoft.com/office/powerpoint/2010/main" val="31815069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集成开发环境搭建</a:t>
            </a:r>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27</a:t>
            </a:fld>
            <a:r>
              <a:rPr lang="en-US" altLang="zh-CN" smtClean="0"/>
              <a:t>/37</a:t>
            </a:r>
            <a:endParaRPr lang="zh-CN" altLang="en-US"/>
          </a:p>
        </p:txBody>
      </p:sp>
      <p:pic>
        <p:nvPicPr>
          <p:cNvPr id="3" name="图片 2"/>
          <p:cNvPicPr>
            <a:picLocks noChangeAspect="1"/>
          </p:cNvPicPr>
          <p:nvPr/>
        </p:nvPicPr>
        <p:blipFill>
          <a:blip r:embed="rId3"/>
          <a:stretch>
            <a:fillRect/>
          </a:stretch>
        </p:blipFill>
        <p:spPr>
          <a:xfrm>
            <a:off x="633091" y="1439290"/>
            <a:ext cx="8777609" cy="4934995"/>
          </a:xfrm>
          <a:prstGeom prst="rect">
            <a:avLst/>
          </a:prstGeom>
        </p:spPr>
      </p:pic>
    </p:spTree>
    <p:extLst>
      <p:ext uri="{BB962C8B-B14F-4D97-AF65-F5344CB8AC3E}">
        <p14:creationId xmlns:p14="http://schemas.microsoft.com/office/powerpoint/2010/main" val="7486951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第一个</a:t>
            </a:r>
            <a:r>
              <a:rPr lang="zh-CN" altLang="en-US" dirty="0"/>
              <a:t>项目</a:t>
            </a:r>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28</a:t>
            </a:fld>
            <a:r>
              <a:rPr lang="en-US" altLang="zh-CN" smtClean="0"/>
              <a:t>/37</a:t>
            </a:r>
            <a:endParaRPr lang="zh-CN" altLang="en-US"/>
          </a:p>
        </p:txBody>
      </p:sp>
      <p:pic>
        <p:nvPicPr>
          <p:cNvPr id="5" name="图片 4"/>
          <p:cNvPicPr>
            <a:picLocks noChangeAspect="1"/>
          </p:cNvPicPr>
          <p:nvPr/>
        </p:nvPicPr>
        <p:blipFill>
          <a:blip r:embed="rId3"/>
          <a:stretch>
            <a:fillRect/>
          </a:stretch>
        </p:blipFill>
        <p:spPr>
          <a:xfrm>
            <a:off x="200472" y="1412776"/>
            <a:ext cx="4464496" cy="2662681"/>
          </a:xfrm>
          <a:prstGeom prst="rect">
            <a:avLst/>
          </a:prstGeom>
        </p:spPr>
      </p:pic>
      <p:pic>
        <p:nvPicPr>
          <p:cNvPr id="8" name="图片 7"/>
          <p:cNvPicPr>
            <a:picLocks noChangeAspect="1"/>
          </p:cNvPicPr>
          <p:nvPr/>
        </p:nvPicPr>
        <p:blipFill>
          <a:blip r:embed="rId4"/>
          <a:stretch>
            <a:fillRect/>
          </a:stretch>
        </p:blipFill>
        <p:spPr>
          <a:xfrm>
            <a:off x="4736976" y="3068960"/>
            <a:ext cx="4907659" cy="3155291"/>
          </a:xfrm>
          <a:prstGeom prst="rect">
            <a:avLst/>
          </a:prstGeom>
        </p:spPr>
      </p:pic>
    </p:spTree>
    <p:extLst>
      <p:ext uri="{BB962C8B-B14F-4D97-AF65-F5344CB8AC3E}">
        <p14:creationId xmlns:p14="http://schemas.microsoft.com/office/powerpoint/2010/main" val="27449443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第一个项目</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29</a:t>
            </a:fld>
            <a:r>
              <a:rPr lang="en-US" altLang="zh-CN" smtClean="0"/>
              <a:t>/37</a:t>
            </a:r>
            <a:endParaRPr lang="zh-CN" altLang="en-US"/>
          </a:p>
        </p:txBody>
      </p:sp>
      <p:pic>
        <p:nvPicPr>
          <p:cNvPr id="3" name="图片 2"/>
          <p:cNvPicPr>
            <a:picLocks noChangeAspect="1"/>
          </p:cNvPicPr>
          <p:nvPr/>
        </p:nvPicPr>
        <p:blipFill>
          <a:blip r:embed="rId3"/>
          <a:stretch>
            <a:fillRect/>
          </a:stretch>
        </p:blipFill>
        <p:spPr>
          <a:xfrm>
            <a:off x="175862" y="1988840"/>
            <a:ext cx="4761905" cy="3628571"/>
          </a:xfrm>
          <a:prstGeom prst="rect">
            <a:avLst/>
          </a:prstGeom>
        </p:spPr>
      </p:pic>
      <p:pic>
        <p:nvPicPr>
          <p:cNvPr id="6" name="图片 5"/>
          <p:cNvPicPr>
            <a:picLocks noChangeAspect="1"/>
          </p:cNvPicPr>
          <p:nvPr/>
        </p:nvPicPr>
        <p:blipFill>
          <a:blip r:embed="rId4"/>
          <a:stretch>
            <a:fillRect/>
          </a:stretch>
        </p:blipFill>
        <p:spPr>
          <a:xfrm>
            <a:off x="4953000" y="1606800"/>
            <a:ext cx="4690467" cy="4599976"/>
          </a:xfrm>
          <a:prstGeom prst="rect">
            <a:avLst/>
          </a:prstGeom>
        </p:spPr>
      </p:pic>
    </p:spTree>
    <p:extLst>
      <p:ext uri="{BB962C8B-B14F-4D97-AF65-F5344CB8AC3E}">
        <p14:creationId xmlns:p14="http://schemas.microsoft.com/office/powerpoint/2010/main" val="24016870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第一个源文件</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30</a:t>
            </a:fld>
            <a:r>
              <a:rPr lang="en-US" altLang="zh-CN" smtClean="0"/>
              <a:t>/37</a:t>
            </a:r>
            <a:endParaRPr lang="zh-CN" altLang="en-US"/>
          </a:p>
        </p:txBody>
      </p:sp>
      <p:pic>
        <p:nvPicPr>
          <p:cNvPr id="5" name="图片 4"/>
          <p:cNvPicPr>
            <a:picLocks noChangeAspect="1"/>
          </p:cNvPicPr>
          <p:nvPr/>
        </p:nvPicPr>
        <p:blipFill>
          <a:blip r:embed="rId3"/>
          <a:stretch>
            <a:fillRect/>
          </a:stretch>
        </p:blipFill>
        <p:spPr>
          <a:xfrm>
            <a:off x="1064568" y="1472662"/>
            <a:ext cx="7571955" cy="4868252"/>
          </a:xfrm>
          <a:prstGeom prst="rect">
            <a:avLst/>
          </a:prstGeom>
        </p:spPr>
      </p:pic>
    </p:spTree>
    <p:extLst>
      <p:ext uri="{BB962C8B-B14F-4D97-AF65-F5344CB8AC3E}">
        <p14:creationId xmlns:p14="http://schemas.microsoft.com/office/powerpoint/2010/main" val="8478555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第一个源文件</a:t>
            </a:r>
            <a:endParaRPr lang="zh-CN" altLang="en-US" dirty="0"/>
          </a:p>
        </p:txBody>
      </p:sp>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31</a:t>
            </a:fld>
            <a:r>
              <a:rPr lang="en-US" altLang="zh-CN" smtClean="0"/>
              <a:t>/37</a:t>
            </a:r>
            <a:endParaRPr lang="zh-CN" altLang="en-US"/>
          </a:p>
        </p:txBody>
      </p:sp>
      <p:pic>
        <p:nvPicPr>
          <p:cNvPr id="3" name="图片 2"/>
          <p:cNvPicPr>
            <a:picLocks noChangeAspect="1"/>
          </p:cNvPicPr>
          <p:nvPr/>
        </p:nvPicPr>
        <p:blipFill>
          <a:blip r:embed="rId3"/>
          <a:stretch>
            <a:fillRect/>
          </a:stretch>
        </p:blipFill>
        <p:spPr>
          <a:xfrm>
            <a:off x="743664" y="1514549"/>
            <a:ext cx="8520986" cy="4784477"/>
          </a:xfrm>
          <a:prstGeom prst="rect">
            <a:avLst/>
          </a:prstGeom>
        </p:spPr>
      </p:pic>
    </p:spTree>
    <p:extLst>
      <p:ext uri="{BB962C8B-B14F-4D97-AF65-F5344CB8AC3E}">
        <p14:creationId xmlns:p14="http://schemas.microsoft.com/office/powerpoint/2010/main" val="42591730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95300" y="269875"/>
            <a:ext cx="8915400" cy="1143000"/>
          </a:xfrm>
        </p:spPr>
        <p:txBody>
          <a:bodyPr/>
          <a:lstStyle/>
          <a:p>
            <a:pPr eaLnBrk="1" hangingPunct="1"/>
            <a:r>
              <a:rPr lang="zh-CN" altLang="en-US" sz="4000" dirty="0" smtClean="0"/>
              <a:t>程序结构</a:t>
            </a:r>
          </a:p>
        </p:txBody>
      </p:sp>
      <p:sp>
        <p:nvSpPr>
          <p:cNvPr id="124931" name="Rectangle 3"/>
          <p:cNvSpPr>
            <a:spLocks noGrp="1" noChangeArrowheads="1"/>
          </p:cNvSpPr>
          <p:nvPr>
            <p:ph type="body" idx="1"/>
          </p:nvPr>
        </p:nvSpPr>
        <p:spPr>
          <a:xfrm>
            <a:off x="632520" y="1558588"/>
            <a:ext cx="7057231" cy="646276"/>
          </a:xfrm>
        </p:spPr>
        <p:txBody>
          <a:bodyPr/>
          <a:lstStyle/>
          <a:p>
            <a:pPr marL="0" indent="0" eaLnBrk="1" hangingPunct="1">
              <a:buNone/>
            </a:pPr>
            <a:r>
              <a:rPr lang="zh-CN" altLang="en-US" dirty="0" smtClean="0">
                <a:latin typeface="Arial" panose="020B0604020202020204" pitchFamily="34" charset="0"/>
                <a:cs typeface="Arial" panose="020B0604020202020204" pitchFamily="34" charset="0"/>
              </a:rPr>
              <a:t>程序例子</a:t>
            </a:r>
            <a:r>
              <a:rPr lang="en-US" altLang="zh-CN" dirty="0" smtClean="0">
                <a:latin typeface="Arial" panose="020B0604020202020204" pitchFamily="34" charset="0"/>
                <a:cs typeface="Arial" panose="020B0604020202020204" pitchFamily="34" charset="0"/>
              </a:rPr>
              <a:t>1</a:t>
            </a:r>
            <a:r>
              <a:rPr lang="zh-CN" altLang="en-US" dirty="0" smtClean="0">
                <a:latin typeface="Arial" panose="020B0604020202020204" pitchFamily="34" charset="0"/>
                <a:cs typeface="Arial" panose="020B0604020202020204" pitchFamily="34" charset="0"/>
              </a:rPr>
              <a:t>：</a:t>
            </a:r>
            <a:endParaRPr lang="en-US" altLang="zh-CN" dirty="0" smtClean="0">
              <a:latin typeface="Arial" panose="020B0604020202020204" pitchFamily="34" charset="0"/>
              <a:cs typeface="Arial" panose="020B0604020202020204" pitchFamily="34" charset="0"/>
            </a:endParaRPr>
          </a:p>
        </p:txBody>
      </p:sp>
      <p:sp>
        <p:nvSpPr>
          <p:cNvPr id="56324" name="灯片编号占位符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58A05F0B-B8E6-40CE-A58C-07B6FD6FC8A0}"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32</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
        <p:nvSpPr>
          <p:cNvPr id="3" name="Rectangle 2"/>
          <p:cNvSpPr>
            <a:spLocks noChangeArrowheads="1"/>
          </p:cNvSpPr>
          <p:nvPr/>
        </p:nvSpPr>
        <p:spPr bwMode="auto">
          <a:xfrm>
            <a:off x="1280592" y="2697907"/>
            <a:ext cx="7778932" cy="2417860"/>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87" tIns="45094" rIns="90187" bIns="45094" numCol="1" anchor="ctr" anchorCtr="0" compatLnSpc="1">
            <a:prstTxWarp prst="textNoShape">
              <a:avLst/>
            </a:prstTxWarp>
            <a:spAutoFit/>
          </a:bodyPr>
          <a:lstStyle/>
          <a:p>
            <a:pPr marL="0" marR="0" lvl="0" indent="0" algn="l" defTabSz="914400" rtl="0" eaLnBrk="0" fontAlgn="base" latinLnBrk="0" hangingPunct="0">
              <a:lnSpc>
                <a:spcPct val="90000"/>
              </a:lnSpc>
              <a:spcBef>
                <a:spcPts val="588"/>
              </a:spcBef>
              <a:spcAft>
                <a:spcPts val="588"/>
              </a:spcAft>
              <a:buClr>
                <a:schemeClr val="tx2"/>
              </a:buClr>
              <a:buSzPct val="80000"/>
              <a:buFont typeface="Wingdings" panose="05000000000000000000" pitchFamily="2" charset="2"/>
              <a:buNone/>
              <a:tabLst/>
            </a:pPr>
            <a:r>
              <a:rPr kumimoji="0" lang="en-US" altLang="zh-CN" sz="2800" b="0" i="0" u="none" strike="noStrike" cap="none" normalizeH="0" baseline="0" dirty="0" smtClean="0">
                <a:ln>
                  <a:noFill/>
                </a:ln>
                <a:solidFill>
                  <a:srgbClr val="808000"/>
                </a:solidFill>
                <a:effectLst/>
                <a:latin typeface="Consolas" panose="020B0609020204030204" pitchFamily="49" charset="0"/>
                <a:ea typeface="宋体" panose="02010600030101010101" pitchFamily="2" charset="-122"/>
              </a:rPr>
              <a:t>#include </a:t>
            </a:r>
            <a: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t>&lt;</a:t>
            </a:r>
            <a:r>
              <a:rPr kumimoji="0" lang="en-US" altLang="zh-CN" sz="2800" b="1" i="0" u="none" strike="noStrike" cap="none" normalizeH="0" baseline="0" dirty="0" err="1" smtClean="0">
                <a:ln>
                  <a:noFill/>
                </a:ln>
                <a:solidFill>
                  <a:srgbClr val="008000"/>
                </a:solidFill>
                <a:effectLst/>
                <a:latin typeface="Consolas" panose="020B0609020204030204" pitchFamily="49" charset="0"/>
                <a:ea typeface="宋体" panose="02010600030101010101" pitchFamily="2" charset="-122"/>
              </a:rPr>
              <a:t>stdio.h</a:t>
            </a:r>
            <a: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t>&gt;</a:t>
            </a:r>
            <a:b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br>
            <a: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t/>
            </a:r>
            <a:b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br>
            <a:r>
              <a:rPr kumimoji="0" lang="en-US" altLang="zh-CN" sz="2800" b="1" i="0" u="none" strike="noStrike" cap="none" normalizeH="0" baseline="0" dirty="0" err="1" smtClean="0">
                <a:ln>
                  <a:noFill/>
                </a:ln>
                <a:solidFill>
                  <a:srgbClr val="000080"/>
                </a:solidFill>
                <a:effectLst/>
                <a:latin typeface="Consolas" panose="020B0609020204030204" pitchFamily="49" charset="0"/>
                <a:ea typeface="宋体" panose="02010600030101010101" pitchFamily="2" charset="-122"/>
              </a:rPr>
              <a:t>int</a:t>
            </a:r>
            <a:r>
              <a:rPr kumimoji="0" lang="en-US" altLang="zh-CN" sz="2800" b="1" i="0" u="none" strike="noStrike" cap="none" normalizeH="0" baseline="0" dirty="0" smtClean="0">
                <a:ln>
                  <a:noFill/>
                </a:ln>
                <a:solidFill>
                  <a:srgbClr val="000080"/>
                </a:solidFill>
                <a:effectLst/>
                <a:latin typeface="Consolas" panose="020B0609020204030204" pitchFamily="49" charset="0"/>
                <a:ea typeface="宋体" panose="02010600030101010101" pitchFamily="2" charset="-122"/>
              </a:rPr>
              <a:t> </a:t>
            </a: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main() {</a:t>
            </a:r>
            <a:b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b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    </a:t>
            </a:r>
            <a:r>
              <a:rPr kumimoji="0" lang="en-US" altLang="zh-CN" sz="2800" b="0" i="0" u="none" strike="noStrike" cap="none" normalizeH="0" baseline="0" dirty="0" err="1" smtClean="0">
                <a:ln>
                  <a:noFill/>
                </a:ln>
                <a:solidFill>
                  <a:srgbClr val="000000"/>
                </a:solidFill>
                <a:effectLst/>
                <a:latin typeface="Consolas" panose="020B0609020204030204" pitchFamily="49" charset="0"/>
                <a:ea typeface="宋体" panose="02010600030101010101" pitchFamily="2" charset="-122"/>
              </a:rPr>
              <a:t>printf</a:t>
            </a: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a:t>
            </a:r>
            <a: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t>"Hello, World!</a:t>
            </a:r>
            <a:r>
              <a:rPr kumimoji="0" lang="en-US" altLang="zh-CN" sz="2800" b="1" i="0" u="none" strike="noStrike" cap="none" normalizeH="0" baseline="0" dirty="0" smtClean="0">
                <a:ln>
                  <a:noFill/>
                </a:ln>
                <a:solidFill>
                  <a:srgbClr val="000080"/>
                </a:solidFill>
                <a:effectLst/>
                <a:latin typeface="Consolas" panose="020B0609020204030204" pitchFamily="49" charset="0"/>
                <a:ea typeface="宋体" panose="02010600030101010101" pitchFamily="2" charset="-122"/>
              </a:rPr>
              <a:t>\n</a:t>
            </a:r>
            <a:r>
              <a:rPr kumimoji="0" lang="en-US" altLang="zh-CN" sz="2800" b="1" i="0" u="none" strike="noStrike" cap="none" normalizeH="0" baseline="0" dirty="0" smtClean="0">
                <a:ln>
                  <a:noFill/>
                </a:ln>
                <a:solidFill>
                  <a:srgbClr val="008000"/>
                </a:solidFill>
                <a:effectLst/>
                <a:latin typeface="Consolas" panose="020B0609020204030204" pitchFamily="49" charset="0"/>
                <a:ea typeface="宋体" panose="02010600030101010101" pitchFamily="2" charset="-122"/>
              </a:rPr>
              <a:t>"</a:t>
            </a: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a:t>
            </a:r>
            <a:b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b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    </a:t>
            </a:r>
            <a:r>
              <a:rPr kumimoji="0" lang="en-US" altLang="zh-CN" sz="2800" b="1" i="0" u="none" strike="noStrike" cap="none" normalizeH="0" baseline="0" dirty="0" smtClean="0">
                <a:ln>
                  <a:noFill/>
                </a:ln>
                <a:solidFill>
                  <a:srgbClr val="000080"/>
                </a:solidFill>
                <a:effectLst/>
                <a:latin typeface="Consolas" panose="020B0609020204030204" pitchFamily="49" charset="0"/>
                <a:ea typeface="宋体" panose="02010600030101010101" pitchFamily="2" charset="-122"/>
              </a:rPr>
              <a:t>return </a:t>
            </a:r>
            <a:r>
              <a:rPr kumimoji="0" lang="en-US" altLang="zh-CN" sz="2800" b="0" i="0" u="none" strike="noStrike" cap="none" normalizeH="0" baseline="0" dirty="0" smtClean="0">
                <a:ln>
                  <a:noFill/>
                </a:ln>
                <a:solidFill>
                  <a:srgbClr val="0000FF"/>
                </a:solidFill>
                <a:effectLst/>
                <a:latin typeface="Consolas" panose="020B0609020204030204" pitchFamily="49" charset="0"/>
                <a:ea typeface="宋体" panose="02010600030101010101" pitchFamily="2" charset="-122"/>
              </a:rPr>
              <a:t>0</a:t>
            </a: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a:t>
            </a:r>
            <a:b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br>
            <a:r>
              <a:rPr kumimoji="0" lang="en-US" altLang="zh-CN" sz="2800" b="0" i="0" u="none" strike="noStrike" cap="none" normalizeH="0" baseline="0" dirty="0" smtClean="0">
                <a:ln>
                  <a:noFill/>
                </a:ln>
                <a:solidFill>
                  <a:srgbClr val="000000"/>
                </a:solidFill>
                <a:effectLst/>
                <a:latin typeface="Consolas" panose="020B0609020204030204" pitchFamily="49" charset="0"/>
                <a:ea typeface="宋体" panose="02010600030101010101" pitchFamily="2" charset="-122"/>
              </a:rPr>
              <a:t>}</a:t>
            </a:r>
            <a:endParaRPr kumimoji="0" lang="en-US" altLang="zh-CN" sz="4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9345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95300" y="269875"/>
            <a:ext cx="8915400" cy="1143000"/>
          </a:xfrm>
        </p:spPr>
        <p:txBody>
          <a:bodyPr/>
          <a:lstStyle/>
          <a:p>
            <a:pPr eaLnBrk="1" hangingPunct="1"/>
            <a:r>
              <a:rPr lang="zh-CN" altLang="en-US" sz="4000" dirty="0" smtClean="0"/>
              <a:t>程序结构</a:t>
            </a:r>
          </a:p>
        </p:txBody>
      </p:sp>
      <p:sp>
        <p:nvSpPr>
          <p:cNvPr id="56324" name="灯片编号占位符 5"/>
          <p:cNvSpPr>
            <a:spLocks noGrp="1"/>
          </p:cNvSpPr>
          <p:nvPr>
            <p:ph type="sldNum" sz="quarter" idx="11"/>
          </p:nvPr>
        </p:nvSpPr>
        <p:spPr bwMode="auto">
          <a:xfrm>
            <a:off x="8839994" y="6307063"/>
            <a:ext cx="990600" cy="284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58A05F0B-B8E6-40CE-A58C-07B6FD6FC8A0}"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33</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
        <p:nvSpPr>
          <p:cNvPr id="6" name="Rectangle 3"/>
          <p:cNvSpPr txBox="1">
            <a:spLocks noChangeArrowheads="1"/>
          </p:cNvSpPr>
          <p:nvPr/>
        </p:nvSpPr>
        <p:spPr bwMode="auto">
          <a:xfrm>
            <a:off x="632520" y="1695376"/>
            <a:ext cx="8659813" cy="4611687"/>
          </a:xfrm>
          <a:prstGeom prst="rect">
            <a:avLst/>
          </a:prstGeom>
          <a:noFill/>
          <a:ln w="9525">
            <a:noFill/>
            <a:miter lim="800000"/>
            <a:headEnd/>
            <a:tailEnd/>
          </a:ln>
          <a:effectLst/>
        </p:spPr>
        <p:txBody>
          <a:bodyPr lIns="92075" tIns="46037" rIns="92075" bIns="46037"/>
          <a:lstStyle/>
          <a:p>
            <a:pPr marL="374650" indent="-374650" eaLnBrk="1" hangingPunct="1">
              <a:lnSpc>
                <a:spcPct val="95000"/>
              </a:lnSpc>
              <a:spcBef>
                <a:spcPct val="20000"/>
              </a:spcBef>
              <a:buClr>
                <a:schemeClr val="tx1"/>
              </a:buClr>
              <a:buFont typeface="Wingdings" pitchFamily="2" charset="2"/>
              <a:buChar char="n"/>
              <a:defRPr/>
            </a:pPr>
            <a:r>
              <a:rPr lang="zh-CN" altLang="en-US" sz="2800" b="1" kern="0" dirty="0">
                <a:latin typeface="黑体" pitchFamily="49" charset="-122"/>
                <a:ea typeface="黑体" pitchFamily="49" charset="-122"/>
              </a:rPr>
              <a:t>第一个程序范例</a:t>
            </a:r>
            <a:r>
              <a:rPr lang="en-US" altLang="zh-CN" sz="2800" b="1" kern="0" dirty="0">
                <a:latin typeface="黑体" pitchFamily="49" charset="-122"/>
                <a:ea typeface="黑体" pitchFamily="49" charset="-122"/>
              </a:rPr>
              <a:t>——</a:t>
            </a:r>
            <a:r>
              <a:rPr lang="zh-CN" altLang="en-US" sz="2800" b="1" kern="0" dirty="0">
                <a:latin typeface="黑体" pitchFamily="49" charset="-122"/>
                <a:ea typeface="黑体" pitchFamily="49" charset="-122"/>
              </a:rPr>
              <a:t>打印</a:t>
            </a:r>
            <a:r>
              <a:rPr lang="en-US" altLang="zh-CN" sz="2800" b="1" kern="0" dirty="0">
                <a:latin typeface="Courier New" pitchFamily="49" charset="0"/>
                <a:cs typeface="Courier New" pitchFamily="49" charset="0"/>
              </a:rPr>
              <a:t>"Hello  World!"</a:t>
            </a:r>
            <a:endParaRPr lang="en-US" altLang="zh-CN" sz="2800" b="1" kern="0" dirty="0">
              <a:latin typeface="Courier New" pitchFamily="49" charset="0"/>
              <a:ea typeface="华文仿宋" pitchFamily="2" charset="-122"/>
              <a:cs typeface="Courier New" pitchFamily="49" charset="0"/>
            </a:endParaRPr>
          </a:p>
          <a:p>
            <a:pPr marL="374650" indent="-374650" eaLnBrk="1" hangingPunct="1">
              <a:lnSpc>
                <a:spcPct val="95000"/>
              </a:lnSpc>
              <a:spcBef>
                <a:spcPct val="20000"/>
              </a:spcBef>
              <a:buClr>
                <a:srgbClr val="FFCC66"/>
              </a:buClr>
              <a:buFont typeface="Monotype Sorts" charset="2"/>
              <a:buChar char=""/>
              <a:defRPr/>
            </a:pPr>
            <a:endParaRPr lang="zh-CN" altLang="en-US" sz="2800" b="1" kern="0" dirty="0">
              <a:solidFill>
                <a:srgbClr val="000099"/>
              </a:solidFill>
              <a:effectLst>
                <a:outerShdw blurRad="38100" dist="38100" dir="2700000" algn="tl">
                  <a:srgbClr val="C0C0C0"/>
                </a:outerShdw>
              </a:effectLst>
              <a:latin typeface="华文仿宋" pitchFamily="2" charset="-122"/>
              <a:ea typeface="华文仿宋" pitchFamily="2" charset="-122"/>
            </a:endParaRPr>
          </a:p>
          <a:p>
            <a:pPr marL="374650" indent="-374650" eaLnBrk="1" hangingPunct="1">
              <a:lnSpc>
                <a:spcPct val="95000"/>
              </a:lnSpc>
              <a:spcBef>
                <a:spcPct val="20000"/>
              </a:spcBef>
              <a:buClr>
                <a:srgbClr val="FFCC66"/>
              </a:buClr>
              <a:buFont typeface="Monotype Sorts" charset="2"/>
              <a:buNone/>
              <a:defRPr/>
            </a:pPr>
            <a:r>
              <a:rPr lang="en-US" altLang="zh-CN" sz="2800" b="1" kern="0" dirty="0">
                <a:solidFill>
                  <a:srgbClr val="0000FF"/>
                </a:solidFill>
                <a:effectLst>
                  <a:outerShdw blurRad="38100" dist="38100" dir="2700000" algn="tl">
                    <a:srgbClr val="C0C0C0"/>
                  </a:outerShdw>
                </a:effectLst>
                <a:latin typeface="Courier New" pitchFamily="49" charset="0"/>
              </a:rPr>
              <a:t>#include</a:t>
            </a:r>
            <a:r>
              <a:rPr lang="en-US" altLang="zh-CN" sz="2800" b="1" kern="0" dirty="0">
                <a:solidFill>
                  <a:srgbClr val="000000"/>
                </a:solidFill>
                <a:effectLst>
                  <a:outerShdw blurRad="38100" dist="38100" dir="2700000" algn="tl">
                    <a:srgbClr val="C0C0C0"/>
                  </a:outerShdw>
                </a:effectLst>
                <a:latin typeface="Courier New" pitchFamily="49" charset="0"/>
              </a:rPr>
              <a:t> &lt;</a:t>
            </a:r>
            <a:r>
              <a:rPr lang="en-US" altLang="zh-CN" sz="2800" b="1" kern="0" dirty="0" err="1">
                <a:solidFill>
                  <a:srgbClr val="000000"/>
                </a:solidFill>
                <a:effectLst>
                  <a:outerShdw blurRad="38100" dist="38100" dir="2700000" algn="tl">
                    <a:srgbClr val="C0C0C0"/>
                  </a:outerShdw>
                </a:effectLst>
                <a:latin typeface="Courier New" pitchFamily="49" charset="0"/>
              </a:rPr>
              <a:t>stdio.h</a:t>
            </a:r>
            <a:r>
              <a:rPr lang="en-US" altLang="zh-CN" sz="2800" b="1" kern="0" dirty="0">
                <a:solidFill>
                  <a:srgbClr val="000000"/>
                </a:solidFill>
                <a:effectLst>
                  <a:outerShdw blurRad="38100" dist="38100" dir="2700000" algn="tl">
                    <a:srgbClr val="C0C0C0"/>
                  </a:outerShdw>
                </a:effectLst>
                <a:latin typeface="Courier New" pitchFamily="49" charset="0"/>
              </a:rPr>
              <a:t>&gt;</a:t>
            </a:r>
          </a:p>
          <a:p>
            <a:pPr marL="374650" indent="-374650" eaLnBrk="1" hangingPunct="1">
              <a:lnSpc>
                <a:spcPct val="95000"/>
              </a:lnSpc>
              <a:spcBef>
                <a:spcPct val="20000"/>
              </a:spcBef>
              <a:buClr>
                <a:srgbClr val="FFCC66"/>
              </a:buClr>
              <a:buFont typeface="Monotype Sorts" charset="2"/>
              <a:buNone/>
              <a:defRPr/>
            </a:pPr>
            <a:r>
              <a:rPr lang="en-US" altLang="zh-CN" sz="2800" b="1" kern="0" dirty="0" err="1" smtClean="0">
                <a:solidFill>
                  <a:srgbClr val="000000"/>
                </a:solidFill>
                <a:effectLst>
                  <a:outerShdw blurRad="38100" dist="38100" dir="2700000" algn="tl">
                    <a:srgbClr val="C0C0C0"/>
                  </a:outerShdw>
                </a:effectLst>
                <a:latin typeface="Courier New" pitchFamily="49" charset="0"/>
              </a:rPr>
              <a:t>int</a:t>
            </a:r>
            <a:r>
              <a:rPr lang="en-US" altLang="zh-CN" sz="2800" b="1" kern="0" dirty="0" smtClean="0">
                <a:solidFill>
                  <a:srgbClr val="000000"/>
                </a:solidFill>
                <a:effectLst>
                  <a:outerShdw blurRad="38100" dist="38100" dir="2700000" algn="tl">
                    <a:srgbClr val="C0C0C0"/>
                  </a:outerShdw>
                </a:effectLst>
                <a:latin typeface="Courier New" pitchFamily="49" charset="0"/>
              </a:rPr>
              <a:t> main</a:t>
            </a:r>
            <a:r>
              <a:rPr lang="en-US" altLang="zh-CN" sz="2800" b="1" kern="0" dirty="0">
                <a:solidFill>
                  <a:srgbClr val="000000"/>
                </a:solidFill>
                <a:effectLst>
                  <a:outerShdw blurRad="38100" dist="38100" dir="2700000" algn="tl">
                    <a:srgbClr val="C0C0C0"/>
                  </a:outerShdw>
                </a:effectLst>
                <a:latin typeface="Courier New" pitchFamily="49" charset="0"/>
              </a:rPr>
              <a:t>()</a:t>
            </a:r>
          </a:p>
          <a:p>
            <a:pPr marL="374650" indent="-374650" eaLnBrk="1" hangingPunct="1">
              <a:lnSpc>
                <a:spcPct val="95000"/>
              </a:lnSpc>
              <a:spcBef>
                <a:spcPct val="20000"/>
              </a:spcBef>
              <a:buClr>
                <a:srgbClr val="FFCC66"/>
              </a:buClr>
              <a:buFont typeface="Monotype Sorts" charset="2"/>
              <a:buNone/>
              <a:defRPr/>
            </a:pPr>
            <a:r>
              <a:rPr lang="en-US" altLang="zh-CN" sz="2800" b="1" kern="0" dirty="0">
                <a:solidFill>
                  <a:srgbClr val="000000"/>
                </a:solidFill>
                <a:effectLst>
                  <a:outerShdw blurRad="38100" dist="38100" dir="2700000" algn="tl">
                    <a:srgbClr val="C0C0C0"/>
                  </a:outerShdw>
                </a:effectLst>
                <a:latin typeface="Courier New" pitchFamily="49" charset="0"/>
              </a:rPr>
              <a:t>{</a:t>
            </a:r>
          </a:p>
          <a:p>
            <a:pPr marL="374650" indent="-374650" eaLnBrk="1" hangingPunct="1">
              <a:lnSpc>
                <a:spcPct val="95000"/>
              </a:lnSpc>
              <a:spcBef>
                <a:spcPct val="20000"/>
              </a:spcBef>
              <a:buClr>
                <a:srgbClr val="FFCC66"/>
              </a:buClr>
              <a:buFont typeface="Monotype Sorts" charset="2"/>
              <a:buNone/>
              <a:defRPr/>
            </a:pPr>
            <a:r>
              <a:rPr lang="en-US" altLang="zh-CN" sz="2800" b="1" kern="0" dirty="0">
                <a:solidFill>
                  <a:srgbClr val="000000"/>
                </a:solidFill>
                <a:effectLst>
                  <a:outerShdw blurRad="38100" dist="38100" dir="2700000" algn="tl">
                    <a:srgbClr val="C0C0C0"/>
                  </a:outerShdw>
                </a:effectLst>
                <a:latin typeface="Courier New" pitchFamily="49" charset="0"/>
              </a:rPr>
              <a:t>		</a:t>
            </a:r>
            <a:r>
              <a:rPr lang="en-US" altLang="zh-CN" sz="2800" b="1" kern="0" dirty="0" err="1">
                <a:solidFill>
                  <a:srgbClr val="000000"/>
                </a:solidFill>
                <a:effectLst>
                  <a:outerShdw blurRad="38100" dist="38100" dir="2700000" algn="tl">
                    <a:srgbClr val="C0C0C0"/>
                  </a:outerShdw>
                </a:effectLst>
                <a:latin typeface="Courier New" pitchFamily="49" charset="0"/>
              </a:rPr>
              <a:t>printf</a:t>
            </a:r>
            <a:r>
              <a:rPr lang="en-US" altLang="zh-CN" sz="2800" b="1" kern="0" dirty="0">
                <a:solidFill>
                  <a:srgbClr val="000000"/>
                </a:solidFill>
                <a:effectLst>
                  <a:outerShdw blurRad="38100" dist="38100" dir="2700000" algn="tl">
                    <a:srgbClr val="C0C0C0"/>
                  </a:outerShdw>
                </a:effectLst>
                <a:latin typeface="Courier New" pitchFamily="49" charset="0"/>
              </a:rPr>
              <a:t>("Hello </a:t>
            </a:r>
            <a:r>
              <a:rPr lang="en-US" altLang="zh-CN" sz="2800" b="1" kern="0" dirty="0" smtClean="0">
                <a:solidFill>
                  <a:srgbClr val="000000"/>
                </a:solidFill>
                <a:effectLst>
                  <a:outerShdw blurRad="38100" dist="38100" dir="2700000" algn="tl">
                    <a:srgbClr val="C0C0C0"/>
                  </a:outerShdw>
                </a:effectLst>
                <a:latin typeface="Courier New" pitchFamily="49" charset="0"/>
              </a:rPr>
              <a:t> world</a:t>
            </a:r>
            <a:r>
              <a:rPr lang="en-US" altLang="zh-CN" sz="2800" b="1" kern="0" dirty="0">
                <a:solidFill>
                  <a:srgbClr val="000000"/>
                </a:solidFill>
                <a:effectLst>
                  <a:outerShdw blurRad="38100" dist="38100" dir="2700000" algn="tl">
                    <a:srgbClr val="C0C0C0"/>
                  </a:outerShdw>
                </a:effectLst>
                <a:latin typeface="Courier New" pitchFamily="49" charset="0"/>
              </a:rPr>
              <a:t>!\n");</a:t>
            </a:r>
          </a:p>
          <a:p>
            <a:pPr marL="374650" indent="-374650" eaLnBrk="1" hangingPunct="1">
              <a:lnSpc>
                <a:spcPct val="95000"/>
              </a:lnSpc>
              <a:spcBef>
                <a:spcPct val="20000"/>
              </a:spcBef>
              <a:buClr>
                <a:srgbClr val="FFCC66"/>
              </a:buClr>
              <a:buFont typeface="Monotype Sorts" charset="2"/>
              <a:buNone/>
              <a:defRPr/>
            </a:pPr>
            <a:r>
              <a:rPr lang="en-US" altLang="zh-CN" sz="2800" b="1" kern="0" dirty="0">
                <a:solidFill>
                  <a:srgbClr val="000000"/>
                </a:solidFill>
                <a:effectLst>
                  <a:outerShdw blurRad="38100" dist="38100" dir="2700000" algn="tl">
                    <a:srgbClr val="C0C0C0"/>
                  </a:outerShdw>
                </a:effectLst>
                <a:latin typeface="Courier New" pitchFamily="49" charset="0"/>
              </a:rPr>
              <a:t> </a:t>
            </a:r>
            <a:r>
              <a:rPr lang="en-US" altLang="zh-CN" sz="2800" b="1" kern="0" dirty="0" smtClean="0">
                <a:solidFill>
                  <a:srgbClr val="000000"/>
                </a:solidFill>
                <a:effectLst>
                  <a:outerShdw blurRad="38100" dist="38100" dir="2700000" algn="tl">
                    <a:srgbClr val="C0C0C0"/>
                  </a:outerShdw>
                </a:effectLst>
                <a:latin typeface="Courier New" pitchFamily="49" charset="0"/>
              </a:rPr>
              <a:t>   return 0;</a:t>
            </a:r>
          </a:p>
          <a:p>
            <a:pPr marL="374650" indent="-374650" eaLnBrk="1" hangingPunct="1">
              <a:lnSpc>
                <a:spcPct val="95000"/>
              </a:lnSpc>
              <a:spcBef>
                <a:spcPct val="20000"/>
              </a:spcBef>
              <a:buClr>
                <a:srgbClr val="FFCC66"/>
              </a:buClr>
              <a:buFont typeface="Monotype Sorts" charset="2"/>
              <a:buNone/>
              <a:defRPr/>
            </a:pPr>
            <a:r>
              <a:rPr lang="en-US" altLang="zh-CN" sz="2800" b="1" kern="0" dirty="0" smtClean="0">
                <a:solidFill>
                  <a:srgbClr val="000000"/>
                </a:solidFill>
                <a:effectLst>
                  <a:outerShdw blurRad="38100" dist="38100" dir="2700000" algn="tl">
                    <a:srgbClr val="C0C0C0"/>
                  </a:outerShdw>
                </a:effectLst>
                <a:latin typeface="Courier New" pitchFamily="49" charset="0"/>
              </a:rPr>
              <a:t>}</a:t>
            </a:r>
            <a:endParaRPr lang="zh-CN" altLang="en-US" sz="2800" b="1" kern="0" dirty="0">
              <a:solidFill>
                <a:srgbClr val="000000"/>
              </a:solidFill>
              <a:effectLst>
                <a:outerShdw blurRad="38100" dist="38100" dir="2700000" algn="tl">
                  <a:srgbClr val="C0C0C0"/>
                </a:outerShdw>
              </a:effectLst>
              <a:latin typeface="Courier New" pitchFamily="49" charset="0"/>
            </a:endParaRPr>
          </a:p>
          <a:p>
            <a:pPr marL="374650" indent="-374650" eaLnBrk="1" hangingPunct="1">
              <a:spcBef>
                <a:spcPts val="600"/>
              </a:spcBef>
              <a:spcAft>
                <a:spcPts val="600"/>
              </a:spcAft>
              <a:buClr>
                <a:schemeClr val="tx1"/>
              </a:buClr>
              <a:buFont typeface="Wingdings" pitchFamily="2" charset="2"/>
              <a:buChar char="n"/>
              <a:defRPr/>
            </a:pPr>
            <a:endParaRPr lang="zh-CN" altLang="en-US" sz="2800" b="1" kern="0" dirty="0">
              <a:latin typeface="Courier New" pitchFamily="49" charset="0"/>
              <a:ea typeface="黑体" pitchFamily="49" charset="-122"/>
              <a:cs typeface="Courier New" pitchFamily="49" charset="0"/>
            </a:endParaRPr>
          </a:p>
          <a:p>
            <a:pPr marL="565150" lvl="1" eaLnBrk="1" hangingPunct="1">
              <a:spcBef>
                <a:spcPts val="600"/>
              </a:spcBef>
              <a:spcAft>
                <a:spcPts val="600"/>
              </a:spcAft>
              <a:buClr>
                <a:srgbClr val="FFCC66"/>
              </a:buClr>
              <a:buSzPct val="115000"/>
              <a:defRPr/>
            </a:pPr>
            <a:endParaRPr lang="zh-CN" altLang="en-US" sz="2400" b="1" kern="0" dirty="0">
              <a:solidFill>
                <a:srgbClr val="333399"/>
              </a:solidFill>
              <a:latin typeface="Courier New" pitchFamily="49" charset="0"/>
              <a:ea typeface="黑体" pitchFamily="49" charset="-122"/>
              <a:cs typeface="Courier New" pitchFamily="49" charset="0"/>
            </a:endParaRPr>
          </a:p>
        </p:txBody>
      </p:sp>
      <p:sp>
        <p:nvSpPr>
          <p:cNvPr id="7" name="Rectangle 4"/>
          <p:cNvSpPr>
            <a:spLocks noChangeArrowheads="1"/>
          </p:cNvSpPr>
          <p:nvPr/>
        </p:nvSpPr>
        <p:spPr bwMode="auto">
          <a:xfrm>
            <a:off x="630933" y="2619301"/>
            <a:ext cx="4103687"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8" name="Rectangle 5"/>
          <p:cNvSpPr>
            <a:spLocks noChangeArrowheads="1"/>
          </p:cNvSpPr>
          <p:nvPr/>
        </p:nvSpPr>
        <p:spPr bwMode="auto">
          <a:xfrm>
            <a:off x="630933" y="3124126"/>
            <a:ext cx="2173287"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9" name="Rectangle 6"/>
          <p:cNvSpPr>
            <a:spLocks noChangeArrowheads="1"/>
          </p:cNvSpPr>
          <p:nvPr/>
        </p:nvSpPr>
        <p:spPr bwMode="auto">
          <a:xfrm>
            <a:off x="630932" y="3627362"/>
            <a:ext cx="396777" cy="1961877"/>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0" name="Rectangle 7"/>
          <p:cNvSpPr>
            <a:spLocks noChangeArrowheads="1"/>
          </p:cNvSpPr>
          <p:nvPr/>
        </p:nvSpPr>
        <p:spPr bwMode="auto">
          <a:xfrm>
            <a:off x="1565970" y="4162351"/>
            <a:ext cx="1366838"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1" name="Rectangle 8"/>
          <p:cNvSpPr>
            <a:spLocks noChangeArrowheads="1"/>
          </p:cNvSpPr>
          <p:nvPr/>
        </p:nvSpPr>
        <p:spPr bwMode="auto">
          <a:xfrm>
            <a:off x="3026470" y="4162351"/>
            <a:ext cx="3849688" cy="5175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2" name="Rectangle 9"/>
          <p:cNvSpPr>
            <a:spLocks noChangeArrowheads="1"/>
          </p:cNvSpPr>
          <p:nvPr/>
        </p:nvSpPr>
        <p:spPr bwMode="auto">
          <a:xfrm>
            <a:off x="6114158" y="4163938"/>
            <a:ext cx="431800"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3" name="Rectangle 10"/>
          <p:cNvSpPr>
            <a:spLocks noChangeArrowheads="1"/>
          </p:cNvSpPr>
          <p:nvPr/>
        </p:nvSpPr>
        <p:spPr bwMode="auto">
          <a:xfrm>
            <a:off x="6907908" y="4162351"/>
            <a:ext cx="287337"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4" name="AutoShape 12"/>
          <p:cNvSpPr>
            <a:spLocks/>
          </p:cNvSpPr>
          <p:nvPr/>
        </p:nvSpPr>
        <p:spPr bwMode="auto">
          <a:xfrm>
            <a:off x="5814120" y="2354188"/>
            <a:ext cx="3838575" cy="604838"/>
          </a:xfrm>
          <a:prstGeom prst="borderCallout2">
            <a:avLst>
              <a:gd name="adj1" fmla="val 18898"/>
              <a:gd name="adj2" fmla="val -2579"/>
              <a:gd name="adj3" fmla="val 18898"/>
              <a:gd name="adj4" fmla="val -11398"/>
              <a:gd name="adj5" fmla="val 94750"/>
              <a:gd name="adj6" fmla="val -36343"/>
            </a:avLst>
          </a:prstGeom>
          <a:solidFill>
            <a:srgbClr val="FFF5E0"/>
          </a:solidFill>
          <a:ln w="41275">
            <a:solidFill>
              <a:srgbClr val="00B050"/>
            </a:solidFill>
            <a:miter lim="800000"/>
            <a:headEnd/>
            <a:tailEnd/>
          </a:ln>
        </p:spPr>
        <p:txBody>
          <a:bodyPr/>
          <a:lstStyle/>
          <a:p>
            <a:pPr algn="ctr" eaLnBrk="1" fontAlgn="auto" hangingPunct="1">
              <a:spcBef>
                <a:spcPts val="0"/>
              </a:spcBef>
              <a:spcAft>
                <a:spcPts val="0"/>
              </a:spcAft>
              <a:defRPr/>
            </a:pPr>
            <a:r>
              <a:rPr lang="zh-CN" altLang="en-US" sz="2400" kern="0" dirty="0">
                <a:solidFill>
                  <a:srgbClr val="000099"/>
                </a:solidFill>
                <a:latin typeface="+mn-ea"/>
                <a:ea typeface="+mn-ea"/>
              </a:rPr>
              <a:t>以</a:t>
            </a:r>
            <a:r>
              <a:rPr lang="en-US" altLang="zh-CN" sz="2400" kern="0" dirty="0">
                <a:solidFill>
                  <a:srgbClr val="000099"/>
                </a:solidFill>
                <a:latin typeface="+mn-ea"/>
                <a:ea typeface="+mn-ea"/>
              </a:rPr>
              <a:t>#</a:t>
            </a:r>
            <a:r>
              <a:rPr lang="zh-CN" altLang="en-US" sz="2400" kern="0" dirty="0">
                <a:solidFill>
                  <a:srgbClr val="000099"/>
                </a:solidFill>
                <a:latin typeface="+mn-ea"/>
                <a:ea typeface="+mn-ea"/>
              </a:rPr>
              <a:t>开头，编译预处理指令</a:t>
            </a:r>
            <a:endParaRPr lang="en-US" altLang="zh-CN" sz="2400" kern="0" dirty="0">
              <a:solidFill>
                <a:srgbClr val="000099"/>
              </a:solidFill>
              <a:latin typeface="+mn-ea"/>
              <a:ea typeface="+mn-ea"/>
            </a:endParaRPr>
          </a:p>
        </p:txBody>
      </p:sp>
      <p:sp>
        <p:nvSpPr>
          <p:cNvPr id="15" name="AutoShape 15"/>
          <p:cNvSpPr>
            <a:spLocks/>
          </p:cNvSpPr>
          <p:nvPr/>
        </p:nvSpPr>
        <p:spPr bwMode="auto">
          <a:xfrm>
            <a:off x="3661470" y="4648126"/>
            <a:ext cx="5991225" cy="777875"/>
          </a:xfrm>
          <a:prstGeom prst="borderCallout2">
            <a:avLst>
              <a:gd name="adj1" fmla="val 14431"/>
              <a:gd name="adj2" fmla="val -1194"/>
              <a:gd name="adj3" fmla="val 14431"/>
              <a:gd name="adj4" fmla="val -5056"/>
              <a:gd name="adj5" fmla="val -106939"/>
              <a:gd name="adj6" fmla="val -14292"/>
            </a:avLst>
          </a:prstGeom>
          <a:solidFill>
            <a:srgbClr val="FFCC66">
              <a:lumMod val="20000"/>
              <a:lumOff val="80000"/>
            </a:srgbClr>
          </a:solidFill>
          <a:ln w="38100">
            <a:solidFill>
              <a:srgbClr val="00B050"/>
            </a:solidFill>
            <a:miter lim="800000"/>
            <a:headEnd/>
            <a:tailEnd/>
          </a:ln>
          <a:effectLst/>
        </p:spPr>
        <p:txBody>
          <a:bodyPr/>
          <a:lstStyle/>
          <a:p>
            <a:pPr eaLnBrk="1" fontAlgn="auto" hangingPunct="1">
              <a:spcBef>
                <a:spcPts val="0"/>
              </a:spcBef>
              <a:spcAft>
                <a:spcPts val="0"/>
              </a:spcAft>
              <a:defRPr/>
            </a:pPr>
            <a:r>
              <a:rPr lang="zh-CN" altLang="en-US" b="1" kern="0" dirty="0" smtClean="0">
                <a:solidFill>
                  <a:srgbClr val="000099"/>
                </a:solidFill>
              </a:rPr>
              <a:t>每个</a:t>
            </a:r>
            <a:r>
              <a:rPr lang="en-US" altLang="zh-CN" b="1" kern="0" dirty="0" smtClean="0">
                <a:solidFill>
                  <a:srgbClr val="000099"/>
                </a:solidFill>
              </a:rPr>
              <a:t>C</a:t>
            </a:r>
            <a:r>
              <a:rPr lang="zh-CN" altLang="en-US" b="1" kern="0" dirty="0" smtClean="0">
                <a:solidFill>
                  <a:srgbClr val="000099"/>
                </a:solidFill>
              </a:rPr>
              <a:t>程序都有一个</a:t>
            </a:r>
            <a:r>
              <a:rPr lang="en-US" altLang="zh-CN" b="1" kern="0" dirty="0" smtClean="0">
                <a:solidFill>
                  <a:srgbClr val="000099"/>
                </a:solidFill>
              </a:rPr>
              <a:t>main</a:t>
            </a:r>
            <a:r>
              <a:rPr lang="zh-CN" altLang="en-US" b="1" kern="0" dirty="0" smtClean="0">
                <a:solidFill>
                  <a:srgbClr val="000099"/>
                </a:solidFill>
              </a:rPr>
              <a:t>函数。</a:t>
            </a:r>
            <a:endParaRPr lang="en-US" altLang="zh-CN" b="1" kern="0" dirty="0" smtClean="0">
              <a:solidFill>
                <a:srgbClr val="000099"/>
              </a:solidFill>
            </a:endParaRPr>
          </a:p>
          <a:p>
            <a:pPr eaLnBrk="1" fontAlgn="auto" hangingPunct="1">
              <a:spcBef>
                <a:spcPts val="0"/>
              </a:spcBef>
              <a:spcAft>
                <a:spcPts val="0"/>
              </a:spcAft>
              <a:defRPr/>
            </a:pPr>
            <a:r>
              <a:rPr lang="zh-CN" altLang="en-US" b="1" kern="0" dirty="0" smtClean="0">
                <a:solidFill>
                  <a:srgbClr val="000099"/>
                </a:solidFill>
              </a:rPr>
              <a:t>程序入口从</a:t>
            </a:r>
            <a:r>
              <a:rPr lang="en-US" altLang="zh-CN" b="1" kern="0" dirty="0" smtClean="0">
                <a:solidFill>
                  <a:srgbClr val="000099"/>
                </a:solidFill>
              </a:rPr>
              <a:t>main() </a:t>
            </a:r>
            <a:r>
              <a:rPr lang="zh-CN" altLang="en-US" b="1" kern="0" dirty="0" smtClean="0">
                <a:solidFill>
                  <a:srgbClr val="000099"/>
                </a:solidFill>
              </a:rPr>
              <a:t>函数进入。</a:t>
            </a:r>
            <a:endParaRPr lang="en-US" altLang="zh-CN" b="1" kern="0" dirty="0">
              <a:solidFill>
                <a:srgbClr val="000099"/>
              </a:solidFill>
            </a:endParaRPr>
          </a:p>
        </p:txBody>
      </p:sp>
      <p:sp>
        <p:nvSpPr>
          <p:cNvPr id="16" name="Rectangle 7"/>
          <p:cNvSpPr>
            <a:spLocks noChangeArrowheads="1"/>
          </p:cNvSpPr>
          <p:nvPr/>
        </p:nvSpPr>
        <p:spPr bwMode="auto">
          <a:xfrm>
            <a:off x="2862958" y="2619301"/>
            <a:ext cx="1511300" cy="504825"/>
          </a:xfrm>
          <a:prstGeom prst="rect">
            <a:avLst/>
          </a:prstGeom>
          <a:noFill/>
          <a:ln w="28575">
            <a:solidFill>
              <a:srgbClr val="FF0000"/>
            </a:solidFill>
            <a:miter lim="800000"/>
            <a:headEnd type="none" w="sm" len="sm"/>
            <a:tailEnd type="none" w="sm" len="sm"/>
          </a:ln>
          <a:effectLst/>
        </p:spPr>
        <p:txBody>
          <a:bodyPr wrap="none" anchor="ctr"/>
          <a:lstStyle/>
          <a:p>
            <a:pPr eaLnBrk="1" hangingPunct="1">
              <a:defRPr/>
            </a:pPr>
            <a:endParaRPr lang="zh-CN" altLang="en-US">
              <a:effectLst>
                <a:outerShdw blurRad="38100" dist="38100" dir="2700000" algn="tl">
                  <a:srgbClr val="C0C0C0"/>
                </a:outerShdw>
              </a:effectLst>
              <a:ea typeface="宋体" charset="-122"/>
            </a:endParaRPr>
          </a:p>
        </p:txBody>
      </p:sp>
      <p:sp>
        <p:nvSpPr>
          <p:cNvPr id="17" name="AutoShape 12"/>
          <p:cNvSpPr>
            <a:spLocks/>
          </p:cNvSpPr>
          <p:nvPr/>
        </p:nvSpPr>
        <p:spPr bwMode="auto">
          <a:xfrm>
            <a:off x="5239445" y="3505126"/>
            <a:ext cx="1150938" cy="463550"/>
          </a:xfrm>
          <a:prstGeom prst="borderCallout2">
            <a:avLst>
              <a:gd name="adj1" fmla="val 24657"/>
              <a:gd name="adj2" fmla="val -6620"/>
              <a:gd name="adj3" fmla="val 24657"/>
              <a:gd name="adj4" fmla="val -6620"/>
              <a:gd name="adj5" fmla="val -79796"/>
              <a:gd name="adj6" fmla="val -82069"/>
            </a:avLst>
          </a:prstGeom>
          <a:solidFill>
            <a:srgbClr val="FFF5E0"/>
          </a:solidFill>
          <a:ln w="41275">
            <a:solidFill>
              <a:srgbClr val="00B050"/>
            </a:solidFill>
            <a:miter lim="800000"/>
            <a:headEnd/>
            <a:tailEnd/>
          </a:ln>
        </p:spPr>
        <p:txBody>
          <a:bodyPr/>
          <a:lstStyle/>
          <a:p>
            <a:pPr algn="ctr" eaLnBrk="1" fontAlgn="auto" hangingPunct="1">
              <a:spcBef>
                <a:spcPts val="0"/>
              </a:spcBef>
              <a:spcAft>
                <a:spcPts val="0"/>
              </a:spcAft>
              <a:defRPr/>
            </a:pPr>
            <a:r>
              <a:rPr lang="zh-CN" altLang="en-US" sz="2400" kern="0" dirty="0">
                <a:solidFill>
                  <a:srgbClr val="000099"/>
                </a:solidFill>
                <a:latin typeface="黑体" pitchFamily="2" charset="-122"/>
                <a:ea typeface="黑体" pitchFamily="2" charset="-122"/>
              </a:rPr>
              <a:t>头文件</a:t>
            </a:r>
          </a:p>
        </p:txBody>
      </p:sp>
    </p:spTree>
    <p:extLst>
      <p:ext uri="{BB962C8B-B14F-4D97-AF65-F5344CB8AC3E}">
        <p14:creationId xmlns:p14="http://schemas.microsoft.com/office/powerpoint/2010/main" val="4024856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wipe(left)">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strVal val="4/3*#ppt_w"/>
                                          </p:val>
                                        </p:tav>
                                        <p:tav tm="100000">
                                          <p:val>
                                            <p:strVal val="#ppt_w"/>
                                          </p:val>
                                        </p:tav>
                                      </p:tavLst>
                                    </p:anim>
                                    <p:anim calcmode="lin" valueType="num">
                                      <p:cBhvr>
                                        <p:cTn id="13" dur="500" fill="hold"/>
                                        <p:tgtEl>
                                          <p:spTgt spid="7"/>
                                        </p:tgtEl>
                                        <p:attrNameLst>
                                          <p:attrName>ppt_h</p:attrName>
                                        </p:attrNameLst>
                                      </p:cBhvr>
                                      <p:tavLst>
                                        <p:tav tm="0">
                                          <p:val>
                                            <p:strVal val="4/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dissolv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7"/>
                                        </p:tgtEl>
                                      </p:cBhvr>
                                    </p:animEffect>
                                    <p:set>
                                      <p:cBhvr>
                                        <p:cTn id="23" dur="1" fill="hold">
                                          <p:stCondLst>
                                            <p:cond delay="499"/>
                                          </p:stCondLst>
                                        </p:cTn>
                                        <p:tgtEl>
                                          <p:spTgt spid="7"/>
                                        </p:tgtEl>
                                        <p:attrNameLst>
                                          <p:attrName>style.visibility</p:attrName>
                                        </p:attrNameLst>
                                      </p:cBhvr>
                                      <p:to>
                                        <p:strVal val="hidden"/>
                                      </p:to>
                                    </p:set>
                                  </p:childTnLst>
                                </p:cTn>
                              </p:par>
                              <p:par>
                                <p:cTn id="24" presetID="1" presetClass="exit" presetSubtype="0" fill="hold" grpId="1" nodeType="withEffect">
                                  <p:stCondLst>
                                    <p:cond delay="0"/>
                                  </p:stCondLst>
                                  <p:childTnLst>
                                    <p:set>
                                      <p:cBhvr>
                                        <p:cTn id="25" dur="1" fill="hold">
                                          <p:stCondLst>
                                            <p:cond delay="0"/>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3" presetClass="entr" presetSubtype="288"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strVal val="4/3*#ppt_w"/>
                                          </p:val>
                                        </p:tav>
                                        <p:tav tm="100000">
                                          <p:val>
                                            <p:strVal val="#ppt_w"/>
                                          </p:val>
                                        </p:tav>
                                      </p:tavLst>
                                    </p:anim>
                                    <p:anim calcmode="lin" valueType="num">
                                      <p:cBhvr>
                                        <p:cTn id="31" dur="500" fill="hold"/>
                                        <p:tgtEl>
                                          <p:spTgt spid="16"/>
                                        </p:tgtEl>
                                        <p:attrNameLst>
                                          <p:attrName>ppt_h</p:attrName>
                                        </p:attrNameLst>
                                      </p:cBhvr>
                                      <p:tavLst>
                                        <p:tav tm="0">
                                          <p:val>
                                            <p:strVal val="4/3*#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dissolv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16"/>
                                        </p:tgtEl>
                                      </p:cBhvr>
                                    </p:animEffect>
                                    <p:set>
                                      <p:cBhvr>
                                        <p:cTn id="41" dur="1" fill="hold">
                                          <p:stCondLst>
                                            <p:cond delay="499"/>
                                          </p:stCondLst>
                                        </p:cTn>
                                        <p:tgtEl>
                                          <p:spTgt spid="16"/>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3" presetClass="entr" presetSubtype="28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p:cTn id="48" dur="500" fill="hold"/>
                                        <p:tgtEl>
                                          <p:spTgt spid="8"/>
                                        </p:tgtEl>
                                        <p:attrNameLst>
                                          <p:attrName>ppt_w</p:attrName>
                                        </p:attrNameLst>
                                      </p:cBhvr>
                                      <p:tavLst>
                                        <p:tav tm="0">
                                          <p:val>
                                            <p:strVal val="4/3*#ppt_w"/>
                                          </p:val>
                                        </p:tav>
                                        <p:tav tm="100000">
                                          <p:val>
                                            <p:strVal val="#ppt_w"/>
                                          </p:val>
                                        </p:tav>
                                      </p:tavLst>
                                    </p:anim>
                                    <p:anim calcmode="lin" valueType="num">
                                      <p:cBhvr>
                                        <p:cTn id="49" dur="5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dissolv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8"/>
                                        </p:tgtEl>
                                      </p:cBhvr>
                                    </p:animEffect>
                                    <p:set>
                                      <p:cBhvr>
                                        <p:cTn id="59" dur="1" fill="hold">
                                          <p:stCondLst>
                                            <p:cond delay="499"/>
                                          </p:stCondLst>
                                        </p:cTn>
                                        <p:tgtEl>
                                          <p:spTgt spid="8"/>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15"/>
                                        </p:tgtEl>
                                        <p:attrNameLst>
                                          <p:attrName>style.visibility</p:attrName>
                                        </p:attrNameLst>
                                      </p:cBhvr>
                                      <p:to>
                                        <p:strVal val="hidden"/>
                                      </p:to>
                                    </p:set>
                                  </p:childTnLst>
                                </p:cTn>
                              </p:par>
                              <p:par>
                                <p:cTn id="62" presetID="23" presetClass="entr" presetSubtype="288" fill="hold" grpId="0" nodeType="with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p:cTn id="64" dur="500" fill="hold"/>
                                        <p:tgtEl>
                                          <p:spTgt spid="9"/>
                                        </p:tgtEl>
                                        <p:attrNameLst>
                                          <p:attrName>ppt_w</p:attrName>
                                        </p:attrNameLst>
                                      </p:cBhvr>
                                      <p:tavLst>
                                        <p:tav tm="0">
                                          <p:val>
                                            <p:strVal val="4/3*#ppt_w"/>
                                          </p:val>
                                        </p:tav>
                                        <p:tav tm="100000">
                                          <p:val>
                                            <p:strVal val="#ppt_w"/>
                                          </p:val>
                                        </p:tav>
                                      </p:tavLst>
                                    </p:anim>
                                    <p:anim calcmode="lin" valueType="num">
                                      <p:cBhvr>
                                        <p:cTn id="65" dur="500" fill="hold"/>
                                        <p:tgtEl>
                                          <p:spTgt spid="9"/>
                                        </p:tgtEl>
                                        <p:attrNameLst>
                                          <p:attrName>ppt_h</p:attrName>
                                        </p:attrNameLst>
                                      </p:cBhvr>
                                      <p:tavLst>
                                        <p:tav tm="0">
                                          <p:val>
                                            <p:strVal val="4/3*#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9"/>
                                        </p:tgtEl>
                                      </p:cBhvr>
                                    </p:animEffect>
                                    <p:set>
                                      <p:cBhvr>
                                        <p:cTn id="70" dur="1" fill="hold">
                                          <p:stCondLst>
                                            <p:cond delay="499"/>
                                          </p:stCondLst>
                                        </p:cTn>
                                        <p:tgtEl>
                                          <p:spTgt spid="9"/>
                                        </p:tgtEl>
                                        <p:attrNameLst>
                                          <p:attrName>style.visibility</p:attrName>
                                        </p:attrNameLst>
                                      </p:cBhvr>
                                      <p:to>
                                        <p:strVal val="hidden"/>
                                      </p:to>
                                    </p:set>
                                  </p:childTnLst>
                                </p:cTn>
                              </p:par>
                              <p:par>
                                <p:cTn id="71" presetID="23" presetClass="entr" presetSubtype="288"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p:cTn id="73" dur="500" fill="hold"/>
                                        <p:tgtEl>
                                          <p:spTgt spid="10"/>
                                        </p:tgtEl>
                                        <p:attrNameLst>
                                          <p:attrName>ppt_w</p:attrName>
                                        </p:attrNameLst>
                                      </p:cBhvr>
                                      <p:tavLst>
                                        <p:tav tm="0">
                                          <p:val>
                                            <p:strVal val="4/3*#ppt_w"/>
                                          </p:val>
                                        </p:tav>
                                        <p:tav tm="100000">
                                          <p:val>
                                            <p:strVal val="#ppt_w"/>
                                          </p:val>
                                        </p:tav>
                                      </p:tavLst>
                                    </p:anim>
                                    <p:anim calcmode="lin" valueType="num">
                                      <p:cBhvr>
                                        <p:cTn id="74" dur="500" fill="hold"/>
                                        <p:tgtEl>
                                          <p:spTgt spid="10"/>
                                        </p:tgtEl>
                                        <p:attrNameLst>
                                          <p:attrName>ppt_h</p:attrName>
                                        </p:attrNameLst>
                                      </p:cBhvr>
                                      <p:tavLst>
                                        <p:tav tm="0">
                                          <p:val>
                                            <p:strVal val="4/3*#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grpId="1" nodeType="clickEffect">
                                  <p:stCondLst>
                                    <p:cond delay="0"/>
                                  </p:stCondLst>
                                  <p:childTnLst>
                                    <p:animEffect transition="out" filter="fade">
                                      <p:cBhvr>
                                        <p:cTn id="78" dur="500"/>
                                        <p:tgtEl>
                                          <p:spTgt spid="10"/>
                                        </p:tgtEl>
                                      </p:cBhvr>
                                    </p:animEffect>
                                    <p:set>
                                      <p:cBhvr>
                                        <p:cTn id="79" dur="1" fill="hold">
                                          <p:stCondLst>
                                            <p:cond delay="499"/>
                                          </p:stCondLst>
                                        </p:cTn>
                                        <p:tgtEl>
                                          <p:spTgt spid="10"/>
                                        </p:tgtEl>
                                        <p:attrNameLst>
                                          <p:attrName>style.visibility</p:attrName>
                                        </p:attrNameLst>
                                      </p:cBhvr>
                                      <p:to>
                                        <p:strVal val="hidden"/>
                                      </p:to>
                                    </p:set>
                                  </p:childTnLst>
                                </p:cTn>
                              </p:par>
                              <p:par>
                                <p:cTn id="80" presetID="23" presetClass="entr" presetSubtype="288" fill="hold" grpId="0" nodeType="withEffect">
                                  <p:stCondLst>
                                    <p:cond delay="0"/>
                                  </p:stCondLst>
                                  <p:childTnLst>
                                    <p:set>
                                      <p:cBhvr>
                                        <p:cTn id="81" dur="1" fill="hold">
                                          <p:stCondLst>
                                            <p:cond delay="0"/>
                                          </p:stCondLst>
                                        </p:cTn>
                                        <p:tgtEl>
                                          <p:spTgt spid="11"/>
                                        </p:tgtEl>
                                        <p:attrNameLst>
                                          <p:attrName>style.visibility</p:attrName>
                                        </p:attrNameLst>
                                      </p:cBhvr>
                                      <p:to>
                                        <p:strVal val="visible"/>
                                      </p:to>
                                    </p:set>
                                    <p:anim calcmode="lin" valueType="num">
                                      <p:cBhvr>
                                        <p:cTn id="82" dur="500" fill="hold"/>
                                        <p:tgtEl>
                                          <p:spTgt spid="11"/>
                                        </p:tgtEl>
                                        <p:attrNameLst>
                                          <p:attrName>ppt_w</p:attrName>
                                        </p:attrNameLst>
                                      </p:cBhvr>
                                      <p:tavLst>
                                        <p:tav tm="0">
                                          <p:val>
                                            <p:strVal val="4/3*#ppt_w"/>
                                          </p:val>
                                        </p:tav>
                                        <p:tav tm="100000">
                                          <p:val>
                                            <p:strVal val="#ppt_w"/>
                                          </p:val>
                                        </p:tav>
                                      </p:tavLst>
                                    </p:anim>
                                    <p:anim calcmode="lin" valueType="num">
                                      <p:cBhvr>
                                        <p:cTn id="83" dur="500" fill="hold"/>
                                        <p:tgtEl>
                                          <p:spTgt spid="11"/>
                                        </p:tgtEl>
                                        <p:attrNameLst>
                                          <p:attrName>ppt_h</p:attrName>
                                        </p:attrNameLst>
                                      </p:cBhvr>
                                      <p:tavLst>
                                        <p:tav tm="0">
                                          <p:val>
                                            <p:strVal val="4/3*#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grpId="1" nodeType="clickEffect">
                                  <p:stCondLst>
                                    <p:cond delay="0"/>
                                  </p:stCondLst>
                                  <p:childTnLst>
                                    <p:animEffect transition="out" filter="fade">
                                      <p:cBhvr>
                                        <p:cTn id="87" dur="500"/>
                                        <p:tgtEl>
                                          <p:spTgt spid="11"/>
                                        </p:tgtEl>
                                      </p:cBhvr>
                                    </p:animEffect>
                                    <p:set>
                                      <p:cBhvr>
                                        <p:cTn id="88" dur="1" fill="hold">
                                          <p:stCondLst>
                                            <p:cond delay="499"/>
                                          </p:stCondLst>
                                        </p:cTn>
                                        <p:tgtEl>
                                          <p:spTgt spid="11"/>
                                        </p:tgtEl>
                                        <p:attrNameLst>
                                          <p:attrName>style.visibility</p:attrName>
                                        </p:attrNameLst>
                                      </p:cBhvr>
                                      <p:to>
                                        <p:strVal val="hidden"/>
                                      </p:to>
                                    </p:set>
                                  </p:childTnLst>
                                </p:cTn>
                              </p:par>
                              <p:par>
                                <p:cTn id="89" presetID="23" presetClass="entr" presetSubtype="288"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p:cTn id="91" dur="500" fill="hold"/>
                                        <p:tgtEl>
                                          <p:spTgt spid="12"/>
                                        </p:tgtEl>
                                        <p:attrNameLst>
                                          <p:attrName>ppt_w</p:attrName>
                                        </p:attrNameLst>
                                      </p:cBhvr>
                                      <p:tavLst>
                                        <p:tav tm="0">
                                          <p:val>
                                            <p:strVal val="4/3*#ppt_w"/>
                                          </p:val>
                                        </p:tav>
                                        <p:tav tm="100000">
                                          <p:val>
                                            <p:strVal val="#ppt_w"/>
                                          </p:val>
                                        </p:tav>
                                      </p:tavLst>
                                    </p:anim>
                                    <p:anim calcmode="lin" valueType="num">
                                      <p:cBhvr>
                                        <p:cTn id="92" dur="500" fill="hold"/>
                                        <p:tgtEl>
                                          <p:spTgt spid="12"/>
                                        </p:tgtEl>
                                        <p:attrNameLst>
                                          <p:attrName>ppt_h</p:attrName>
                                        </p:attrNameLst>
                                      </p:cBhvr>
                                      <p:tavLst>
                                        <p:tav tm="0">
                                          <p:val>
                                            <p:strVal val="4/3*#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1" nodeType="clickEffect">
                                  <p:stCondLst>
                                    <p:cond delay="0"/>
                                  </p:stCondLst>
                                  <p:childTnLst>
                                    <p:animEffect transition="out" filter="fade">
                                      <p:cBhvr>
                                        <p:cTn id="96" dur="500"/>
                                        <p:tgtEl>
                                          <p:spTgt spid="12"/>
                                        </p:tgtEl>
                                      </p:cBhvr>
                                    </p:animEffect>
                                    <p:set>
                                      <p:cBhvr>
                                        <p:cTn id="97" dur="1" fill="hold">
                                          <p:stCondLst>
                                            <p:cond delay="499"/>
                                          </p:stCondLst>
                                        </p:cTn>
                                        <p:tgtEl>
                                          <p:spTgt spid="12"/>
                                        </p:tgtEl>
                                        <p:attrNameLst>
                                          <p:attrName>style.visibility</p:attrName>
                                        </p:attrNameLst>
                                      </p:cBhvr>
                                      <p:to>
                                        <p:strVal val="hidden"/>
                                      </p:to>
                                    </p:set>
                                  </p:childTnLst>
                                </p:cTn>
                              </p:par>
                              <p:par>
                                <p:cTn id="98" presetID="23" presetClass="entr" presetSubtype="288" fill="hold" grpId="0" nodeType="withEffect">
                                  <p:stCondLst>
                                    <p:cond delay="0"/>
                                  </p:stCondLst>
                                  <p:childTnLst>
                                    <p:set>
                                      <p:cBhvr>
                                        <p:cTn id="99" dur="1" fill="hold">
                                          <p:stCondLst>
                                            <p:cond delay="0"/>
                                          </p:stCondLst>
                                        </p:cTn>
                                        <p:tgtEl>
                                          <p:spTgt spid="13"/>
                                        </p:tgtEl>
                                        <p:attrNameLst>
                                          <p:attrName>style.visibility</p:attrName>
                                        </p:attrNameLst>
                                      </p:cBhvr>
                                      <p:to>
                                        <p:strVal val="visible"/>
                                      </p:to>
                                    </p:set>
                                    <p:anim calcmode="lin" valueType="num">
                                      <p:cBhvr>
                                        <p:cTn id="100" dur="500" fill="hold"/>
                                        <p:tgtEl>
                                          <p:spTgt spid="13"/>
                                        </p:tgtEl>
                                        <p:attrNameLst>
                                          <p:attrName>ppt_w</p:attrName>
                                        </p:attrNameLst>
                                      </p:cBhvr>
                                      <p:tavLst>
                                        <p:tav tm="0">
                                          <p:val>
                                            <p:strVal val="4/3*#ppt_w"/>
                                          </p:val>
                                        </p:tav>
                                        <p:tav tm="100000">
                                          <p:val>
                                            <p:strVal val="#ppt_w"/>
                                          </p:val>
                                        </p:tav>
                                      </p:tavLst>
                                    </p:anim>
                                    <p:anim calcmode="lin" valueType="num">
                                      <p:cBhvr>
                                        <p:cTn id="101" dur="500" fill="hold"/>
                                        <p:tgtEl>
                                          <p:spTgt spid="13"/>
                                        </p:tgtEl>
                                        <p:attrNameLst>
                                          <p:attrName>ppt_h</p:attrName>
                                        </p:attrNameLst>
                                      </p:cBhvr>
                                      <p:tavLst>
                                        <p:tav tm="0">
                                          <p:val>
                                            <p:strVal val="4/3*#ppt_h"/>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grpId="1" nodeType="clickEffect">
                                  <p:stCondLst>
                                    <p:cond delay="0"/>
                                  </p:stCondLst>
                                  <p:childTnLst>
                                    <p:animEffect transition="out" filter="fade">
                                      <p:cBhvr>
                                        <p:cTn id="105" dur="500"/>
                                        <p:tgtEl>
                                          <p:spTgt spid="13"/>
                                        </p:tgtEl>
                                      </p:cBhvr>
                                    </p:animEffect>
                                    <p:set>
                                      <p:cBhvr>
                                        <p:cTn id="106"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95300" y="269875"/>
            <a:ext cx="8915400" cy="1143000"/>
          </a:xfrm>
        </p:spPr>
        <p:txBody>
          <a:bodyPr/>
          <a:lstStyle/>
          <a:p>
            <a:pPr eaLnBrk="1" hangingPunct="1"/>
            <a:r>
              <a:rPr lang="zh-CN" altLang="en-US" dirty="0" smtClean="0"/>
              <a:t>学习内容</a:t>
            </a:r>
          </a:p>
        </p:txBody>
      </p:sp>
      <p:sp>
        <p:nvSpPr>
          <p:cNvPr id="11267" name="Rectangle 3"/>
          <p:cNvSpPr>
            <a:spLocks noGrp="1" noChangeArrowheads="1"/>
          </p:cNvSpPr>
          <p:nvPr>
            <p:ph type="body" idx="1"/>
          </p:nvPr>
        </p:nvSpPr>
        <p:spPr>
          <a:xfrm>
            <a:off x="1424608" y="1627981"/>
            <a:ext cx="7986092" cy="4609331"/>
          </a:xfrm>
        </p:spPr>
        <p:txBody>
          <a:bodyPr/>
          <a:lstStyle/>
          <a:p>
            <a:pPr marL="533400" indent="-533400" eaLnBrk="1" hangingPunct="1"/>
            <a:r>
              <a:rPr lang="zh-CN" altLang="en-US" dirty="0" smtClean="0">
                <a:latin typeface="Arial" panose="020B0604020202020204" pitchFamily="34" charset="0"/>
                <a:cs typeface="Arial" panose="020B0604020202020204" pitchFamily="34" charset="0"/>
              </a:rPr>
              <a:t>程序和程序设计语言</a:t>
            </a:r>
            <a:endParaRPr lang="en-US" altLang="zh-CN" dirty="0" smtClean="0">
              <a:latin typeface="Arial" panose="020B0604020202020204" pitchFamily="34" charset="0"/>
              <a:cs typeface="Arial" panose="020B0604020202020204" pitchFamily="34" charset="0"/>
            </a:endParaRPr>
          </a:p>
          <a:p>
            <a:pPr marL="533400" indent="-533400" eaLnBrk="1" hangingPunct="1"/>
            <a:r>
              <a:rPr lang="en-US" altLang="zh-CN" dirty="0" smtClean="0">
                <a:latin typeface="Arial" panose="020B0604020202020204" pitchFamily="34" charset="0"/>
                <a:cs typeface="Arial" panose="020B0604020202020204" pitchFamily="34" charset="0"/>
              </a:rPr>
              <a:t>C</a:t>
            </a:r>
            <a:r>
              <a:rPr lang="zh-CN" altLang="en-US" dirty="0" smtClean="0">
                <a:latin typeface="Arial" panose="020B0604020202020204" pitchFamily="34" charset="0"/>
                <a:cs typeface="Arial" panose="020B0604020202020204" pitchFamily="34" charset="0"/>
              </a:rPr>
              <a:t>语言简介</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发展历史</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特点</a:t>
            </a:r>
            <a:endParaRPr lang="en-US" altLang="zh-CN" dirty="0" smtClean="0">
              <a:latin typeface="Arial" panose="020B0604020202020204" pitchFamily="34" charset="0"/>
              <a:cs typeface="Arial" panose="020B0604020202020204" pitchFamily="34" charset="0"/>
            </a:endParaRPr>
          </a:p>
          <a:p>
            <a:pPr marL="933450" lvl="1" indent="-533400" eaLnBrk="1" hangingPunct="1"/>
            <a:r>
              <a:rPr lang="zh-CN" altLang="en-US" dirty="0" smtClean="0">
                <a:latin typeface="Arial" panose="020B0604020202020204" pitchFamily="34" charset="0"/>
                <a:cs typeface="Arial" panose="020B0604020202020204" pitchFamily="34" charset="0"/>
              </a:rPr>
              <a:t>基本结构</a:t>
            </a:r>
            <a:endParaRPr lang="en-US" altLang="zh-CN" dirty="0">
              <a:latin typeface="Arial" panose="020B0604020202020204" pitchFamily="34" charset="0"/>
              <a:cs typeface="Arial" panose="020B0604020202020204" pitchFamily="34" charset="0"/>
            </a:endParaRPr>
          </a:p>
          <a:p>
            <a:pPr marL="533400" indent="-533400" eaLnBrk="1" hangingPunct="1"/>
            <a:r>
              <a:rPr lang="en-US" altLang="zh-CN" dirty="0">
                <a:latin typeface="Arial" panose="020B0604020202020204" pitchFamily="34" charset="0"/>
                <a:cs typeface="Arial" panose="020B0604020202020204" pitchFamily="34" charset="0"/>
              </a:rPr>
              <a:t>C</a:t>
            </a:r>
            <a:r>
              <a:rPr lang="zh-CN" altLang="en-US" dirty="0">
                <a:latin typeface="Arial" panose="020B0604020202020204" pitchFamily="34" charset="0"/>
                <a:cs typeface="Arial" panose="020B0604020202020204" pitchFamily="34" charset="0"/>
              </a:rPr>
              <a:t>语言集成开发环境</a:t>
            </a:r>
            <a:endParaRPr lang="en-US" altLang="zh-CN" dirty="0">
              <a:latin typeface="Arial" panose="020B0604020202020204" pitchFamily="34" charset="0"/>
              <a:cs typeface="Arial" panose="020B0604020202020204" pitchFamily="34" charset="0"/>
            </a:endParaRPr>
          </a:p>
          <a:p>
            <a:pPr marL="533400" indent="-533400" eaLnBrk="1" hangingPunct="1"/>
            <a:r>
              <a:rPr lang="zh-CN" altLang="en-US" dirty="0">
                <a:solidFill>
                  <a:srgbClr val="FF0000"/>
                </a:solidFill>
                <a:latin typeface="Arial" panose="020B0604020202020204" pitchFamily="34" charset="0"/>
                <a:cs typeface="Arial" panose="020B0604020202020204" pitchFamily="34" charset="0"/>
              </a:rPr>
              <a:t>问题求解过程</a:t>
            </a:r>
            <a:endParaRPr lang="en-US" altLang="zh-CN" dirty="0">
              <a:solidFill>
                <a:srgbClr val="FF0000"/>
              </a:solidFill>
              <a:latin typeface="Arial" panose="020B0604020202020204" pitchFamily="34" charset="0"/>
              <a:cs typeface="Arial" panose="020B0604020202020204" pitchFamily="34" charset="0"/>
            </a:endParaRPr>
          </a:p>
          <a:p>
            <a:pPr marL="533400" indent="-533400" eaLnBrk="1" hangingPunct="1"/>
            <a:endParaRPr lang="zh-CN" altLang="en-US" dirty="0" smtClean="0">
              <a:solidFill>
                <a:schemeClr val="hlink"/>
              </a:solidFill>
              <a:latin typeface="华文仿宋" panose="02010600040101010101" pitchFamily="2" charset="-122"/>
            </a:endParaRP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34</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extLst>
      <p:ext uri="{BB962C8B-B14F-4D97-AF65-F5344CB8AC3E}">
        <p14:creationId xmlns:p14="http://schemas.microsoft.com/office/powerpoint/2010/main" val="1980361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问题的求解过程</a:t>
            </a:r>
            <a:endParaRPr lang="zh-CN" altLang="en-US" dirty="0"/>
          </a:p>
        </p:txBody>
      </p:sp>
      <p:graphicFrame>
        <p:nvGraphicFramePr>
          <p:cNvPr id="9" name="内容占位符 8"/>
          <p:cNvGraphicFramePr>
            <a:graphicFrameLocks noGrp="1"/>
          </p:cNvGraphicFramePr>
          <p:nvPr>
            <p:ph idx="1"/>
            <p:extLst>
              <p:ext uri="{D42A27DB-BD31-4B8C-83A1-F6EECF244321}">
                <p14:modId xmlns:p14="http://schemas.microsoft.com/office/powerpoint/2010/main" val="815091736"/>
              </p:ext>
            </p:extLst>
          </p:nvPr>
        </p:nvGraphicFramePr>
        <p:xfrm>
          <a:off x="495300" y="1464744"/>
          <a:ext cx="8457542" cy="1656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p:cNvSpPr>
            <a:spLocks noGrp="1"/>
          </p:cNvSpPr>
          <p:nvPr>
            <p:ph type="sldNum" sz="quarter" idx="11"/>
          </p:nvPr>
        </p:nvSpPr>
        <p:spPr/>
        <p:txBody>
          <a:bodyPr/>
          <a:lstStyle/>
          <a:p>
            <a:pPr>
              <a:defRPr/>
            </a:pPr>
            <a:fld id="{A0789521-ADF1-4E21-9693-C47D771CA54A}" type="slidenum">
              <a:rPr lang="en-US" altLang="zh-CN" smtClean="0"/>
              <a:pPr>
                <a:defRPr/>
              </a:pPr>
              <a:t>35</a:t>
            </a:fld>
            <a:r>
              <a:rPr lang="en-US" altLang="zh-CN" smtClean="0"/>
              <a:t>/37</a:t>
            </a:r>
            <a:endParaRPr lang="zh-CN" altLang="en-US"/>
          </a:p>
        </p:txBody>
      </p:sp>
      <p:sp>
        <p:nvSpPr>
          <p:cNvPr id="3" name="下箭头 2"/>
          <p:cNvSpPr/>
          <p:nvPr/>
        </p:nvSpPr>
        <p:spPr>
          <a:xfrm>
            <a:off x="1590024" y="2916992"/>
            <a:ext cx="648072"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下箭头 5"/>
          <p:cNvSpPr/>
          <p:nvPr/>
        </p:nvSpPr>
        <p:spPr>
          <a:xfrm>
            <a:off x="4400035" y="2916992"/>
            <a:ext cx="648072"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下箭头 6"/>
          <p:cNvSpPr/>
          <p:nvPr/>
        </p:nvSpPr>
        <p:spPr>
          <a:xfrm>
            <a:off x="7210046" y="2943290"/>
            <a:ext cx="648072"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635918" y="3639174"/>
            <a:ext cx="2556284" cy="26837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t>将乱序的</a:t>
            </a:r>
            <a:endParaRPr lang="en-US" altLang="zh-CN" sz="2800" dirty="0" smtClean="0"/>
          </a:p>
          <a:p>
            <a:pPr algn="ctr"/>
            <a:r>
              <a:rPr lang="zh-CN" altLang="en-US" sz="2800" dirty="0" smtClean="0"/>
              <a:t>一组数排序</a:t>
            </a:r>
            <a:endParaRPr lang="zh-CN" altLang="en-US" sz="2800" dirty="0"/>
          </a:p>
        </p:txBody>
      </p:sp>
      <p:sp>
        <p:nvSpPr>
          <p:cNvPr id="10" name="圆角矩形 9"/>
          <p:cNvSpPr/>
          <p:nvPr/>
        </p:nvSpPr>
        <p:spPr>
          <a:xfrm>
            <a:off x="3445929" y="3639174"/>
            <a:ext cx="2556284" cy="26837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t>冒泡排序</a:t>
            </a:r>
            <a:endParaRPr lang="en-US" altLang="zh-CN" sz="2800" dirty="0" smtClean="0"/>
          </a:p>
          <a:p>
            <a:pPr algn="ctr"/>
            <a:r>
              <a:rPr lang="zh-CN" altLang="en-US" sz="2800" dirty="0" smtClean="0"/>
              <a:t>选择排序</a:t>
            </a:r>
            <a:endParaRPr lang="en-US" altLang="zh-CN" sz="2800" dirty="0" smtClean="0"/>
          </a:p>
          <a:p>
            <a:pPr algn="ctr"/>
            <a:r>
              <a:rPr lang="zh-CN" altLang="en-US" sz="2800" dirty="0" smtClean="0"/>
              <a:t>快速排序</a:t>
            </a:r>
            <a:endParaRPr lang="en-US" altLang="zh-CN" sz="2800" dirty="0" smtClean="0"/>
          </a:p>
          <a:p>
            <a:pPr algn="ctr"/>
            <a:r>
              <a:rPr lang="zh-CN" altLang="en-US" sz="2800" dirty="0" smtClean="0"/>
              <a:t>归并排序</a:t>
            </a:r>
            <a:endParaRPr lang="zh-CN" altLang="en-US" sz="2800" dirty="0"/>
          </a:p>
        </p:txBody>
      </p:sp>
      <p:sp>
        <p:nvSpPr>
          <p:cNvPr id="11" name="圆角矩形 10"/>
          <p:cNvSpPr/>
          <p:nvPr/>
        </p:nvSpPr>
        <p:spPr>
          <a:xfrm>
            <a:off x="6255940" y="3636115"/>
            <a:ext cx="2556284" cy="26837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t>将算法转换成程序代码</a:t>
            </a:r>
            <a:endParaRPr lang="zh-CN" altLang="en-US" sz="2800" dirty="0"/>
          </a:p>
        </p:txBody>
      </p:sp>
    </p:spTree>
    <p:extLst>
      <p:ext uri="{BB962C8B-B14F-4D97-AF65-F5344CB8AC3E}">
        <p14:creationId xmlns:p14="http://schemas.microsoft.com/office/powerpoint/2010/main" val="28425825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95300" y="269875"/>
            <a:ext cx="8915400" cy="1143000"/>
          </a:xfrm>
        </p:spPr>
        <p:txBody>
          <a:bodyPr/>
          <a:lstStyle/>
          <a:p>
            <a:pPr eaLnBrk="1" hangingPunct="1"/>
            <a:r>
              <a:rPr lang="zh-CN" altLang="en-US" smtClean="0"/>
              <a:t>程序的开发步骤</a:t>
            </a:r>
            <a:endParaRPr lang="en-US" altLang="zh-CN" smtClean="0"/>
          </a:p>
        </p:txBody>
      </p:sp>
      <p:pic>
        <p:nvPicPr>
          <p:cNvPr id="66563" name="Picture 2"/>
          <p:cNvPicPr>
            <a:picLocks noGrp="1" noChangeAspect="1" noChangeArrowheads="1"/>
          </p:cNvPicPr>
          <p:nvPr>
            <p:ph idx="4294967295"/>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936750" y="1341438"/>
            <a:ext cx="6904038" cy="5238750"/>
          </a:xfrm>
        </p:spPr>
      </p:pic>
      <p:sp>
        <p:nvSpPr>
          <p:cNvPr id="18" name="Rectangle 4"/>
          <p:cNvSpPr txBox="1">
            <a:spLocks noChangeArrowheads="1"/>
          </p:cNvSpPr>
          <p:nvPr/>
        </p:nvSpPr>
        <p:spPr>
          <a:xfrm>
            <a:off x="4906963" y="6107113"/>
            <a:ext cx="4679950" cy="647700"/>
          </a:xfrm>
          <a:prstGeom prst="rect">
            <a:avLst/>
          </a:prstGeom>
        </p:spPr>
        <p:txBody>
          <a:bodyPr/>
          <a:lstStyle/>
          <a:p>
            <a:pPr marL="850900" lvl="1" indent="-285750">
              <a:lnSpc>
                <a:spcPct val="95000"/>
              </a:lnSpc>
              <a:spcBef>
                <a:spcPct val="20000"/>
              </a:spcBef>
              <a:spcAft>
                <a:spcPts val="588"/>
              </a:spcAft>
              <a:buClr>
                <a:srgbClr val="FFCC66"/>
              </a:buClr>
              <a:buSzPct val="115000"/>
              <a:buFontTx/>
              <a:buChar char="–"/>
              <a:defRPr/>
            </a:pPr>
            <a:r>
              <a:rPr lang="en-US" altLang="zh-CN" b="1" i="1" kern="0" dirty="0">
                <a:solidFill>
                  <a:srgbClr val="000000"/>
                </a:solidFill>
                <a:effectLst>
                  <a:outerShdw blurRad="38100" dist="38100" dir="2700000" algn="tl">
                    <a:srgbClr val="000000">
                      <a:alpha val="43137"/>
                    </a:srgbClr>
                  </a:outerShdw>
                </a:effectLst>
                <a:cs typeface="Arial" pitchFamily="34" charset="0"/>
              </a:rPr>
              <a:t>What is to be done</a:t>
            </a:r>
            <a:r>
              <a:rPr lang="zh-CN" altLang="en-US" b="1" kern="0" dirty="0">
                <a:solidFill>
                  <a:srgbClr val="000000"/>
                </a:solidFill>
                <a:effectLst>
                  <a:outerShdw blurRad="38100" dist="38100" dir="2700000" algn="tl">
                    <a:srgbClr val="000000">
                      <a:alpha val="43137"/>
                    </a:srgbClr>
                  </a:outerShdw>
                </a:effectLst>
                <a:cs typeface="Arial" pitchFamily="34" charset="0"/>
              </a:rPr>
              <a:t>？</a:t>
            </a:r>
          </a:p>
        </p:txBody>
      </p:sp>
      <p:sp>
        <p:nvSpPr>
          <p:cNvPr id="19" name="Rectangle 30"/>
          <p:cNvSpPr>
            <a:spLocks noChangeArrowheads="1"/>
          </p:cNvSpPr>
          <p:nvPr/>
        </p:nvSpPr>
        <p:spPr bwMode="auto">
          <a:xfrm>
            <a:off x="4881563" y="5421313"/>
            <a:ext cx="4678362" cy="647700"/>
          </a:xfrm>
          <a:prstGeom prst="rect">
            <a:avLst/>
          </a:prstGeom>
          <a:noFill/>
          <a:ln w="9525">
            <a:noFill/>
            <a:miter lim="800000"/>
            <a:headEnd/>
            <a:tailEnd/>
          </a:ln>
        </p:spPr>
        <p:txBody>
          <a:bodyPr/>
          <a:lstStyle/>
          <a:p>
            <a:pPr marL="850900" lvl="1" indent="-285750">
              <a:lnSpc>
                <a:spcPct val="80000"/>
              </a:lnSpc>
              <a:spcBef>
                <a:spcPct val="20000"/>
              </a:spcBef>
              <a:spcAft>
                <a:spcPts val="588"/>
              </a:spcAft>
              <a:buClr>
                <a:srgbClr val="FFCC66"/>
              </a:buClr>
              <a:buSzPct val="115000"/>
              <a:buFontTx/>
              <a:buChar char="–"/>
              <a:defRPr/>
            </a:pPr>
            <a:r>
              <a:rPr lang="en-US" altLang="zh-CN" b="1" i="1" dirty="0">
                <a:solidFill>
                  <a:srgbClr val="000000"/>
                </a:solidFill>
                <a:effectLst>
                  <a:outerShdw blurRad="38100" dist="38100" dir="2700000" algn="tl">
                    <a:srgbClr val="C0C0C0"/>
                  </a:outerShdw>
                </a:effectLst>
              </a:rPr>
              <a:t>How is it to be done</a:t>
            </a:r>
            <a:r>
              <a:rPr lang="zh-CN" altLang="en-US" b="1" dirty="0">
                <a:solidFill>
                  <a:srgbClr val="000000"/>
                </a:solidFill>
                <a:effectLst>
                  <a:outerShdw blurRad="38100" dist="38100" dir="2700000" algn="tl">
                    <a:srgbClr val="C0C0C0"/>
                  </a:outerShdw>
                </a:effectLst>
              </a:rPr>
              <a:t>？</a:t>
            </a:r>
          </a:p>
          <a:p>
            <a:pPr marL="374650" indent="-374650">
              <a:lnSpc>
                <a:spcPct val="80000"/>
              </a:lnSpc>
              <a:spcBef>
                <a:spcPct val="20000"/>
              </a:spcBef>
              <a:spcAft>
                <a:spcPts val="588"/>
              </a:spcAft>
              <a:buClr>
                <a:srgbClr val="FFCC66"/>
              </a:buClr>
              <a:buSzPct val="80000"/>
              <a:buFont typeface="Monotype Sorts" charset="2"/>
              <a:buChar char=""/>
              <a:defRPr/>
            </a:pPr>
            <a:endParaRPr lang="zh-CN" altLang="en-US" b="1" dirty="0">
              <a:solidFill>
                <a:srgbClr val="000000"/>
              </a:solidFill>
              <a:effectLst>
                <a:outerShdw blurRad="38100" dist="38100" dir="2700000" algn="tl">
                  <a:srgbClr val="C0C0C0"/>
                </a:outerShdw>
              </a:effectLst>
            </a:endParaRPr>
          </a:p>
        </p:txBody>
      </p:sp>
      <p:sp>
        <p:nvSpPr>
          <p:cNvPr id="35846" name="Text Box 8"/>
          <p:cNvSpPr txBox="1">
            <a:spLocks noChangeArrowheads="1"/>
          </p:cNvSpPr>
          <p:nvPr/>
        </p:nvSpPr>
        <p:spPr bwMode="auto">
          <a:xfrm>
            <a:off x="1946275" y="5273675"/>
            <a:ext cx="773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分析</a:t>
            </a:r>
          </a:p>
        </p:txBody>
      </p:sp>
      <p:sp>
        <p:nvSpPr>
          <p:cNvPr id="35847" name="Text Box 8"/>
          <p:cNvSpPr txBox="1">
            <a:spLocks noChangeArrowheads="1"/>
          </p:cNvSpPr>
          <p:nvPr/>
        </p:nvSpPr>
        <p:spPr bwMode="auto">
          <a:xfrm>
            <a:off x="2720975" y="4572000"/>
            <a:ext cx="773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设计</a:t>
            </a:r>
          </a:p>
        </p:txBody>
      </p:sp>
      <p:sp>
        <p:nvSpPr>
          <p:cNvPr id="35848" name="Text Box 8"/>
          <p:cNvSpPr txBox="1">
            <a:spLocks noChangeArrowheads="1"/>
          </p:cNvSpPr>
          <p:nvPr/>
        </p:nvSpPr>
        <p:spPr bwMode="auto">
          <a:xfrm>
            <a:off x="3513138" y="3844925"/>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编码</a:t>
            </a:r>
          </a:p>
        </p:txBody>
      </p:sp>
      <p:sp>
        <p:nvSpPr>
          <p:cNvPr id="35849" name="Text Box 8"/>
          <p:cNvSpPr txBox="1">
            <a:spLocks noChangeArrowheads="1"/>
          </p:cNvSpPr>
          <p:nvPr/>
        </p:nvSpPr>
        <p:spPr bwMode="auto">
          <a:xfrm>
            <a:off x="4267200" y="2878138"/>
            <a:ext cx="774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编译连接</a:t>
            </a:r>
          </a:p>
        </p:txBody>
      </p:sp>
      <p:sp>
        <p:nvSpPr>
          <p:cNvPr id="35850" name="Text Box 8"/>
          <p:cNvSpPr txBox="1">
            <a:spLocks noChangeArrowheads="1"/>
          </p:cNvSpPr>
          <p:nvPr/>
        </p:nvSpPr>
        <p:spPr bwMode="auto">
          <a:xfrm>
            <a:off x="5041900" y="2436813"/>
            <a:ext cx="77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运行</a:t>
            </a:r>
          </a:p>
        </p:txBody>
      </p:sp>
      <p:sp>
        <p:nvSpPr>
          <p:cNvPr id="35851" name="Text Box 8"/>
          <p:cNvSpPr txBox="1">
            <a:spLocks noChangeArrowheads="1"/>
          </p:cNvSpPr>
          <p:nvPr/>
        </p:nvSpPr>
        <p:spPr bwMode="auto">
          <a:xfrm>
            <a:off x="5815013" y="1484313"/>
            <a:ext cx="774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测试调试</a:t>
            </a:r>
          </a:p>
        </p:txBody>
      </p:sp>
      <p:sp>
        <p:nvSpPr>
          <p:cNvPr id="35852" name="Text Box 8"/>
          <p:cNvSpPr txBox="1">
            <a:spLocks noChangeArrowheads="1"/>
          </p:cNvSpPr>
          <p:nvPr/>
        </p:nvSpPr>
        <p:spPr bwMode="auto">
          <a:xfrm>
            <a:off x="7045325" y="981075"/>
            <a:ext cx="1292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50000"/>
              </a:spcBef>
              <a:spcAft>
                <a:spcPts val="588"/>
              </a:spcAft>
              <a:buSzPct val="80000"/>
              <a:buFont typeface="Wingdings" panose="05000000000000000000" pitchFamily="2" charset="2"/>
              <a:buNone/>
            </a:pPr>
            <a:r>
              <a:rPr lang="zh-CN" altLang="en-US" sz="2000" b="1">
                <a:latin typeface="黑体" panose="02010609060101010101" pitchFamily="49" charset="-122"/>
                <a:ea typeface="黑体" panose="02010609060101010101" pitchFamily="49" charset="-122"/>
              </a:rPr>
              <a:t>维护修改</a:t>
            </a:r>
          </a:p>
        </p:txBody>
      </p:sp>
      <p:pic>
        <p:nvPicPr>
          <p:cNvPr id="66573" name="Picture 1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8588" y="1341438"/>
            <a:ext cx="3455987" cy="290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5" descr="j0189219"/>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flipH="1">
            <a:off x="200025" y="1493838"/>
            <a:ext cx="7112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5"/>
          <p:cNvSpPr>
            <a:spLocks noChangeArrowheads="1"/>
          </p:cNvSpPr>
          <p:nvPr/>
        </p:nvSpPr>
        <p:spPr bwMode="auto">
          <a:xfrm>
            <a:off x="6105525" y="4275138"/>
            <a:ext cx="34559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defTabSz="7874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defTabSz="78740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defTabSz="7874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defTabSz="7874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defTabSz="7874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Bef>
                <a:spcPts val="600"/>
              </a:spcBef>
              <a:spcAft>
                <a:spcPts val="600"/>
              </a:spcAft>
              <a:buClrTx/>
              <a:buSzPct val="80000"/>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把源程序翻译成</a:t>
            </a:r>
            <a:r>
              <a:rPr lang="zh-CN" altLang="zh-CN" sz="2000" b="1" dirty="0">
                <a:latin typeface="Times New Roman" panose="02020603050405020304" pitchFamily="18" charset="0"/>
                <a:ea typeface="黑体" panose="02010609060101010101" pitchFamily="49" charset="-122"/>
                <a:cs typeface="Times New Roman" panose="02020603050405020304" pitchFamily="18" charset="0"/>
              </a:rPr>
              <a:t>逻辑上与之等价的</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机器语言表示的目标程序</a:t>
            </a:r>
            <a:endParaRPr lang="en-US" altLang="zh-CN" sz="1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Rectangle 5"/>
          <p:cNvSpPr>
            <a:spLocks noChangeArrowheads="1"/>
          </p:cNvSpPr>
          <p:nvPr/>
        </p:nvSpPr>
        <p:spPr bwMode="auto">
          <a:xfrm>
            <a:off x="128588" y="4202113"/>
            <a:ext cx="2087562"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defTabSz="787400">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defTabSz="78740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defTabSz="7874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defTabSz="7874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defTabSz="7874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defTabSz="7874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20000"/>
              </a:lnSpc>
              <a:spcBef>
                <a:spcPts val="600"/>
              </a:spcBef>
              <a:spcAft>
                <a:spcPts val="600"/>
              </a:spcAft>
              <a:buClrTx/>
              <a:buSzPct val="80000"/>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把</a:t>
            </a:r>
            <a:r>
              <a:rPr lang="zh-CN" altLang="en-US" sz="2000" b="1" dirty="0">
                <a:latin typeface="Arial" panose="020B0604020202020204" pitchFamily="34" charset="0"/>
                <a:ea typeface="黑体" panose="02010609060101010101" pitchFamily="49" charset="-122"/>
                <a:cs typeface="Arial" panose="020B0604020202020204" pitchFamily="34" charset="0"/>
              </a:rPr>
              <a:t>程序调用的库函数链接到目标程序中，生成可被</a:t>
            </a:r>
            <a:r>
              <a:rPr lang="en-US" altLang="zh-CN" sz="2000" b="1" dirty="0">
                <a:latin typeface="Arial" panose="020B0604020202020204" pitchFamily="34" charset="0"/>
                <a:ea typeface="黑体" panose="02010609060101010101" pitchFamily="49" charset="-122"/>
                <a:cs typeface="Arial" panose="020B0604020202020204" pitchFamily="34" charset="0"/>
              </a:rPr>
              <a:t>OS</a:t>
            </a:r>
            <a:r>
              <a:rPr lang="zh-CN" altLang="en-US" sz="2000" b="1" dirty="0">
                <a:latin typeface="Arial" panose="020B0604020202020204" pitchFamily="34" charset="0"/>
                <a:ea typeface="黑体" panose="02010609060101010101" pitchFamily="49" charset="-122"/>
                <a:cs typeface="Arial" panose="020B0604020202020204" pitchFamily="34" charset="0"/>
              </a:rPr>
              <a:t>执行的程序</a:t>
            </a:r>
            <a:endParaRPr lang="en-US" altLang="zh-CN" sz="2000" b="1" dirty="0">
              <a:latin typeface="Arial" panose="020B0604020202020204" pitchFamily="34" charset="0"/>
              <a:ea typeface="黑体" panose="02010609060101010101" pitchFamily="49" charset="-122"/>
              <a:cs typeface="Arial" panose="020B0604020202020204" pitchFamily="34" charset="0"/>
            </a:endParaRPr>
          </a:p>
        </p:txBody>
      </p:sp>
      <p:sp>
        <p:nvSpPr>
          <p:cNvPr id="29" name="椭圆 28"/>
          <p:cNvSpPr/>
          <p:nvPr/>
        </p:nvSpPr>
        <p:spPr>
          <a:xfrm>
            <a:off x="1255713" y="1341438"/>
            <a:ext cx="792162" cy="3587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30" name="椭圆 29"/>
          <p:cNvSpPr/>
          <p:nvPr/>
        </p:nvSpPr>
        <p:spPr>
          <a:xfrm>
            <a:off x="2676525" y="2468563"/>
            <a:ext cx="792163" cy="3587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31" name="椭圆 30"/>
          <p:cNvSpPr/>
          <p:nvPr/>
        </p:nvSpPr>
        <p:spPr>
          <a:xfrm>
            <a:off x="2689225" y="3490913"/>
            <a:ext cx="792163" cy="3603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32" name="椭圆 31"/>
          <p:cNvSpPr/>
          <p:nvPr/>
        </p:nvSpPr>
        <p:spPr>
          <a:xfrm>
            <a:off x="750888" y="2997200"/>
            <a:ext cx="936625" cy="3603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buFont typeface="Wingdings" panose="05000000000000000000" pitchFamily="2" charset="2"/>
              <a:buNone/>
              <a:defRPr/>
            </a:pPr>
            <a:endParaRPr lang="zh-CN" altLang="en-US"/>
          </a:p>
        </p:txBody>
      </p:sp>
      <p:sp>
        <p:nvSpPr>
          <p:cNvPr id="66582" name="灯片编号占位符 2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8DDEAF0D-A5D7-4FAF-A11E-FAFE8F3FD1C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36</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 calcmode="lin" valueType="num">
                                      <p:cBhvr additive="base">
                                        <p:cTn id="7" dur="500" fill="hold"/>
                                        <p:tgtEl>
                                          <p:spTgt spid="35846"/>
                                        </p:tgtEl>
                                        <p:attrNameLst>
                                          <p:attrName>ppt_x</p:attrName>
                                        </p:attrNameLst>
                                      </p:cBhvr>
                                      <p:tavLst>
                                        <p:tav tm="0">
                                          <p:val>
                                            <p:strVal val="0-#ppt_w/2"/>
                                          </p:val>
                                        </p:tav>
                                        <p:tav tm="100000">
                                          <p:val>
                                            <p:strVal val="#ppt_x"/>
                                          </p:val>
                                        </p:tav>
                                      </p:tavLst>
                                    </p:anim>
                                    <p:anim calcmode="lin" valueType="num">
                                      <p:cBhvr additive="base">
                                        <p:cTn id="8"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Effect transition="in" filter="wipe(left)">
                                      <p:cBhvr>
                                        <p:cTn id="13" dur="500"/>
                                        <p:tgtEl>
                                          <p:spTgt spid="18">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5847"/>
                                        </p:tgtEl>
                                        <p:attrNameLst>
                                          <p:attrName>style.visibility</p:attrName>
                                        </p:attrNameLst>
                                      </p:cBhvr>
                                      <p:to>
                                        <p:strVal val="visible"/>
                                      </p:to>
                                    </p:set>
                                    <p:anim calcmode="lin" valueType="num">
                                      <p:cBhvr additive="base">
                                        <p:cTn id="18" dur="500" fill="hold"/>
                                        <p:tgtEl>
                                          <p:spTgt spid="35847"/>
                                        </p:tgtEl>
                                        <p:attrNameLst>
                                          <p:attrName>ppt_x</p:attrName>
                                        </p:attrNameLst>
                                      </p:cBhvr>
                                      <p:tavLst>
                                        <p:tav tm="0">
                                          <p:val>
                                            <p:strVal val="0-#ppt_w/2"/>
                                          </p:val>
                                        </p:tav>
                                        <p:tav tm="100000">
                                          <p:val>
                                            <p:strVal val="#ppt_x"/>
                                          </p:val>
                                        </p:tav>
                                      </p:tavLst>
                                    </p:anim>
                                    <p:anim calcmode="lin" valueType="num">
                                      <p:cBhvr additive="base">
                                        <p:cTn id="19" dur="500" fill="hold"/>
                                        <p:tgtEl>
                                          <p:spTgt spid="35847"/>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left)">
                                      <p:cBhvr>
                                        <p:cTn id="24" dur="500"/>
                                        <p:tgtEl>
                                          <p:spTgt spid="1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5848"/>
                                        </p:tgtEl>
                                        <p:attrNameLst>
                                          <p:attrName>style.visibility</p:attrName>
                                        </p:attrNameLst>
                                      </p:cBhvr>
                                      <p:to>
                                        <p:strVal val="visible"/>
                                      </p:to>
                                    </p:set>
                                    <p:anim calcmode="lin" valueType="num">
                                      <p:cBhvr additive="base">
                                        <p:cTn id="29" dur="500" fill="hold"/>
                                        <p:tgtEl>
                                          <p:spTgt spid="35848"/>
                                        </p:tgtEl>
                                        <p:attrNameLst>
                                          <p:attrName>ppt_x</p:attrName>
                                        </p:attrNameLst>
                                      </p:cBhvr>
                                      <p:tavLst>
                                        <p:tav tm="0">
                                          <p:val>
                                            <p:strVal val="0-#ppt_w/2"/>
                                          </p:val>
                                        </p:tav>
                                        <p:tav tm="100000">
                                          <p:val>
                                            <p:strVal val="#ppt_x"/>
                                          </p:val>
                                        </p:tav>
                                      </p:tavLst>
                                    </p:anim>
                                    <p:anim calcmode="lin" valueType="num">
                                      <p:cBhvr additive="base">
                                        <p:cTn id="30" dur="500" fill="hold"/>
                                        <p:tgtEl>
                                          <p:spTgt spid="3584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500" fill="hold"/>
                                        <p:tgtEl>
                                          <p:spTgt spid="24"/>
                                        </p:tgtEl>
                                        <p:attrNameLst>
                                          <p:attrName>ppt_w</p:attrName>
                                        </p:attrNameLst>
                                      </p:cBhvr>
                                      <p:tavLst>
                                        <p:tav tm="0">
                                          <p:val>
                                            <p:fltVal val="0"/>
                                          </p:val>
                                        </p:tav>
                                        <p:tav tm="100000">
                                          <p:val>
                                            <p:strVal val="#ppt_w"/>
                                          </p:val>
                                        </p:tav>
                                      </p:tavLst>
                                    </p:anim>
                                    <p:anim calcmode="lin" valueType="num">
                                      <p:cBhvr>
                                        <p:cTn id="36" dur="500" fill="hold"/>
                                        <p:tgtEl>
                                          <p:spTgt spid="24"/>
                                        </p:tgtEl>
                                        <p:attrNameLst>
                                          <p:attrName>ppt_h</p:attrName>
                                        </p:attrNameLst>
                                      </p:cBhvr>
                                      <p:tavLst>
                                        <p:tav tm="0">
                                          <p:val>
                                            <p:fltVal val="0"/>
                                          </p:val>
                                        </p:tav>
                                        <p:tav tm="100000">
                                          <p:val>
                                            <p:strVal val="#ppt_h"/>
                                          </p:val>
                                        </p:tav>
                                      </p:tavLst>
                                    </p:anim>
                                  </p:childTnLst>
                                </p:cTn>
                              </p:par>
                              <p:par>
                                <p:cTn id="37" presetID="2" presetClass="entr" presetSubtype="1"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5849"/>
                                        </p:tgtEl>
                                        <p:attrNameLst>
                                          <p:attrName>style.visibility</p:attrName>
                                        </p:attrNameLst>
                                      </p:cBhvr>
                                      <p:to>
                                        <p:strVal val="visible"/>
                                      </p:to>
                                    </p:set>
                                    <p:anim calcmode="lin" valueType="num">
                                      <p:cBhvr additive="base">
                                        <p:cTn id="45" dur="500" fill="hold"/>
                                        <p:tgtEl>
                                          <p:spTgt spid="35849"/>
                                        </p:tgtEl>
                                        <p:attrNameLst>
                                          <p:attrName>ppt_x</p:attrName>
                                        </p:attrNameLst>
                                      </p:cBhvr>
                                      <p:tavLst>
                                        <p:tav tm="0">
                                          <p:val>
                                            <p:strVal val="0-#ppt_w/2"/>
                                          </p:val>
                                        </p:tav>
                                        <p:tav tm="100000">
                                          <p:val>
                                            <p:strVal val="#ppt_x"/>
                                          </p:val>
                                        </p:tav>
                                      </p:tavLst>
                                    </p:anim>
                                    <p:anim calcmode="lin" valueType="num">
                                      <p:cBhvr additive="base">
                                        <p:cTn id="46" dur="500" fill="hold"/>
                                        <p:tgtEl>
                                          <p:spTgt spid="35849"/>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6" fill="hold" nodeType="clickEffect">
                                  <p:stCondLst>
                                    <p:cond delay="0"/>
                                  </p:stCondLst>
                                  <p:childTnLst>
                                    <p:set>
                                      <p:cBhvr>
                                        <p:cTn id="50" dur="1" fill="hold">
                                          <p:stCondLst>
                                            <p:cond delay="0"/>
                                          </p:stCondLst>
                                        </p:cTn>
                                        <p:tgtEl>
                                          <p:spTgt spid="27">
                                            <p:txEl>
                                              <p:pRg st="0" end="0"/>
                                            </p:txEl>
                                          </p:spTgt>
                                        </p:tgtEl>
                                        <p:attrNameLst>
                                          <p:attrName>style.visibility</p:attrName>
                                        </p:attrNameLst>
                                      </p:cBhvr>
                                      <p:to>
                                        <p:strVal val="visible"/>
                                      </p:to>
                                    </p:set>
                                    <p:anim calcmode="lin" valueType="num">
                                      <p:cBhvr additive="base">
                                        <p:cTn id="51"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1"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additive="base">
                                        <p:cTn id="57" dur="500" fill="hold"/>
                                        <p:tgtEl>
                                          <p:spTgt spid="30"/>
                                        </p:tgtEl>
                                        <p:attrNameLst>
                                          <p:attrName>ppt_x</p:attrName>
                                        </p:attrNameLst>
                                      </p:cBhvr>
                                      <p:tavLst>
                                        <p:tav tm="0">
                                          <p:val>
                                            <p:strVal val="#ppt_x"/>
                                          </p:val>
                                        </p:tav>
                                        <p:tav tm="100000">
                                          <p:val>
                                            <p:strVal val="#ppt_x"/>
                                          </p:val>
                                        </p:tav>
                                      </p:tavLst>
                                    </p:anim>
                                    <p:anim calcmode="lin" valueType="num">
                                      <p:cBhvr additive="base">
                                        <p:cTn id="58"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12" fill="hold" nodeType="clickEffect">
                                  <p:stCondLst>
                                    <p:cond delay="0"/>
                                  </p:stCondLst>
                                  <p:childTnLst>
                                    <p:set>
                                      <p:cBhvr>
                                        <p:cTn id="62" dur="1" fill="hold">
                                          <p:stCondLst>
                                            <p:cond delay="0"/>
                                          </p:stCondLst>
                                        </p:cTn>
                                        <p:tgtEl>
                                          <p:spTgt spid="28">
                                            <p:txEl>
                                              <p:pRg st="0" end="0"/>
                                            </p:txEl>
                                          </p:spTgt>
                                        </p:tgtEl>
                                        <p:attrNameLst>
                                          <p:attrName>style.visibility</p:attrName>
                                        </p:attrNameLst>
                                      </p:cBhvr>
                                      <p:to>
                                        <p:strVal val="visible"/>
                                      </p:to>
                                    </p:set>
                                    <p:anim calcmode="lin" valueType="num">
                                      <p:cBhvr additive="base">
                                        <p:cTn id="63" dur="5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1"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ppt_x"/>
                                          </p:val>
                                        </p:tav>
                                        <p:tav tm="100000">
                                          <p:val>
                                            <p:strVal val="#ppt_x"/>
                                          </p:val>
                                        </p:tav>
                                      </p:tavLst>
                                    </p:anim>
                                    <p:anim calcmode="lin" valueType="num">
                                      <p:cBhvr additive="base">
                                        <p:cTn id="68" dur="500" fill="hold"/>
                                        <p:tgtEl>
                                          <p:spTgt spid="32"/>
                                        </p:tgtEl>
                                        <p:attrNameLst>
                                          <p:attrName>ppt_y</p:attrName>
                                        </p:attrNameLst>
                                      </p:cBhvr>
                                      <p:tavLst>
                                        <p:tav tm="0">
                                          <p:val>
                                            <p:strVal val="0-#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1"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fill="hold"/>
                                        <p:tgtEl>
                                          <p:spTgt spid="31"/>
                                        </p:tgtEl>
                                        <p:attrNameLst>
                                          <p:attrName>ppt_x</p:attrName>
                                        </p:attrNameLst>
                                      </p:cBhvr>
                                      <p:tavLst>
                                        <p:tav tm="0">
                                          <p:val>
                                            <p:strVal val="#ppt_x"/>
                                          </p:val>
                                        </p:tav>
                                        <p:tav tm="100000">
                                          <p:val>
                                            <p:strVal val="#ppt_x"/>
                                          </p:val>
                                        </p:tav>
                                      </p:tavLst>
                                    </p:anim>
                                    <p:anim calcmode="lin" valueType="num">
                                      <p:cBhvr additive="base">
                                        <p:cTn id="74"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35850"/>
                                        </p:tgtEl>
                                        <p:attrNameLst>
                                          <p:attrName>style.visibility</p:attrName>
                                        </p:attrNameLst>
                                      </p:cBhvr>
                                      <p:to>
                                        <p:strVal val="visible"/>
                                      </p:to>
                                    </p:set>
                                    <p:anim calcmode="lin" valueType="num">
                                      <p:cBhvr additive="base">
                                        <p:cTn id="79" dur="500" fill="hold"/>
                                        <p:tgtEl>
                                          <p:spTgt spid="35850"/>
                                        </p:tgtEl>
                                        <p:attrNameLst>
                                          <p:attrName>ppt_x</p:attrName>
                                        </p:attrNameLst>
                                      </p:cBhvr>
                                      <p:tavLst>
                                        <p:tav tm="0">
                                          <p:val>
                                            <p:strVal val="0-#ppt_w/2"/>
                                          </p:val>
                                        </p:tav>
                                        <p:tav tm="100000">
                                          <p:val>
                                            <p:strVal val="#ppt_x"/>
                                          </p:val>
                                        </p:tav>
                                      </p:tavLst>
                                    </p:anim>
                                    <p:anim calcmode="lin" valueType="num">
                                      <p:cBhvr additive="base">
                                        <p:cTn id="80" dur="500" fill="hold"/>
                                        <p:tgtEl>
                                          <p:spTgt spid="35850"/>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5851"/>
                                        </p:tgtEl>
                                        <p:attrNameLst>
                                          <p:attrName>style.visibility</p:attrName>
                                        </p:attrNameLst>
                                      </p:cBhvr>
                                      <p:to>
                                        <p:strVal val="visible"/>
                                      </p:to>
                                    </p:set>
                                    <p:anim calcmode="lin" valueType="num">
                                      <p:cBhvr additive="base">
                                        <p:cTn id="85" dur="500" fill="hold"/>
                                        <p:tgtEl>
                                          <p:spTgt spid="35851"/>
                                        </p:tgtEl>
                                        <p:attrNameLst>
                                          <p:attrName>ppt_x</p:attrName>
                                        </p:attrNameLst>
                                      </p:cBhvr>
                                      <p:tavLst>
                                        <p:tav tm="0">
                                          <p:val>
                                            <p:strVal val="0-#ppt_w/2"/>
                                          </p:val>
                                        </p:tav>
                                        <p:tav tm="100000">
                                          <p:val>
                                            <p:strVal val="#ppt_x"/>
                                          </p:val>
                                        </p:tav>
                                      </p:tavLst>
                                    </p:anim>
                                    <p:anim calcmode="lin" valueType="num">
                                      <p:cBhvr additive="base">
                                        <p:cTn id="86" dur="500" fill="hold"/>
                                        <p:tgtEl>
                                          <p:spTgt spid="35851"/>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35852"/>
                                        </p:tgtEl>
                                        <p:attrNameLst>
                                          <p:attrName>style.visibility</p:attrName>
                                        </p:attrNameLst>
                                      </p:cBhvr>
                                      <p:to>
                                        <p:strVal val="visible"/>
                                      </p:to>
                                    </p:set>
                                    <p:anim calcmode="lin" valueType="num">
                                      <p:cBhvr additive="base">
                                        <p:cTn id="91" dur="500" fill="hold"/>
                                        <p:tgtEl>
                                          <p:spTgt spid="35852"/>
                                        </p:tgtEl>
                                        <p:attrNameLst>
                                          <p:attrName>ppt_x</p:attrName>
                                        </p:attrNameLst>
                                      </p:cBhvr>
                                      <p:tavLst>
                                        <p:tav tm="0">
                                          <p:val>
                                            <p:strVal val="0-#ppt_w/2"/>
                                          </p:val>
                                        </p:tav>
                                        <p:tav tm="100000">
                                          <p:val>
                                            <p:strVal val="#ppt_x"/>
                                          </p:val>
                                        </p:tav>
                                      </p:tavLst>
                                    </p:anim>
                                    <p:anim calcmode="lin" valueType="num">
                                      <p:cBhvr additive="base">
                                        <p:cTn id="92" dur="500" fill="hold"/>
                                        <p:tgtEl>
                                          <p:spTgt spid="358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9" grpId="0"/>
      <p:bldP spid="35846" grpId="0"/>
      <p:bldP spid="35847" grpId="0"/>
      <p:bldP spid="35848" grpId="0"/>
      <p:bldP spid="35849" grpId="0"/>
      <p:bldP spid="35850" grpId="0"/>
      <p:bldP spid="35851" grpId="0"/>
      <p:bldP spid="35852" grpId="0"/>
      <p:bldP spid="29" grpId="0" animBg="1"/>
      <p:bldP spid="30" grpId="0" animBg="1"/>
      <p:bldP spid="31" grpId="0" animBg="1"/>
      <p:bldP spid="3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标题 6"/>
          <p:cNvSpPr>
            <a:spLocks noGrp="1"/>
          </p:cNvSpPr>
          <p:nvPr>
            <p:ph type="title"/>
          </p:nvPr>
        </p:nvSpPr>
        <p:spPr>
          <a:xfrm>
            <a:off x="495300" y="269875"/>
            <a:ext cx="8915400" cy="1143000"/>
          </a:xfrm>
        </p:spPr>
        <p:txBody>
          <a:bodyPr/>
          <a:lstStyle/>
          <a:p>
            <a:pPr eaLnBrk="1" hangingPunct="1"/>
            <a:r>
              <a:rPr lang="zh-CN" altLang="en-US" dirty="0">
                <a:latin typeface="Arial" panose="020B0604020202020204" pitchFamily="34" charset="0"/>
                <a:cs typeface="Arial" panose="020B0604020202020204" pitchFamily="34" charset="0"/>
              </a:rPr>
              <a:t>第</a:t>
            </a:r>
            <a:r>
              <a:rPr lang="en-US" altLang="zh-CN" dirty="0">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章 程序设计基本</a:t>
            </a:r>
            <a:r>
              <a:rPr lang="zh-CN" altLang="en-US" dirty="0" smtClean="0">
                <a:latin typeface="Arial" panose="020B0604020202020204" pitchFamily="34" charset="0"/>
                <a:cs typeface="Arial" panose="020B0604020202020204" pitchFamily="34" charset="0"/>
              </a:rPr>
              <a:t>知识</a:t>
            </a:r>
            <a:endParaRPr lang="zh-CN" altLang="en-US" dirty="0" smtClean="0"/>
          </a:p>
        </p:txBody>
      </p:sp>
      <p:grpSp>
        <p:nvGrpSpPr>
          <p:cNvPr id="72707" name="Group 6"/>
          <p:cNvGrpSpPr>
            <a:grpSpLocks/>
          </p:cNvGrpSpPr>
          <p:nvPr/>
        </p:nvGrpSpPr>
        <p:grpSpPr bwMode="auto">
          <a:xfrm>
            <a:off x="849313" y="2205038"/>
            <a:ext cx="3511550" cy="3852862"/>
            <a:chOff x="204" y="1162"/>
            <a:chExt cx="2212" cy="2427"/>
          </a:xfrm>
        </p:grpSpPr>
        <p:grpSp>
          <p:nvGrpSpPr>
            <p:cNvPr id="72794" name="Group 7"/>
            <p:cNvGrpSpPr>
              <a:grpSpLocks/>
            </p:cNvGrpSpPr>
            <p:nvPr/>
          </p:nvGrpSpPr>
          <p:grpSpPr bwMode="auto">
            <a:xfrm>
              <a:off x="204" y="1162"/>
              <a:ext cx="2212" cy="2427"/>
              <a:chOff x="418" y="1589"/>
              <a:chExt cx="2212" cy="2427"/>
            </a:xfrm>
          </p:grpSpPr>
          <p:sp>
            <p:nvSpPr>
              <p:cNvPr id="72797" name="Freeform 8"/>
              <p:cNvSpPr>
                <a:spLocks/>
              </p:cNvSpPr>
              <p:nvPr/>
            </p:nvSpPr>
            <p:spPr bwMode="auto">
              <a:xfrm>
                <a:off x="591" y="3779"/>
                <a:ext cx="394" cy="237"/>
              </a:xfrm>
              <a:custGeom>
                <a:avLst/>
                <a:gdLst>
                  <a:gd name="T0" fmla="*/ 252 w 394"/>
                  <a:gd name="T1" fmla="*/ 0 h 237"/>
                  <a:gd name="T2" fmla="*/ 51 w 394"/>
                  <a:gd name="T3" fmla="*/ 20 h 237"/>
                  <a:gd name="T4" fmla="*/ 31 w 394"/>
                  <a:gd name="T5" fmla="*/ 36 h 237"/>
                  <a:gd name="T6" fmla="*/ 19 w 394"/>
                  <a:gd name="T7" fmla="*/ 54 h 237"/>
                  <a:gd name="T8" fmla="*/ 8 w 394"/>
                  <a:gd name="T9" fmla="*/ 74 h 237"/>
                  <a:gd name="T10" fmla="*/ 0 w 394"/>
                  <a:gd name="T11" fmla="*/ 107 h 237"/>
                  <a:gd name="T12" fmla="*/ 1 w 394"/>
                  <a:gd name="T13" fmla="*/ 144 h 237"/>
                  <a:gd name="T14" fmla="*/ 8 w 394"/>
                  <a:gd name="T15" fmla="*/ 164 h 237"/>
                  <a:gd name="T16" fmla="*/ 19 w 394"/>
                  <a:gd name="T17" fmla="*/ 187 h 237"/>
                  <a:gd name="T18" fmla="*/ 40 w 394"/>
                  <a:gd name="T19" fmla="*/ 206 h 237"/>
                  <a:gd name="T20" fmla="*/ 65 w 394"/>
                  <a:gd name="T21" fmla="*/ 221 h 237"/>
                  <a:gd name="T22" fmla="*/ 90 w 394"/>
                  <a:gd name="T23" fmla="*/ 230 h 237"/>
                  <a:gd name="T24" fmla="*/ 112 w 394"/>
                  <a:gd name="T25" fmla="*/ 235 h 237"/>
                  <a:gd name="T26" fmla="*/ 141 w 394"/>
                  <a:gd name="T27" fmla="*/ 237 h 237"/>
                  <a:gd name="T28" fmla="*/ 138 w 394"/>
                  <a:gd name="T29" fmla="*/ 235 h 237"/>
                  <a:gd name="T30" fmla="*/ 295 w 394"/>
                  <a:gd name="T31" fmla="*/ 219 h 237"/>
                  <a:gd name="T32" fmla="*/ 394 w 394"/>
                  <a:gd name="T33" fmla="*/ 0 h 237"/>
                  <a:gd name="T34" fmla="*/ 252 w 394"/>
                  <a:gd name="T35" fmla="*/ 0 h 2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94"/>
                  <a:gd name="T55" fmla="*/ 0 h 237"/>
                  <a:gd name="T56" fmla="*/ 394 w 394"/>
                  <a:gd name="T57" fmla="*/ 237 h 2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94" h="237">
                    <a:moveTo>
                      <a:pt x="252" y="0"/>
                    </a:moveTo>
                    <a:lnTo>
                      <a:pt x="51" y="20"/>
                    </a:lnTo>
                    <a:lnTo>
                      <a:pt x="31" y="36"/>
                    </a:lnTo>
                    <a:lnTo>
                      <a:pt x="19" y="54"/>
                    </a:lnTo>
                    <a:lnTo>
                      <a:pt x="8" y="74"/>
                    </a:lnTo>
                    <a:lnTo>
                      <a:pt x="0" y="107"/>
                    </a:lnTo>
                    <a:lnTo>
                      <a:pt x="1" y="144"/>
                    </a:lnTo>
                    <a:lnTo>
                      <a:pt x="8" y="164"/>
                    </a:lnTo>
                    <a:lnTo>
                      <a:pt x="19" y="187"/>
                    </a:lnTo>
                    <a:lnTo>
                      <a:pt x="40" y="206"/>
                    </a:lnTo>
                    <a:lnTo>
                      <a:pt x="65" y="221"/>
                    </a:lnTo>
                    <a:lnTo>
                      <a:pt x="90" y="230"/>
                    </a:lnTo>
                    <a:lnTo>
                      <a:pt x="112" y="235"/>
                    </a:lnTo>
                    <a:lnTo>
                      <a:pt x="141" y="237"/>
                    </a:lnTo>
                    <a:lnTo>
                      <a:pt x="138" y="235"/>
                    </a:lnTo>
                    <a:lnTo>
                      <a:pt x="295" y="219"/>
                    </a:lnTo>
                    <a:lnTo>
                      <a:pt x="394" y="0"/>
                    </a:lnTo>
                    <a:lnTo>
                      <a:pt x="252" y="0"/>
                    </a:lnTo>
                    <a:close/>
                  </a:path>
                </a:pathLst>
              </a:custGeom>
              <a:solidFill>
                <a:srgbClr val="808080"/>
              </a:solidFill>
              <a:ln w="28575">
                <a:solidFill>
                  <a:srgbClr val="000000"/>
                </a:solidFill>
                <a:round/>
                <a:headEnd/>
                <a:tailEnd/>
              </a:ln>
            </p:spPr>
            <p:txBody>
              <a:bodyPr/>
              <a:lstStyle/>
              <a:p>
                <a:endParaRPr lang="zh-CN" altLang="en-US"/>
              </a:p>
            </p:txBody>
          </p:sp>
          <p:sp>
            <p:nvSpPr>
              <p:cNvPr id="72798" name="Freeform 9"/>
              <p:cNvSpPr>
                <a:spLocks/>
              </p:cNvSpPr>
              <p:nvPr/>
            </p:nvSpPr>
            <p:spPr bwMode="auto">
              <a:xfrm>
                <a:off x="418" y="1589"/>
                <a:ext cx="2212" cy="2425"/>
              </a:xfrm>
              <a:custGeom>
                <a:avLst/>
                <a:gdLst>
                  <a:gd name="T0" fmla="*/ 124 w 2212"/>
                  <a:gd name="T1" fmla="*/ 9 h 2425"/>
                  <a:gd name="T2" fmla="*/ 79 w 2212"/>
                  <a:gd name="T3" fmla="*/ 42 h 2425"/>
                  <a:gd name="T4" fmla="*/ 23 w 2212"/>
                  <a:gd name="T5" fmla="*/ 109 h 2425"/>
                  <a:gd name="T6" fmla="*/ 4 w 2212"/>
                  <a:gd name="T7" fmla="*/ 178 h 2425"/>
                  <a:gd name="T8" fmla="*/ 0 w 2212"/>
                  <a:gd name="T9" fmla="*/ 262 h 2425"/>
                  <a:gd name="T10" fmla="*/ 10 w 2212"/>
                  <a:gd name="T11" fmla="*/ 332 h 2425"/>
                  <a:gd name="T12" fmla="*/ 39 w 2212"/>
                  <a:gd name="T13" fmla="*/ 446 h 2425"/>
                  <a:gd name="T14" fmla="*/ 117 w 2212"/>
                  <a:gd name="T15" fmla="*/ 639 h 2425"/>
                  <a:gd name="T16" fmla="*/ 211 w 2212"/>
                  <a:gd name="T17" fmla="*/ 854 h 2425"/>
                  <a:gd name="T18" fmla="*/ 298 w 2212"/>
                  <a:gd name="T19" fmla="*/ 1076 h 2425"/>
                  <a:gd name="T20" fmla="*/ 365 w 2212"/>
                  <a:gd name="T21" fmla="*/ 1364 h 2425"/>
                  <a:gd name="T22" fmla="*/ 405 w 2212"/>
                  <a:gd name="T23" fmla="*/ 1713 h 2425"/>
                  <a:gd name="T24" fmla="*/ 425 w 2212"/>
                  <a:gd name="T25" fmla="*/ 1962 h 2425"/>
                  <a:gd name="T26" fmla="*/ 425 w 2212"/>
                  <a:gd name="T27" fmla="*/ 2150 h 2425"/>
                  <a:gd name="T28" fmla="*/ 399 w 2212"/>
                  <a:gd name="T29" fmla="*/ 2291 h 2425"/>
                  <a:gd name="T30" fmla="*/ 365 w 2212"/>
                  <a:gd name="T31" fmla="*/ 2371 h 2425"/>
                  <a:gd name="T32" fmla="*/ 333 w 2212"/>
                  <a:gd name="T33" fmla="*/ 2410 h 2425"/>
                  <a:gd name="T34" fmla="*/ 515 w 2212"/>
                  <a:gd name="T35" fmla="*/ 2403 h 2425"/>
                  <a:gd name="T36" fmla="*/ 1211 w 2212"/>
                  <a:gd name="T37" fmla="*/ 2311 h 2425"/>
                  <a:gd name="T38" fmla="*/ 1843 w 2212"/>
                  <a:gd name="T39" fmla="*/ 2257 h 2425"/>
                  <a:gd name="T40" fmla="*/ 2104 w 2212"/>
                  <a:gd name="T41" fmla="*/ 2264 h 2425"/>
                  <a:gd name="T42" fmla="*/ 2158 w 2212"/>
                  <a:gd name="T43" fmla="*/ 2223 h 2425"/>
                  <a:gd name="T44" fmla="*/ 2195 w 2212"/>
                  <a:gd name="T45" fmla="*/ 2132 h 2425"/>
                  <a:gd name="T46" fmla="*/ 2212 w 2212"/>
                  <a:gd name="T47" fmla="*/ 2002 h 2425"/>
                  <a:gd name="T48" fmla="*/ 2208 w 2212"/>
                  <a:gd name="T49" fmla="*/ 1837 h 2425"/>
                  <a:gd name="T50" fmla="*/ 2185 w 2212"/>
                  <a:gd name="T51" fmla="*/ 1592 h 2425"/>
                  <a:gd name="T52" fmla="*/ 2111 w 2212"/>
                  <a:gd name="T53" fmla="*/ 1277 h 2425"/>
                  <a:gd name="T54" fmla="*/ 2024 w 2212"/>
                  <a:gd name="T55" fmla="*/ 995 h 2425"/>
                  <a:gd name="T56" fmla="*/ 1923 w 2212"/>
                  <a:gd name="T57" fmla="*/ 734 h 2425"/>
                  <a:gd name="T58" fmla="*/ 1809 w 2212"/>
                  <a:gd name="T59" fmla="*/ 444 h 2425"/>
                  <a:gd name="T60" fmla="*/ 1771 w 2212"/>
                  <a:gd name="T61" fmla="*/ 317 h 2425"/>
                  <a:gd name="T62" fmla="*/ 1766 w 2212"/>
                  <a:gd name="T63" fmla="*/ 218 h 2425"/>
                  <a:gd name="T64" fmla="*/ 1809 w 2212"/>
                  <a:gd name="T65" fmla="*/ 22 h 2425"/>
                  <a:gd name="T66" fmla="*/ 139 w 2212"/>
                  <a:gd name="T67" fmla="*/ 5 h 24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212"/>
                  <a:gd name="T103" fmla="*/ 0 h 2425"/>
                  <a:gd name="T104" fmla="*/ 2212 w 2212"/>
                  <a:gd name="T105" fmla="*/ 2425 h 242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212" h="2425">
                    <a:moveTo>
                      <a:pt x="139" y="5"/>
                    </a:moveTo>
                    <a:lnTo>
                      <a:pt x="124" y="9"/>
                    </a:lnTo>
                    <a:lnTo>
                      <a:pt x="103" y="19"/>
                    </a:lnTo>
                    <a:lnTo>
                      <a:pt x="79" y="42"/>
                    </a:lnTo>
                    <a:lnTo>
                      <a:pt x="46" y="74"/>
                    </a:lnTo>
                    <a:lnTo>
                      <a:pt x="23" y="109"/>
                    </a:lnTo>
                    <a:lnTo>
                      <a:pt x="10" y="146"/>
                    </a:lnTo>
                    <a:lnTo>
                      <a:pt x="4" y="178"/>
                    </a:lnTo>
                    <a:lnTo>
                      <a:pt x="0" y="221"/>
                    </a:lnTo>
                    <a:lnTo>
                      <a:pt x="0" y="262"/>
                    </a:lnTo>
                    <a:lnTo>
                      <a:pt x="5" y="297"/>
                    </a:lnTo>
                    <a:lnTo>
                      <a:pt x="10" y="332"/>
                    </a:lnTo>
                    <a:lnTo>
                      <a:pt x="16" y="364"/>
                    </a:lnTo>
                    <a:lnTo>
                      <a:pt x="39" y="446"/>
                    </a:lnTo>
                    <a:lnTo>
                      <a:pt x="70" y="538"/>
                    </a:lnTo>
                    <a:lnTo>
                      <a:pt x="117" y="639"/>
                    </a:lnTo>
                    <a:lnTo>
                      <a:pt x="164" y="754"/>
                    </a:lnTo>
                    <a:lnTo>
                      <a:pt x="211" y="854"/>
                    </a:lnTo>
                    <a:lnTo>
                      <a:pt x="251" y="955"/>
                    </a:lnTo>
                    <a:lnTo>
                      <a:pt x="298" y="1076"/>
                    </a:lnTo>
                    <a:lnTo>
                      <a:pt x="338" y="1230"/>
                    </a:lnTo>
                    <a:lnTo>
                      <a:pt x="365" y="1364"/>
                    </a:lnTo>
                    <a:lnTo>
                      <a:pt x="392" y="1532"/>
                    </a:lnTo>
                    <a:lnTo>
                      <a:pt x="405" y="1713"/>
                    </a:lnTo>
                    <a:lnTo>
                      <a:pt x="425" y="1874"/>
                    </a:lnTo>
                    <a:lnTo>
                      <a:pt x="425" y="1962"/>
                    </a:lnTo>
                    <a:lnTo>
                      <a:pt x="425" y="2076"/>
                    </a:lnTo>
                    <a:lnTo>
                      <a:pt x="425" y="2150"/>
                    </a:lnTo>
                    <a:lnTo>
                      <a:pt x="420" y="2219"/>
                    </a:lnTo>
                    <a:lnTo>
                      <a:pt x="399" y="2291"/>
                    </a:lnTo>
                    <a:lnTo>
                      <a:pt x="384" y="2333"/>
                    </a:lnTo>
                    <a:lnTo>
                      <a:pt x="365" y="2371"/>
                    </a:lnTo>
                    <a:lnTo>
                      <a:pt x="346" y="2396"/>
                    </a:lnTo>
                    <a:lnTo>
                      <a:pt x="333" y="2410"/>
                    </a:lnTo>
                    <a:lnTo>
                      <a:pt x="318" y="2425"/>
                    </a:lnTo>
                    <a:lnTo>
                      <a:pt x="515" y="2403"/>
                    </a:lnTo>
                    <a:lnTo>
                      <a:pt x="896" y="2351"/>
                    </a:lnTo>
                    <a:lnTo>
                      <a:pt x="1211" y="2311"/>
                    </a:lnTo>
                    <a:lnTo>
                      <a:pt x="1573" y="2270"/>
                    </a:lnTo>
                    <a:lnTo>
                      <a:pt x="1843" y="2257"/>
                    </a:lnTo>
                    <a:lnTo>
                      <a:pt x="2051" y="2264"/>
                    </a:lnTo>
                    <a:lnTo>
                      <a:pt x="2104" y="2264"/>
                    </a:lnTo>
                    <a:lnTo>
                      <a:pt x="2138" y="2257"/>
                    </a:lnTo>
                    <a:lnTo>
                      <a:pt x="2158" y="2223"/>
                    </a:lnTo>
                    <a:lnTo>
                      <a:pt x="2178" y="2187"/>
                    </a:lnTo>
                    <a:lnTo>
                      <a:pt x="2195" y="2132"/>
                    </a:lnTo>
                    <a:lnTo>
                      <a:pt x="2205" y="2066"/>
                    </a:lnTo>
                    <a:lnTo>
                      <a:pt x="2212" y="2002"/>
                    </a:lnTo>
                    <a:lnTo>
                      <a:pt x="2212" y="1909"/>
                    </a:lnTo>
                    <a:lnTo>
                      <a:pt x="2208" y="1837"/>
                    </a:lnTo>
                    <a:lnTo>
                      <a:pt x="2205" y="1719"/>
                    </a:lnTo>
                    <a:lnTo>
                      <a:pt x="2185" y="1592"/>
                    </a:lnTo>
                    <a:lnTo>
                      <a:pt x="2151" y="1428"/>
                    </a:lnTo>
                    <a:lnTo>
                      <a:pt x="2111" y="1277"/>
                    </a:lnTo>
                    <a:lnTo>
                      <a:pt x="2078" y="1143"/>
                    </a:lnTo>
                    <a:lnTo>
                      <a:pt x="2024" y="995"/>
                    </a:lnTo>
                    <a:lnTo>
                      <a:pt x="1970" y="861"/>
                    </a:lnTo>
                    <a:lnTo>
                      <a:pt x="1923" y="734"/>
                    </a:lnTo>
                    <a:lnTo>
                      <a:pt x="1850" y="551"/>
                    </a:lnTo>
                    <a:lnTo>
                      <a:pt x="1809" y="444"/>
                    </a:lnTo>
                    <a:lnTo>
                      <a:pt x="1785" y="373"/>
                    </a:lnTo>
                    <a:lnTo>
                      <a:pt x="1771" y="317"/>
                    </a:lnTo>
                    <a:lnTo>
                      <a:pt x="1766" y="264"/>
                    </a:lnTo>
                    <a:lnTo>
                      <a:pt x="1766" y="218"/>
                    </a:lnTo>
                    <a:lnTo>
                      <a:pt x="1796" y="55"/>
                    </a:lnTo>
                    <a:lnTo>
                      <a:pt x="1809" y="22"/>
                    </a:lnTo>
                    <a:lnTo>
                      <a:pt x="161" y="0"/>
                    </a:lnTo>
                    <a:lnTo>
                      <a:pt x="139" y="5"/>
                    </a:lnTo>
                    <a:close/>
                  </a:path>
                </a:pathLst>
              </a:custGeom>
              <a:solidFill>
                <a:srgbClr val="FFFFFF"/>
              </a:solidFill>
              <a:ln w="28575">
                <a:solidFill>
                  <a:srgbClr val="000000"/>
                </a:solidFill>
                <a:round/>
                <a:headEnd/>
                <a:tailEnd/>
              </a:ln>
            </p:spPr>
            <p:txBody>
              <a:bodyPr/>
              <a:lstStyle/>
              <a:p>
                <a:endParaRPr lang="zh-CN" altLang="en-US"/>
              </a:p>
            </p:txBody>
          </p:sp>
          <p:sp>
            <p:nvSpPr>
              <p:cNvPr id="72799" name="Freeform 10"/>
              <p:cNvSpPr>
                <a:spLocks/>
              </p:cNvSpPr>
              <p:nvPr/>
            </p:nvSpPr>
            <p:spPr bwMode="auto">
              <a:xfrm>
                <a:off x="534" y="1700"/>
                <a:ext cx="182" cy="159"/>
              </a:xfrm>
              <a:custGeom>
                <a:avLst/>
                <a:gdLst>
                  <a:gd name="T0" fmla="*/ 182 w 182"/>
                  <a:gd name="T1" fmla="*/ 11 h 159"/>
                  <a:gd name="T2" fmla="*/ 135 w 182"/>
                  <a:gd name="T3" fmla="*/ 145 h 159"/>
                  <a:gd name="T4" fmla="*/ 88 w 182"/>
                  <a:gd name="T5" fmla="*/ 159 h 159"/>
                  <a:gd name="T6" fmla="*/ 65 w 182"/>
                  <a:gd name="T7" fmla="*/ 156 h 159"/>
                  <a:gd name="T8" fmla="*/ 41 w 182"/>
                  <a:gd name="T9" fmla="*/ 148 h 159"/>
                  <a:gd name="T10" fmla="*/ 23 w 182"/>
                  <a:gd name="T11" fmla="*/ 132 h 159"/>
                  <a:gd name="T12" fmla="*/ 11 w 182"/>
                  <a:gd name="T13" fmla="*/ 116 h 159"/>
                  <a:gd name="T14" fmla="*/ 3 w 182"/>
                  <a:gd name="T15" fmla="*/ 96 h 159"/>
                  <a:gd name="T16" fmla="*/ 0 w 182"/>
                  <a:gd name="T17" fmla="*/ 78 h 159"/>
                  <a:gd name="T18" fmla="*/ 1 w 182"/>
                  <a:gd name="T19" fmla="*/ 55 h 159"/>
                  <a:gd name="T20" fmla="*/ 8 w 182"/>
                  <a:gd name="T21" fmla="*/ 38 h 159"/>
                  <a:gd name="T22" fmla="*/ 21 w 182"/>
                  <a:gd name="T23" fmla="*/ 25 h 159"/>
                  <a:gd name="T24" fmla="*/ 38 w 182"/>
                  <a:gd name="T25" fmla="*/ 13 h 159"/>
                  <a:gd name="T26" fmla="*/ 58 w 182"/>
                  <a:gd name="T27" fmla="*/ 8 h 159"/>
                  <a:gd name="T28" fmla="*/ 75 w 182"/>
                  <a:gd name="T29" fmla="*/ 4 h 159"/>
                  <a:gd name="T30" fmla="*/ 94 w 182"/>
                  <a:gd name="T31" fmla="*/ 1 h 159"/>
                  <a:gd name="T32" fmla="*/ 108 w 182"/>
                  <a:gd name="T33" fmla="*/ 1 h 159"/>
                  <a:gd name="T34" fmla="*/ 127 w 182"/>
                  <a:gd name="T35" fmla="*/ 0 h 159"/>
                  <a:gd name="T36" fmla="*/ 182 w 182"/>
                  <a:gd name="T37" fmla="*/ 11 h 1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2"/>
                  <a:gd name="T58" fmla="*/ 0 h 159"/>
                  <a:gd name="T59" fmla="*/ 182 w 182"/>
                  <a:gd name="T60" fmla="*/ 159 h 1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2" h="159">
                    <a:moveTo>
                      <a:pt x="182" y="11"/>
                    </a:moveTo>
                    <a:lnTo>
                      <a:pt x="135" y="145"/>
                    </a:lnTo>
                    <a:lnTo>
                      <a:pt x="88" y="159"/>
                    </a:lnTo>
                    <a:lnTo>
                      <a:pt x="65" y="156"/>
                    </a:lnTo>
                    <a:lnTo>
                      <a:pt x="41" y="148"/>
                    </a:lnTo>
                    <a:lnTo>
                      <a:pt x="23" y="132"/>
                    </a:lnTo>
                    <a:lnTo>
                      <a:pt x="11" y="116"/>
                    </a:lnTo>
                    <a:lnTo>
                      <a:pt x="3" y="96"/>
                    </a:lnTo>
                    <a:lnTo>
                      <a:pt x="0" y="78"/>
                    </a:lnTo>
                    <a:lnTo>
                      <a:pt x="1" y="55"/>
                    </a:lnTo>
                    <a:lnTo>
                      <a:pt x="8" y="38"/>
                    </a:lnTo>
                    <a:lnTo>
                      <a:pt x="21" y="25"/>
                    </a:lnTo>
                    <a:lnTo>
                      <a:pt x="38" y="13"/>
                    </a:lnTo>
                    <a:lnTo>
                      <a:pt x="58" y="8"/>
                    </a:lnTo>
                    <a:lnTo>
                      <a:pt x="75" y="4"/>
                    </a:lnTo>
                    <a:lnTo>
                      <a:pt x="94" y="1"/>
                    </a:lnTo>
                    <a:lnTo>
                      <a:pt x="108" y="1"/>
                    </a:lnTo>
                    <a:lnTo>
                      <a:pt x="127" y="0"/>
                    </a:lnTo>
                    <a:lnTo>
                      <a:pt x="182" y="11"/>
                    </a:lnTo>
                    <a:close/>
                  </a:path>
                </a:pathLst>
              </a:custGeom>
              <a:solidFill>
                <a:srgbClr val="808080"/>
              </a:solidFill>
              <a:ln w="28575">
                <a:solidFill>
                  <a:srgbClr val="000000"/>
                </a:solidFill>
                <a:round/>
                <a:headEnd/>
                <a:tailEnd/>
              </a:ln>
            </p:spPr>
            <p:txBody>
              <a:bodyPr/>
              <a:lstStyle/>
              <a:p>
                <a:endParaRPr lang="zh-CN" altLang="en-US"/>
              </a:p>
            </p:txBody>
          </p:sp>
          <p:sp>
            <p:nvSpPr>
              <p:cNvPr id="72800" name="Freeform 11"/>
              <p:cNvSpPr>
                <a:spLocks/>
              </p:cNvSpPr>
              <p:nvPr/>
            </p:nvSpPr>
            <p:spPr bwMode="auto">
              <a:xfrm>
                <a:off x="604" y="1691"/>
                <a:ext cx="128" cy="130"/>
              </a:xfrm>
              <a:custGeom>
                <a:avLst/>
                <a:gdLst>
                  <a:gd name="T0" fmla="*/ 0 w 128"/>
                  <a:gd name="T1" fmla="*/ 16 h 130"/>
                  <a:gd name="T2" fmla="*/ 24 w 128"/>
                  <a:gd name="T3" fmla="*/ 32 h 130"/>
                  <a:gd name="T4" fmla="*/ 35 w 128"/>
                  <a:gd name="T5" fmla="*/ 49 h 130"/>
                  <a:gd name="T6" fmla="*/ 40 w 128"/>
                  <a:gd name="T7" fmla="*/ 66 h 130"/>
                  <a:gd name="T8" fmla="*/ 42 w 128"/>
                  <a:gd name="T9" fmla="*/ 91 h 130"/>
                  <a:gd name="T10" fmla="*/ 37 w 128"/>
                  <a:gd name="T11" fmla="*/ 111 h 130"/>
                  <a:gd name="T12" fmla="*/ 24 w 128"/>
                  <a:gd name="T13" fmla="*/ 130 h 130"/>
                  <a:gd name="T14" fmla="*/ 128 w 128"/>
                  <a:gd name="T15" fmla="*/ 107 h 130"/>
                  <a:gd name="T16" fmla="*/ 119 w 128"/>
                  <a:gd name="T17" fmla="*/ 0 h 130"/>
                  <a:gd name="T18" fmla="*/ 0 w 128"/>
                  <a:gd name="T19" fmla="*/ 16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8"/>
                  <a:gd name="T31" fmla="*/ 0 h 130"/>
                  <a:gd name="T32" fmla="*/ 128 w 128"/>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8" h="130">
                    <a:moveTo>
                      <a:pt x="0" y="16"/>
                    </a:moveTo>
                    <a:lnTo>
                      <a:pt x="24" y="32"/>
                    </a:lnTo>
                    <a:lnTo>
                      <a:pt x="35" y="49"/>
                    </a:lnTo>
                    <a:lnTo>
                      <a:pt x="40" y="66"/>
                    </a:lnTo>
                    <a:lnTo>
                      <a:pt x="42" y="91"/>
                    </a:lnTo>
                    <a:lnTo>
                      <a:pt x="37" y="111"/>
                    </a:lnTo>
                    <a:lnTo>
                      <a:pt x="24" y="130"/>
                    </a:lnTo>
                    <a:lnTo>
                      <a:pt x="128" y="107"/>
                    </a:lnTo>
                    <a:lnTo>
                      <a:pt x="119" y="0"/>
                    </a:lnTo>
                    <a:lnTo>
                      <a:pt x="0" y="16"/>
                    </a:lnTo>
                    <a:close/>
                  </a:path>
                </a:pathLst>
              </a:custGeom>
              <a:solidFill>
                <a:srgbClr val="000000"/>
              </a:solidFill>
              <a:ln w="28575">
                <a:solidFill>
                  <a:srgbClr val="000000"/>
                </a:solidFill>
                <a:round/>
                <a:headEnd/>
                <a:tailEnd/>
              </a:ln>
            </p:spPr>
            <p:txBody>
              <a:bodyPr/>
              <a:lstStyle/>
              <a:p>
                <a:endParaRPr lang="zh-CN" altLang="en-US"/>
              </a:p>
            </p:txBody>
          </p:sp>
          <p:sp>
            <p:nvSpPr>
              <p:cNvPr id="72801" name="Freeform 12"/>
              <p:cNvSpPr>
                <a:spLocks/>
              </p:cNvSpPr>
              <p:nvPr/>
            </p:nvSpPr>
            <p:spPr bwMode="auto">
              <a:xfrm>
                <a:off x="568" y="1590"/>
                <a:ext cx="1853" cy="269"/>
              </a:xfrm>
              <a:custGeom>
                <a:avLst/>
                <a:gdLst>
                  <a:gd name="T0" fmla="*/ 1753 w 1853"/>
                  <a:gd name="T1" fmla="*/ 21 h 269"/>
                  <a:gd name="T2" fmla="*/ 0 w 1853"/>
                  <a:gd name="T3" fmla="*/ 0 h 269"/>
                  <a:gd name="T4" fmla="*/ 50 w 1853"/>
                  <a:gd name="T5" fmla="*/ 8 h 269"/>
                  <a:gd name="T6" fmla="*/ 68 w 1853"/>
                  <a:gd name="T7" fmla="*/ 14 h 269"/>
                  <a:gd name="T8" fmla="*/ 87 w 1853"/>
                  <a:gd name="T9" fmla="*/ 22 h 269"/>
                  <a:gd name="T10" fmla="*/ 99 w 1853"/>
                  <a:gd name="T11" fmla="*/ 34 h 269"/>
                  <a:gd name="T12" fmla="*/ 113 w 1853"/>
                  <a:gd name="T13" fmla="*/ 52 h 269"/>
                  <a:gd name="T14" fmla="*/ 120 w 1853"/>
                  <a:gd name="T15" fmla="*/ 73 h 269"/>
                  <a:gd name="T16" fmla="*/ 125 w 1853"/>
                  <a:gd name="T17" fmla="*/ 95 h 269"/>
                  <a:gd name="T18" fmla="*/ 127 w 1853"/>
                  <a:gd name="T19" fmla="*/ 118 h 269"/>
                  <a:gd name="T20" fmla="*/ 128 w 1853"/>
                  <a:gd name="T21" fmla="*/ 137 h 269"/>
                  <a:gd name="T22" fmla="*/ 125 w 1853"/>
                  <a:gd name="T23" fmla="*/ 165 h 269"/>
                  <a:gd name="T24" fmla="*/ 120 w 1853"/>
                  <a:gd name="T25" fmla="*/ 192 h 269"/>
                  <a:gd name="T26" fmla="*/ 108 w 1853"/>
                  <a:gd name="T27" fmla="*/ 215 h 269"/>
                  <a:gd name="T28" fmla="*/ 89 w 1853"/>
                  <a:gd name="T29" fmla="*/ 239 h 269"/>
                  <a:gd name="T30" fmla="*/ 65 w 1853"/>
                  <a:gd name="T31" fmla="*/ 254 h 269"/>
                  <a:gd name="T32" fmla="*/ 46 w 1853"/>
                  <a:gd name="T33" fmla="*/ 269 h 269"/>
                  <a:gd name="T34" fmla="*/ 161 w 1853"/>
                  <a:gd name="T35" fmla="*/ 255 h 269"/>
                  <a:gd name="T36" fmla="*/ 289 w 1853"/>
                  <a:gd name="T37" fmla="*/ 235 h 269"/>
                  <a:gd name="T38" fmla="*/ 491 w 1853"/>
                  <a:gd name="T39" fmla="*/ 222 h 269"/>
                  <a:gd name="T40" fmla="*/ 659 w 1853"/>
                  <a:gd name="T41" fmla="*/ 208 h 269"/>
                  <a:gd name="T42" fmla="*/ 860 w 1853"/>
                  <a:gd name="T43" fmla="*/ 208 h 269"/>
                  <a:gd name="T44" fmla="*/ 1081 w 1853"/>
                  <a:gd name="T45" fmla="*/ 215 h 269"/>
                  <a:gd name="T46" fmla="*/ 1356 w 1853"/>
                  <a:gd name="T47" fmla="*/ 222 h 269"/>
                  <a:gd name="T48" fmla="*/ 1619 w 1853"/>
                  <a:gd name="T49" fmla="*/ 242 h 269"/>
                  <a:gd name="T50" fmla="*/ 1726 w 1853"/>
                  <a:gd name="T51" fmla="*/ 262 h 269"/>
                  <a:gd name="T52" fmla="*/ 1757 w 1853"/>
                  <a:gd name="T53" fmla="*/ 266 h 269"/>
                  <a:gd name="T54" fmla="*/ 1790 w 1853"/>
                  <a:gd name="T55" fmla="*/ 268 h 269"/>
                  <a:gd name="T56" fmla="*/ 1814 w 1853"/>
                  <a:gd name="T57" fmla="*/ 262 h 269"/>
                  <a:gd name="T58" fmla="*/ 1834 w 1853"/>
                  <a:gd name="T59" fmla="*/ 242 h 269"/>
                  <a:gd name="T60" fmla="*/ 1845 w 1853"/>
                  <a:gd name="T61" fmla="*/ 217 h 269"/>
                  <a:gd name="T62" fmla="*/ 1850 w 1853"/>
                  <a:gd name="T63" fmla="*/ 196 h 269"/>
                  <a:gd name="T64" fmla="*/ 1853 w 1853"/>
                  <a:gd name="T65" fmla="*/ 173 h 269"/>
                  <a:gd name="T66" fmla="*/ 1848 w 1853"/>
                  <a:gd name="T67" fmla="*/ 130 h 269"/>
                  <a:gd name="T68" fmla="*/ 1839 w 1853"/>
                  <a:gd name="T69" fmla="*/ 103 h 269"/>
                  <a:gd name="T70" fmla="*/ 1826 w 1853"/>
                  <a:gd name="T71" fmla="*/ 75 h 269"/>
                  <a:gd name="T72" fmla="*/ 1814 w 1853"/>
                  <a:gd name="T73" fmla="*/ 57 h 269"/>
                  <a:gd name="T74" fmla="*/ 1799 w 1853"/>
                  <a:gd name="T75" fmla="*/ 43 h 269"/>
                  <a:gd name="T76" fmla="*/ 1778 w 1853"/>
                  <a:gd name="T77" fmla="*/ 28 h 269"/>
                  <a:gd name="T78" fmla="*/ 1753 w 1853"/>
                  <a:gd name="T79" fmla="*/ 21 h 26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853"/>
                  <a:gd name="T121" fmla="*/ 0 h 269"/>
                  <a:gd name="T122" fmla="*/ 1853 w 1853"/>
                  <a:gd name="T123" fmla="*/ 269 h 26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853" h="269">
                    <a:moveTo>
                      <a:pt x="1753" y="21"/>
                    </a:moveTo>
                    <a:lnTo>
                      <a:pt x="0" y="0"/>
                    </a:lnTo>
                    <a:lnTo>
                      <a:pt x="50" y="8"/>
                    </a:lnTo>
                    <a:lnTo>
                      <a:pt x="68" y="14"/>
                    </a:lnTo>
                    <a:lnTo>
                      <a:pt x="87" y="22"/>
                    </a:lnTo>
                    <a:lnTo>
                      <a:pt x="99" y="34"/>
                    </a:lnTo>
                    <a:lnTo>
                      <a:pt x="113" y="52"/>
                    </a:lnTo>
                    <a:lnTo>
                      <a:pt x="120" y="73"/>
                    </a:lnTo>
                    <a:lnTo>
                      <a:pt x="125" y="95"/>
                    </a:lnTo>
                    <a:lnTo>
                      <a:pt x="127" y="118"/>
                    </a:lnTo>
                    <a:lnTo>
                      <a:pt x="128" y="137"/>
                    </a:lnTo>
                    <a:lnTo>
                      <a:pt x="125" y="165"/>
                    </a:lnTo>
                    <a:lnTo>
                      <a:pt x="120" y="192"/>
                    </a:lnTo>
                    <a:lnTo>
                      <a:pt x="108" y="215"/>
                    </a:lnTo>
                    <a:lnTo>
                      <a:pt x="89" y="239"/>
                    </a:lnTo>
                    <a:lnTo>
                      <a:pt x="65" y="254"/>
                    </a:lnTo>
                    <a:lnTo>
                      <a:pt x="46" y="269"/>
                    </a:lnTo>
                    <a:lnTo>
                      <a:pt x="161" y="255"/>
                    </a:lnTo>
                    <a:lnTo>
                      <a:pt x="289" y="235"/>
                    </a:lnTo>
                    <a:lnTo>
                      <a:pt x="491" y="222"/>
                    </a:lnTo>
                    <a:lnTo>
                      <a:pt x="659" y="208"/>
                    </a:lnTo>
                    <a:lnTo>
                      <a:pt x="860" y="208"/>
                    </a:lnTo>
                    <a:lnTo>
                      <a:pt x="1081" y="215"/>
                    </a:lnTo>
                    <a:lnTo>
                      <a:pt x="1356" y="222"/>
                    </a:lnTo>
                    <a:lnTo>
                      <a:pt x="1619" y="242"/>
                    </a:lnTo>
                    <a:lnTo>
                      <a:pt x="1726" y="262"/>
                    </a:lnTo>
                    <a:lnTo>
                      <a:pt x="1757" y="266"/>
                    </a:lnTo>
                    <a:lnTo>
                      <a:pt x="1790" y="268"/>
                    </a:lnTo>
                    <a:lnTo>
                      <a:pt x="1814" y="262"/>
                    </a:lnTo>
                    <a:lnTo>
                      <a:pt x="1834" y="242"/>
                    </a:lnTo>
                    <a:lnTo>
                      <a:pt x="1845" y="217"/>
                    </a:lnTo>
                    <a:lnTo>
                      <a:pt x="1850" y="196"/>
                    </a:lnTo>
                    <a:lnTo>
                      <a:pt x="1853" y="173"/>
                    </a:lnTo>
                    <a:lnTo>
                      <a:pt x="1848" y="130"/>
                    </a:lnTo>
                    <a:lnTo>
                      <a:pt x="1839" y="103"/>
                    </a:lnTo>
                    <a:lnTo>
                      <a:pt x="1826" y="75"/>
                    </a:lnTo>
                    <a:lnTo>
                      <a:pt x="1814" y="57"/>
                    </a:lnTo>
                    <a:lnTo>
                      <a:pt x="1799" y="43"/>
                    </a:lnTo>
                    <a:lnTo>
                      <a:pt x="1778" y="28"/>
                    </a:lnTo>
                    <a:lnTo>
                      <a:pt x="1753" y="21"/>
                    </a:lnTo>
                    <a:close/>
                  </a:path>
                </a:pathLst>
              </a:custGeom>
              <a:solidFill>
                <a:srgbClr val="FFFFFF"/>
              </a:solidFill>
              <a:ln w="28575">
                <a:solidFill>
                  <a:srgbClr val="000000"/>
                </a:solidFill>
                <a:round/>
                <a:headEnd/>
                <a:tailEnd/>
              </a:ln>
            </p:spPr>
            <p:txBody>
              <a:bodyPr/>
              <a:lstStyle/>
              <a:p>
                <a:endParaRPr lang="zh-CN" altLang="en-US"/>
              </a:p>
            </p:txBody>
          </p:sp>
        </p:grpSp>
        <p:sp>
          <p:nvSpPr>
            <p:cNvPr id="72795" name="WordArt 13"/>
            <p:cNvSpPr>
              <a:spLocks noChangeArrowheads="1" noChangeShapeType="1" noTextEdit="1"/>
            </p:cNvSpPr>
            <p:nvPr/>
          </p:nvSpPr>
          <p:spPr bwMode="auto">
            <a:xfrm>
              <a:off x="697" y="2059"/>
              <a:ext cx="1308" cy="234"/>
            </a:xfrm>
            <a:prstGeom prst="rect">
              <a:avLst/>
            </a:prstGeom>
          </p:spPr>
          <p:txBody>
            <a:bodyPr spcFirstLastPara="1" wrap="none" fromWordArt="1">
              <a:prstTxWarp prst="textArchUp">
                <a:avLst>
                  <a:gd name="adj" fmla="val 10800004"/>
                </a:avLst>
              </a:prstTxWarp>
            </a:bodyPr>
            <a:lstStyle/>
            <a:p>
              <a:pPr algn="ctr"/>
              <a:r>
                <a:rPr lang="en-US" altLang="zh-CN" sz="4800" b="1" kern="10" dirty="0">
                  <a:ln w="9525">
                    <a:solidFill>
                      <a:srgbClr val="000000"/>
                    </a:solidFill>
                    <a:round/>
                    <a:headEnd/>
                    <a:tailEnd/>
                  </a:ln>
                  <a:solidFill>
                    <a:srgbClr val="000000"/>
                  </a:solidFill>
                  <a:latin typeface="Brush Script MT" panose="03060802040406070304" pitchFamily="66" charset="0"/>
                </a:rPr>
                <a:t>Thank you for </a:t>
              </a:r>
            </a:p>
            <a:p>
              <a:pPr algn="ctr"/>
              <a:r>
                <a:rPr lang="en-US" altLang="zh-CN" sz="4800" b="1" kern="10" dirty="0">
                  <a:ln w="9525">
                    <a:solidFill>
                      <a:srgbClr val="000000"/>
                    </a:solidFill>
                    <a:round/>
                    <a:headEnd/>
                    <a:tailEnd/>
                  </a:ln>
                  <a:solidFill>
                    <a:srgbClr val="000000"/>
                  </a:solidFill>
                  <a:latin typeface="Brush Script MT" panose="03060802040406070304" pitchFamily="66" charset="0"/>
                </a:rPr>
                <a:t>your attention !</a:t>
              </a:r>
              <a:endParaRPr lang="zh-CN" altLang="en-US" sz="4800" b="1" kern="10" dirty="0">
                <a:ln w="9525">
                  <a:solidFill>
                    <a:srgbClr val="000000"/>
                  </a:solidFill>
                  <a:round/>
                  <a:headEnd/>
                  <a:tailEnd/>
                </a:ln>
                <a:solidFill>
                  <a:srgbClr val="000000"/>
                </a:solidFill>
                <a:latin typeface="Brush Script MT" panose="03060802040406070304" pitchFamily="66" charset="0"/>
              </a:endParaRPr>
            </a:p>
          </p:txBody>
        </p:sp>
        <p:graphicFrame>
          <p:nvGraphicFramePr>
            <p:cNvPr id="72796" name="Object 14"/>
            <p:cNvGraphicFramePr>
              <a:graphicFrameLocks noChangeAspect="1"/>
            </p:cNvGraphicFramePr>
            <p:nvPr/>
          </p:nvGraphicFramePr>
          <p:xfrm>
            <a:off x="2015" y="2665"/>
            <a:ext cx="342" cy="317"/>
          </p:xfrm>
          <a:graphic>
            <a:graphicData uri="http://schemas.openxmlformats.org/presentationml/2006/ole">
              <mc:AlternateContent xmlns:mc="http://schemas.openxmlformats.org/markup-compatibility/2006">
                <mc:Choice xmlns:v="urn:schemas-microsoft-com:vml" Requires="v">
                  <p:oleObj spid="_x0000_s72839" name="Photo Editor 照片" r:id="rId4" imgW="771429" imgH="714286" progId="">
                    <p:embed/>
                  </p:oleObj>
                </mc:Choice>
                <mc:Fallback>
                  <p:oleObj name="Photo Editor 照片" r:id="rId4" imgW="771429" imgH="714286" progId="">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5" y="2665"/>
                          <a:ext cx="342" cy="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72709" name="灯片编号占位符 99"/>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7344CA4F-F48E-41C7-8D60-356ECB63E891}"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37</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
        <p:nvSpPr>
          <p:cNvPr id="2" name="矩形 1"/>
          <p:cNvSpPr/>
          <p:nvPr/>
        </p:nvSpPr>
        <p:spPr>
          <a:xfrm>
            <a:off x="4658172" y="2766219"/>
            <a:ext cx="4752528" cy="272732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269" name="Rectangle 3"/>
          <p:cNvSpPr txBox="1">
            <a:spLocks noChangeArrowheads="1"/>
          </p:cNvSpPr>
          <p:nvPr/>
        </p:nvSpPr>
        <p:spPr bwMode="auto">
          <a:xfrm>
            <a:off x="5601072" y="3571338"/>
            <a:ext cx="2376487" cy="1008062"/>
          </a:xfrm>
          <a:prstGeom prst="rect">
            <a:avLst/>
          </a:prstGeom>
          <a:noFill/>
          <a:ln w="9525">
            <a:noFill/>
            <a:miter lim="800000"/>
            <a:headEnd/>
            <a:tailEnd/>
          </a:ln>
        </p:spPr>
        <p:txBody>
          <a:bodyPr/>
          <a:lstStyle/>
          <a:p>
            <a:pPr marL="342900" indent="-342900" algn="ctr" eaLnBrk="1" hangingPunct="1">
              <a:spcBef>
                <a:spcPct val="20000"/>
              </a:spcBef>
              <a:buClr>
                <a:schemeClr val="tx2"/>
              </a:buClr>
              <a:buSzPct val="50000"/>
              <a:buFont typeface="Monotype Sorts"/>
              <a:buChar char=""/>
              <a:defRPr/>
            </a:pPr>
            <a:r>
              <a:rPr lang="en-US" altLang="zh-CN" sz="5400" dirty="0">
                <a:solidFill>
                  <a:schemeClr val="bg2">
                    <a:lumMod val="90000"/>
                  </a:schemeClr>
                </a:solidFill>
                <a:cs typeface="Arial" pitchFamily="34" charset="0"/>
              </a:rPr>
              <a:t>Q&amp;A</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5160" y="269874"/>
            <a:ext cx="8915400" cy="1143000"/>
          </a:xfrm>
        </p:spPr>
        <p:txBody>
          <a:bodyPr/>
          <a:lstStyle/>
          <a:p>
            <a:pPr eaLnBrk="1" hangingPunct="1"/>
            <a:r>
              <a:rPr lang="zh-CN" altLang="en-US" dirty="0" smtClean="0"/>
              <a:t>成绩评定</a:t>
            </a: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38</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sp>
        <p:nvSpPr>
          <p:cNvPr id="2" name="内容占位符 1"/>
          <p:cNvSpPr>
            <a:spLocks noGrp="1"/>
          </p:cNvSpPr>
          <p:nvPr>
            <p:ph idx="1"/>
          </p:nvPr>
        </p:nvSpPr>
        <p:spPr>
          <a:xfrm>
            <a:off x="257510" y="1563687"/>
            <a:ext cx="9410700" cy="4686300"/>
          </a:xfrm>
        </p:spPr>
        <p:txBody>
          <a:bodyPr/>
          <a:lstStyle/>
          <a:p>
            <a:r>
              <a:rPr lang="zh-CN" altLang="en-US" dirty="0" smtClean="0"/>
              <a:t>平时成绩：</a:t>
            </a:r>
            <a:endParaRPr lang="en-US" altLang="zh-CN" dirty="0" smtClean="0"/>
          </a:p>
          <a:p>
            <a:pPr lvl="1"/>
            <a:r>
              <a:rPr lang="zh-CN" altLang="zh-CN" sz="1600" b="1" dirty="0"/>
              <a:t>（</a:t>
            </a:r>
            <a:r>
              <a:rPr lang="en-US" altLang="zh-CN" sz="1600" b="1" dirty="0"/>
              <a:t>1</a:t>
            </a:r>
            <a:r>
              <a:rPr lang="zh-CN" altLang="zh-CN" sz="1600" b="1" dirty="0"/>
              <a:t>）课堂表现（</a:t>
            </a:r>
            <a:r>
              <a:rPr lang="en-US" altLang="zh-CN" sz="1600" b="1" dirty="0"/>
              <a:t>20 </a:t>
            </a:r>
            <a:r>
              <a:rPr lang="zh-CN" altLang="zh-CN" sz="1600" b="1" dirty="0"/>
              <a:t>分</a:t>
            </a:r>
            <a:r>
              <a:rPr lang="zh-CN" altLang="zh-CN" sz="1600" b="1" dirty="0" smtClean="0"/>
              <a:t>）</a:t>
            </a:r>
            <a:r>
              <a:rPr lang="zh-CN" altLang="zh-CN" sz="1600" dirty="0" smtClean="0"/>
              <a:t>：通过学生在课堂上发言、提问情况，评价学生的课程参与能力。</a:t>
            </a:r>
          </a:p>
          <a:p>
            <a:pPr lvl="1"/>
            <a:r>
              <a:rPr lang="zh-CN" altLang="zh-CN" sz="1600" b="1" dirty="0" smtClean="0"/>
              <a:t>（</a:t>
            </a:r>
            <a:r>
              <a:rPr lang="en-US" altLang="zh-CN" sz="1600" b="1" dirty="0" smtClean="0"/>
              <a:t>2</a:t>
            </a:r>
            <a:r>
              <a:rPr lang="zh-CN" altLang="zh-CN" sz="1600" b="1" dirty="0" smtClean="0"/>
              <a:t>）实验完成情况（</a:t>
            </a:r>
            <a:r>
              <a:rPr lang="en-US" altLang="zh-CN" sz="1600" b="1" dirty="0" smtClean="0"/>
              <a:t>40</a:t>
            </a:r>
            <a:r>
              <a:rPr lang="zh-CN" altLang="zh-CN" sz="1600" b="1" dirty="0" smtClean="0"/>
              <a:t>分）</a:t>
            </a:r>
            <a:r>
              <a:rPr lang="zh-CN" altLang="zh-CN" sz="1600" dirty="0" smtClean="0"/>
              <a:t>：理论课程的阅读材料完成情况，实验课程的实验项目完成情况，主要评价学生的实际操作能力。</a:t>
            </a:r>
          </a:p>
          <a:p>
            <a:pPr lvl="1"/>
            <a:r>
              <a:rPr lang="zh-CN" altLang="zh-CN" sz="1600" b="1" dirty="0" smtClean="0"/>
              <a:t>（</a:t>
            </a:r>
            <a:r>
              <a:rPr lang="en-US" altLang="zh-CN" sz="1600" b="1" dirty="0"/>
              <a:t>3</a:t>
            </a:r>
            <a:r>
              <a:rPr lang="zh-CN" altLang="zh-CN" sz="1600" b="1" dirty="0"/>
              <a:t>）阶段性测验（</a:t>
            </a:r>
            <a:r>
              <a:rPr lang="en-US" altLang="zh-CN" sz="1600" b="1" dirty="0"/>
              <a:t>20</a:t>
            </a:r>
            <a:r>
              <a:rPr lang="zh-CN" altLang="zh-CN" sz="1600" b="1" dirty="0"/>
              <a:t>分）</a:t>
            </a:r>
            <a:r>
              <a:rPr lang="zh-CN" altLang="zh-CN" sz="1600" dirty="0"/>
              <a:t>：学生在平时测试、期中测验中综合应用课程知识的情况。</a:t>
            </a:r>
            <a:endParaRPr lang="en-US" altLang="zh-CN" sz="1600" dirty="0"/>
          </a:p>
          <a:p>
            <a:pPr lvl="1"/>
            <a:r>
              <a:rPr lang="zh-CN" altLang="zh-CN" sz="1600" b="1" dirty="0"/>
              <a:t>（</a:t>
            </a:r>
            <a:r>
              <a:rPr lang="en-US" altLang="zh-CN" sz="1600" b="1" dirty="0"/>
              <a:t>4</a:t>
            </a:r>
            <a:r>
              <a:rPr lang="zh-CN" altLang="zh-CN" sz="1600" b="1" dirty="0"/>
              <a:t>）课堂考勤（</a:t>
            </a:r>
            <a:r>
              <a:rPr lang="en-US" altLang="zh-CN" sz="1600" b="1" dirty="0"/>
              <a:t>20</a:t>
            </a:r>
            <a:r>
              <a:rPr lang="zh-CN" altLang="zh-CN" sz="1600" b="1" dirty="0"/>
              <a:t>分）</a:t>
            </a:r>
            <a:r>
              <a:rPr lang="zh-CN" altLang="zh-CN" sz="1600" dirty="0" smtClean="0"/>
              <a:t>。</a:t>
            </a:r>
            <a:endParaRPr lang="en-US" altLang="zh-CN" dirty="0" smtClean="0"/>
          </a:p>
          <a:p>
            <a:r>
              <a:rPr lang="zh-CN" altLang="en-US" dirty="0" smtClean="0"/>
              <a:t>期末成绩</a:t>
            </a:r>
            <a:endParaRPr lang="en-US" altLang="zh-CN" dirty="0" smtClean="0"/>
          </a:p>
          <a:p>
            <a:pPr lvl="1"/>
            <a:r>
              <a:rPr lang="en-US" altLang="zh-CN" sz="1600" b="1" dirty="0"/>
              <a:t>20%</a:t>
            </a:r>
            <a:r>
              <a:rPr lang="zh-CN" altLang="en-US" sz="1600" b="1" dirty="0"/>
              <a:t>试卷考试</a:t>
            </a:r>
            <a:r>
              <a:rPr lang="en-US" altLang="zh-CN" sz="1600" b="1" dirty="0"/>
              <a:t>+80%</a:t>
            </a:r>
            <a:r>
              <a:rPr lang="zh-CN" altLang="en-US" sz="1600" b="1" dirty="0"/>
              <a:t>上机考试</a:t>
            </a:r>
            <a:endParaRPr lang="zh-CN" altLang="zh-CN" sz="1600" b="1" dirty="0"/>
          </a:p>
          <a:p>
            <a:r>
              <a:rPr lang="zh-CN" altLang="zh-CN" sz="2400" dirty="0"/>
              <a:t>总成绩（</a:t>
            </a:r>
            <a:r>
              <a:rPr lang="en-US" altLang="zh-CN" sz="2400" dirty="0"/>
              <a:t>100%</a:t>
            </a:r>
            <a:r>
              <a:rPr lang="zh-CN" altLang="zh-CN" sz="2400" dirty="0"/>
              <a:t>）</a:t>
            </a:r>
            <a:r>
              <a:rPr lang="en-US" altLang="zh-CN" sz="2400" dirty="0"/>
              <a:t>=</a:t>
            </a:r>
            <a:r>
              <a:rPr lang="zh-CN" altLang="zh-CN" sz="2400" dirty="0"/>
              <a:t>平时成绩（</a:t>
            </a:r>
            <a:r>
              <a:rPr lang="en-US" altLang="zh-CN" sz="2400" dirty="0"/>
              <a:t>40%</a:t>
            </a:r>
            <a:r>
              <a:rPr lang="zh-CN" altLang="zh-CN" sz="2400" dirty="0"/>
              <a:t>）</a:t>
            </a:r>
            <a:r>
              <a:rPr lang="en-US" altLang="zh-CN" sz="2400" dirty="0"/>
              <a:t>+</a:t>
            </a:r>
            <a:r>
              <a:rPr lang="zh-CN" altLang="zh-CN" sz="2400" dirty="0"/>
              <a:t>期末上机考试成绩（</a:t>
            </a:r>
            <a:r>
              <a:rPr lang="en-US" altLang="zh-CN" sz="2400" dirty="0"/>
              <a:t>60%</a:t>
            </a:r>
            <a:r>
              <a:rPr lang="zh-CN" altLang="zh-CN" sz="2400" dirty="0"/>
              <a:t>）</a:t>
            </a:r>
            <a:endParaRPr lang="en-US" altLang="zh-CN" sz="2400" dirty="0"/>
          </a:p>
          <a:p>
            <a:endParaRPr lang="zh-CN" altLang="en-US" dirty="0"/>
          </a:p>
        </p:txBody>
      </p:sp>
    </p:spTree>
    <p:extLst>
      <p:ext uri="{BB962C8B-B14F-4D97-AF65-F5344CB8AC3E}">
        <p14:creationId xmlns:p14="http://schemas.microsoft.com/office/powerpoint/2010/main" val="793642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5160" y="269874"/>
            <a:ext cx="8915400" cy="1143000"/>
          </a:xfrm>
        </p:spPr>
        <p:txBody>
          <a:bodyPr/>
          <a:lstStyle/>
          <a:p>
            <a:pPr eaLnBrk="1" hangingPunct="1"/>
            <a:r>
              <a:rPr lang="zh-CN" altLang="en-US" dirty="0" smtClean="0"/>
              <a:t>期末考核方式</a:t>
            </a:r>
          </a:p>
        </p:txBody>
      </p:sp>
      <p:sp>
        <p:nvSpPr>
          <p:cNvPr id="11269" name="灯片编号占位符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ts val="588"/>
              </a:spcBef>
              <a:buSzPct val="80000"/>
              <a:buFont typeface="Wingdings" panose="05000000000000000000" pitchFamily="2" charset="2"/>
              <a:buNone/>
            </a:pPr>
            <a:fld id="{A5DE639B-2B4F-4B8F-9C4F-4FAD99A373D7}" type="slidenum">
              <a:rPr lang="en-US" altLang="zh-CN" sz="1100">
                <a:solidFill>
                  <a:srgbClr val="636363"/>
                </a:solidFill>
                <a:latin typeface="Arial" panose="020B0604020202020204" pitchFamily="34" charset="0"/>
              </a:rPr>
              <a:pPr>
                <a:spcBef>
                  <a:spcPts val="588"/>
                </a:spcBef>
                <a:buSzPct val="80000"/>
                <a:buFont typeface="Wingdings" panose="05000000000000000000" pitchFamily="2" charset="2"/>
                <a:buNone/>
              </a:pPr>
              <a:t>39</a:t>
            </a:fld>
            <a:r>
              <a:rPr lang="en-US" altLang="zh-CN" sz="1100">
                <a:solidFill>
                  <a:srgbClr val="636363"/>
                </a:solidFill>
                <a:latin typeface="Arial" panose="020B0604020202020204" pitchFamily="34" charset="0"/>
              </a:rPr>
              <a:t>/37</a:t>
            </a:r>
            <a:endParaRPr lang="zh-CN" altLang="en-US" sz="1100">
              <a:solidFill>
                <a:srgbClr val="636363"/>
              </a:solidFill>
              <a:latin typeface="Arial" panose="020B0604020202020204" pitchFamily="34" charset="0"/>
            </a:endParaRPr>
          </a:p>
        </p:txBody>
      </p:sp>
      <p:graphicFrame>
        <p:nvGraphicFramePr>
          <p:cNvPr id="4" name="内容占位符 3"/>
          <p:cNvGraphicFramePr>
            <a:graphicFrameLocks noGrp="1"/>
          </p:cNvGraphicFramePr>
          <p:nvPr>
            <p:ph idx="1"/>
          </p:nvPr>
        </p:nvGraphicFramePr>
        <p:xfrm>
          <a:off x="704528" y="1556792"/>
          <a:ext cx="8716031" cy="4625682"/>
        </p:xfrm>
        <a:graphic>
          <a:graphicData uri="http://schemas.openxmlformats.org/drawingml/2006/table">
            <a:tbl>
              <a:tblPr firstRow="1" firstCol="1" bandRow="1">
                <a:tableStyleId>{1E171933-4619-4E11-9A3F-F7608DF75F80}</a:tableStyleId>
              </a:tblPr>
              <a:tblGrid>
                <a:gridCol w="5689283">
                  <a:extLst>
                    <a:ext uri="{9D8B030D-6E8A-4147-A177-3AD203B41FA5}">
                      <a16:colId xmlns:a16="http://schemas.microsoft.com/office/drawing/2014/main" val="4042138282"/>
                    </a:ext>
                  </a:extLst>
                </a:gridCol>
                <a:gridCol w="1245864">
                  <a:extLst>
                    <a:ext uri="{9D8B030D-6E8A-4147-A177-3AD203B41FA5}">
                      <a16:colId xmlns:a16="http://schemas.microsoft.com/office/drawing/2014/main" val="2850241057"/>
                    </a:ext>
                  </a:extLst>
                </a:gridCol>
                <a:gridCol w="1780884">
                  <a:extLst>
                    <a:ext uri="{9D8B030D-6E8A-4147-A177-3AD203B41FA5}">
                      <a16:colId xmlns:a16="http://schemas.microsoft.com/office/drawing/2014/main" val="1697126464"/>
                    </a:ext>
                  </a:extLst>
                </a:gridCol>
              </a:tblGrid>
              <a:tr h="562884">
                <a:tc>
                  <a:txBody>
                    <a:bodyPr/>
                    <a:lstStyle/>
                    <a:p>
                      <a:pPr marL="739775" marR="734060" algn="ctr" eaLnBrk="0" hangingPunct="0">
                        <a:spcBef>
                          <a:spcPts val="855"/>
                        </a:spcBef>
                        <a:spcAft>
                          <a:spcPts val="0"/>
                        </a:spcAft>
                      </a:pPr>
                      <a:r>
                        <a:rPr lang="zh-CN" sz="1800" dirty="0">
                          <a:effectLst/>
                        </a:rPr>
                        <a:t>考核内容</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marL="116205" marR="112395" algn="ctr" eaLnBrk="0" hangingPunct="0">
                        <a:spcBef>
                          <a:spcPts val="855"/>
                        </a:spcBef>
                        <a:spcAft>
                          <a:spcPts val="0"/>
                        </a:spcAft>
                      </a:pPr>
                      <a:r>
                        <a:rPr lang="zh-CN" sz="1800" dirty="0">
                          <a:effectLst/>
                        </a:rPr>
                        <a:t>考核占比</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eaLnBrk="0" hangingPunct="0">
                        <a:spcBef>
                          <a:spcPts val="75"/>
                        </a:spcBef>
                        <a:spcAft>
                          <a:spcPts val="0"/>
                        </a:spcAft>
                      </a:pPr>
                      <a:r>
                        <a:rPr lang="zh-CN" sz="1800">
                          <a:effectLst/>
                        </a:rPr>
                        <a:t>考核方式</a:t>
                      </a:r>
                      <a:endParaRPr lang="zh-CN" sz="20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2539324866"/>
                  </a:ext>
                </a:extLst>
              </a:tr>
              <a:tr h="520420">
                <a:tc>
                  <a:txBody>
                    <a:bodyPr/>
                    <a:lstStyle/>
                    <a:p>
                      <a:pPr marL="67945" algn="ctr" eaLnBrk="0" hangingPunct="0">
                        <a:spcBef>
                          <a:spcPts val="110"/>
                        </a:spcBef>
                        <a:spcAft>
                          <a:spcPts val="0"/>
                        </a:spcAft>
                      </a:pPr>
                      <a:r>
                        <a:rPr lang="zh-CN" sz="2000" dirty="0">
                          <a:effectLst/>
                        </a:rPr>
                        <a:t>程序设计的基本思想、方法和技巧，</a:t>
                      </a:r>
                      <a:r>
                        <a:rPr lang="en-US" sz="2000" dirty="0">
                          <a:effectLst/>
                        </a:rPr>
                        <a:t>C</a:t>
                      </a:r>
                      <a:r>
                        <a:rPr lang="zh-CN" sz="2000" dirty="0">
                          <a:effectLst/>
                        </a:rPr>
                        <a:t>语言的基本语法知识和计算机常用算法。</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rowSpan="2">
                  <a:txBody>
                    <a:bodyPr/>
                    <a:lstStyle/>
                    <a:p>
                      <a:pPr marL="116205" marR="112395" algn="ctr" eaLnBrk="0" hangingPunct="0">
                        <a:spcBef>
                          <a:spcPts val="110"/>
                        </a:spcBef>
                        <a:spcAft>
                          <a:spcPts val="0"/>
                        </a:spcAft>
                      </a:pPr>
                      <a:r>
                        <a:rPr lang="zh-CN" sz="1600" dirty="0">
                          <a:effectLst/>
                        </a:rPr>
                        <a:t>×</a:t>
                      </a:r>
                      <a:r>
                        <a:rPr lang="en-US" sz="1600" dirty="0">
                          <a:effectLst/>
                        </a:rPr>
                        <a:t>20%</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rowSpan="2">
                  <a:txBody>
                    <a:bodyPr/>
                    <a:lstStyle/>
                    <a:p>
                      <a:pPr algn="ctr" eaLnBrk="0" hangingPunct="0">
                        <a:spcAft>
                          <a:spcPts val="0"/>
                        </a:spcAft>
                      </a:pPr>
                      <a:r>
                        <a:rPr lang="zh-CN" sz="1800" dirty="0">
                          <a:effectLst/>
                        </a:rPr>
                        <a:t>试卷考试</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2166466891"/>
                  </a:ext>
                </a:extLst>
              </a:tr>
              <a:tr h="863751">
                <a:tc>
                  <a:txBody>
                    <a:bodyPr/>
                    <a:lstStyle/>
                    <a:p>
                      <a:pPr marL="67945" algn="ctr" eaLnBrk="0" hangingPunct="0">
                        <a:spcBef>
                          <a:spcPts val="110"/>
                        </a:spcBef>
                        <a:spcAft>
                          <a:spcPts val="0"/>
                        </a:spcAft>
                      </a:pPr>
                      <a:r>
                        <a:rPr lang="zh-CN" sz="2000" dirty="0">
                          <a:effectLst/>
                        </a:rPr>
                        <a:t>掌握基本的程序设计过程和方法，理解利用计算机求解问题的基本特点。</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766866"/>
                  </a:ext>
                </a:extLst>
              </a:tr>
              <a:tr h="863751">
                <a:tc>
                  <a:txBody>
                    <a:bodyPr/>
                    <a:lstStyle/>
                    <a:p>
                      <a:pPr marL="67945" algn="ctr" eaLnBrk="0" hangingPunct="0">
                        <a:spcBef>
                          <a:spcPts val="110"/>
                        </a:spcBef>
                        <a:spcAft>
                          <a:spcPts val="0"/>
                        </a:spcAft>
                      </a:pPr>
                      <a:r>
                        <a:rPr lang="zh-CN" sz="2000" dirty="0">
                          <a:effectLst/>
                        </a:rPr>
                        <a:t>具有程序设计的基础编码能力，具备利用程序设计的方法去分析问题、解决问题的基本</a:t>
                      </a:r>
                      <a:r>
                        <a:rPr lang="zh-CN" sz="2000" dirty="0" smtClean="0">
                          <a:effectLst/>
                        </a:rPr>
                        <a:t>能力。</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rowSpan="2">
                  <a:txBody>
                    <a:bodyPr/>
                    <a:lstStyle/>
                    <a:p>
                      <a:pPr marL="116205" marR="112395" algn="ctr" eaLnBrk="0" hangingPunct="0">
                        <a:spcBef>
                          <a:spcPts val="110"/>
                        </a:spcBef>
                        <a:spcAft>
                          <a:spcPts val="0"/>
                        </a:spcAft>
                      </a:pPr>
                      <a:r>
                        <a:rPr lang="zh-CN" sz="1600" dirty="0">
                          <a:effectLst/>
                        </a:rPr>
                        <a:t>×</a:t>
                      </a:r>
                      <a:r>
                        <a:rPr lang="en-US" sz="1600" dirty="0">
                          <a:effectLst/>
                        </a:rPr>
                        <a:t>60%</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rowSpan="2">
                  <a:txBody>
                    <a:bodyPr/>
                    <a:lstStyle/>
                    <a:p>
                      <a:pPr algn="ctr" eaLnBrk="0" hangingPunct="0">
                        <a:spcAft>
                          <a:spcPts val="0"/>
                        </a:spcAft>
                      </a:pPr>
                      <a:r>
                        <a:rPr lang="zh-CN" sz="1800">
                          <a:effectLst/>
                        </a:rPr>
                        <a:t>上机考试</a:t>
                      </a:r>
                      <a:endParaRPr lang="zh-CN" sz="200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3136924151"/>
                  </a:ext>
                </a:extLst>
              </a:tr>
              <a:tr h="571919">
                <a:tc>
                  <a:txBody>
                    <a:bodyPr/>
                    <a:lstStyle/>
                    <a:p>
                      <a:pPr marL="67945" algn="ctr" eaLnBrk="0" hangingPunct="0">
                        <a:spcBef>
                          <a:spcPts val="110"/>
                        </a:spcBef>
                        <a:spcAft>
                          <a:spcPts val="0"/>
                        </a:spcAft>
                      </a:pPr>
                      <a:r>
                        <a:rPr lang="zh-CN" sz="2000" dirty="0">
                          <a:effectLst/>
                        </a:rPr>
                        <a:t>具有运用计算思维分析本专业实际问题的能力。</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841652586"/>
                  </a:ext>
                </a:extLst>
              </a:tr>
              <a:tr h="1153777">
                <a:tc>
                  <a:txBody>
                    <a:bodyPr/>
                    <a:lstStyle/>
                    <a:p>
                      <a:pPr marL="67945" algn="ctr" eaLnBrk="0" hangingPunct="0">
                        <a:spcBef>
                          <a:spcPts val="110"/>
                        </a:spcBef>
                        <a:spcAft>
                          <a:spcPts val="0"/>
                        </a:spcAft>
                      </a:pPr>
                      <a:r>
                        <a:rPr lang="zh-CN" sz="2000" dirty="0">
                          <a:effectLst/>
                        </a:rPr>
                        <a:t>养成认真、刻苦、勇于实践的工作作风，养成规范、严谨的工作态度，具有发散思维和创新意识</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marL="116205" marR="112395" algn="ctr" eaLnBrk="0" hangingPunct="0">
                        <a:spcBef>
                          <a:spcPts val="125"/>
                        </a:spcBef>
                        <a:spcAft>
                          <a:spcPts val="0"/>
                        </a:spcAft>
                      </a:pPr>
                      <a:r>
                        <a:rPr lang="zh-CN" sz="1600" dirty="0">
                          <a:effectLst/>
                        </a:rPr>
                        <a:t>×</a:t>
                      </a:r>
                      <a:r>
                        <a:rPr lang="en-US" sz="1600" dirty="0">
                          <a:effectLst/>
                        </a:rPr>
                        <a:t>20%</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tc>
                  <a:txBody>
                    <a:bodyPr/>
                    <a:lstStyle/>
                    <a:p>
                      <a:pPr algn="ctr" eaLnBrk="0" hangingPunct="0">
                        <a:spcAft>
                          <a:spcPts val="0"/>
                        </a:spcAft>
                      </a:pPr>
                      <a:r>
                        <a:rPr lang="zh-CN" sz="1800" dirty="0">
                          <a:effectLst/>
                        </a:rPr>
                        <a:t>上机考试</a:t>
                      </a:r>
                      <a:endParaRPr lang="zh-CN" sz="2000" dirty="0">
                        <a:effectLst/>
                        <a:latin typeface="宋体" panose="02010600030101010101" pitchFamily="2" charset="-122"/>
                        <a:ea typeface="宋体" panose="02010600030101010101" pitchFamily="2" charset="-122"/>
                        <a:cs typeface="宋体" panose="02010600030101010101" pitchFamily="2" charset="-122"/>
                      </a:endParaRPr>
                    </a:p>
                  </a:txBody>
                  <a:tcPr marL="0" marR="0" marT="0" marB="0" anchor="ctr"/>
                </a:tc>
                <a:extLst>
                  <a:ext uri="{0D108BD9-81ED-4DB2-BD59-A6C34878D82A}">
                    <a16:rowId xmlns:a16="http://schemas.microsoft.com/office/drawing/2014/main" val="2178942952"/>
                  </a:ext>
                </a:extLst>
              </a:tr>
            </a:tbl>
          </a:graphicData>
        </a:graphic>
      </p:graphicFrame>
    </p:spTree>
    <p:extLst>
      <p:ext uri="{BB962C8B-B14F-4D97-AF65-F5344CB8AC3E}">
        <p14:creationId xmlns:p14="http://schemas.microsoft.com/office/powerpoint/2010/main" val="124125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69545</TotalTime>
  <Words>4304</Words>
  <Application>Microsoft Office PowerPoint</Application>
  <PresentationFormat>A4 纸张(210x297 毫米)</PresentationFormat>
  <Paragraphs>473</Paragraphs>
  <Slides>39</Slides>
  <Notes>39</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7" baseType="lpstr">
      <vt:lpstr>Monotype Sorts</vt:lpstr>
      <vt:lpstr>黑体</vt:lpstr>
      <vt:lpstr>华文仿宋</vt:lpstr>
      <vt:lpstr>华文行楷</vt:lpstr>
      <vt:lpstr>楷体_GB2312</vt:lpstr>
      <vt:lpstr>宋体</vt:lpstr>
      <vt:lpstr>微软雅黑</vt:lpstr>
      <vt:lpstr>Arial</vt:lpstr>
      <vt:lpstr>Brush Script MT</vt:lpstr>
      <vt:lpstr>Consolas</vt:lpstr>
      <vt:lpstr>Courier New</vt:lpstr>
      <vt:lpstr>Franklin Gothic Book</vt:lpstr>
      <vt:lpstr>Times New Roman</vt:lpstr>
      <vt:lpstr>Verdana</vt:lpstr>
      <vt:lpstr>Wingdings</vt:lpstr>
      <vt:lpstr>Wingdings 2</vt:lpstr>
      <vt:lpstr>暗香扑面</vt:lpstr>
      <vt:lpstr>Photo Editor 照片</vt:lpstr>
      <vt:lpstr>PowerPoint 演示文稿</vt:lpstr>
      <vt:lpstr>课程定位与目标</vt:lpstr>
      <vt:lpstr>课程主要学习内容</vt:lpstr>
      <vt:lpstr>几个学习本课程的小建议</vt:lpstr>
      <vt:lpstr>PowerPoint 演示文稿</vt:lpstr>
      <vt:lpstr>学习内容</vt:lpstr>
      <vt:lpstr>学习内容</vt:lpstr>
      <vt:lpstr>程序和程序设计语言</vt:lpstr>
      <vt:lpstr>问题1：计算机能读懂什么语言？ </vt:lpstr>
      <vt:lpstr>问题2：如何让我们远离二进制？ </vt:lpstr>
      <vt:lpstr>问题3：如何实现更有效的人机交流？ </vt:lpstr>
      <vt:lpstr>问题4：如何将高级语言翻译成机器语言？</vt:lpstr>
      <vt:lpstr>高级语言的特点 </vt:lpstr>
      <vt:lpstr>高级语言的 发展历程</vt:lpstr>
      <vt:lpstr>编程语言受欢迎程度排行</vt:lpstr>
      <vt:lpstr>高级语言的分类 </vt:lpstr>
      <vt:lpstr>学习内容</vt:lpstr>
      <vt:lpstr>C语言的设计者</vt:lpstr>
      <vt:lpstr>C语言的诞生始末</vt:lpstr>
      <vt:lpstr>C语言的诞生始末</vt:lpstr>
      <vt:lpstr>C语言标准</vt:lpstr>
      <vt:lpstr>C语言特点</vt:lpstr>
      <vt:lpstr>学习内容</vt:lpstr>
      <vt:lpstr>集成开发环境搭建</vt:lpstr>
      <vt:lpstr>集成开发环境搭建</vt:lpstr>
      <vt:lpstr>集成开发环境搭建</vt:lpstr>
      <vt:lpstr>集成开发环境搭建</vt:lpstr>
      <vt:lpstr>第一个项目</vt:lpstr>
      <vt:lpstr>第一个项目</vt:lpstr>
      <vt:lpstr>第一个源文件</vt:lpstr>
      <vt:lpstr>第一个源文件</vt:lpstr>
      <vt:lpstr>程序结构</vt:lpstr>
      <vt:lpstr>程序结构</vt:lpstr>
      <vt:lpstr>学习内容</vt:lpstr>
      <vt:lpstr>问题的求解过程</vt:lpstr>
      <vt:lpstr>程序的开发步骤</vt:lpstr>
      <vt:lpstr>第1章 程序设计基本知识</vt:lpstr>
      <vt:lpstr>成绩评定</vt:lpstr>
      <vt:lpstr>期末考核方式</vt:lpstr>
    </vt:vector>
  </TitlesOfParts>
  <Company>Digidata Information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creator>谢 欢</dc:creator>
  <cp:lastModifiedBy>谢 欢</cp:lastModifiedBy>
  <cp:revision>1322</cp:revision>
  <dcterms:created xsi:type="dcterms:W3CDTF">2002-10-30T03:57:16Z</dcterms:created>
  <dcterms:modified xsi:type="dcterms:W3CDTF">2020-09-15T14:50:21Z</dcterms:modified>
</cp:coreProperties>
</file>